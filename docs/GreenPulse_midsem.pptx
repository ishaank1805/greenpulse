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Presenter: Role 4. One line: we test whether existing greenery cools Indian cities, and under what conditions it cools most.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question has two halves: does greenery cool at all, and where and when does it cool most?
The second half is the interesting one, and it is where the literature disagrees (next slide).
Peng 2012 numbers are MODIS surface temperature; Bowler 2010 is air temperature in parks.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India spans the whole moisture range, from Jodhpur (desert) to Kochi (very wet), so it is a natural place to test the dry-climate disagreement.
Which paper does each step follow? Cooling slope: Yang 2022, Schwaab 2021. Background climate: Zhao 2014, Manoli 2019, Guo 2026. 1,000 mm threshold: Guo, Manoli. Day vs night: Yang 2022, Du 2024, Ibsen 2021. Heat Index: Borah 2026. People-weighting: Chakraborty 2019, Chen 2022, Li 2024. No monsoon: Kumar 2017. Surface overstates felt heat: Venter 2021, Du 2024.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hypothesis maps to a result slide: H1 slide 12, H2 slides 11 and 13, H3 slides 11 and 13, H4 slide 14, H5 slide 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seven are free and open. The professor assigned five; we added SRTM elevation as a control and use OpenStreetMap only for water.
Aqua, not Terra: its ~13:30 overpass is closer to the hottest part of the day.
LST is surface temperature (roofs, roads, leaves), not the air temperature people feel (Venter 2021; Du 2024).
Likely question, why 1 km when GHSL and WorldPop are 100 m: 1 km is the native MODIS LST resolution; shrinking it would invent detail the satellite never measured.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"city" is a GHSL urban centre: connected 1 km cells with at least 1,500 people/km² and 50,000 people in total. Same rule in every state, unlike municipal boundaries.
53,614 squares of 1 km, about 297 million people (WorldPop 2020).
Likely question, why not the monsoon: next slide (Role 5). Kumar et al. 2017 excluded it for the same reason.
Cloud measure on this slide: the other three seasons keep 94–98% of 8-day images after quality filtering (median over land squares). Slide 6b uses a different measure (all squares, water counted as unusable).
Likely question, why is Kochi warmer in winter: Kerala's April–May is already wet (622 mm in Kochi); winter is dry and sunny.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MODIS quality mask as the main pipeline, measured month by month over 2019–2024 in six cities.
The loss is large and uneven between cities, so monsoon estimates would rest on very different amounts of data.
This measure averages over all squares including water, so Mumbai's 85% here is lower than slide 6's land-only ~98%. Compare months within this chart.
Likely question, why not keep the monsoon with fewer images: coverage is too uneven between cities to compare fairly.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Quality filter: keep "good" readings, plus "other quality" readings with error at most 2 K. Cloudy readings are dropped before averaging.
Dropped: squares with no temperature are open water (the same squares are missing in every season, so not cloud); squares under 10% built-up are not urban; cities with fewer than 30 urban squares get no estimate (101 of 303).
Likely question, how do you know missing squares are water: a cloudy square would be missing in some seasons only. In all 303 cities the same squares are missing in all three seasons.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29,000 fits in all, including robustness variants. Each uses all urban squares (built ≥ 10%) of one city.
Likely question, is this causal: no. It is an association with built-up share, elevation and water held fixed.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Role 2: one value per city per season. A monthly-mean Heat Index would understate the hot afternoons, hence daily. Neither rainfall nor soil moisture sees irrigation (Manoli 2019).
Role 4: comparing people-weighted with plain averages shows whether the heat sits where people are.
Likely question, can one climate value describe a whole city: it describes the background climate we compare across cities; differences inside a city come from the 1 km squares.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dot is a 1 km square with built-up share removed from both axes; the line slope equals the regression coefficient exactly.
Jodhpur's warm green nights are not unusual: before the monsoon 24% of 135 cities have significantly greener-is-warmer nights, mostly dry ones.
Likely question, why does Kochi change with controls: water. Water squares are cool and low in NDVI; adding the water control moves Kochi from −1.44 to −1.90.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dot is a city's cooling slope; the line is a regression across cities weighting precise cities more. A flat daytime line means greener squares are about as much cooler in Jodhpur's climate as in Kochi's.
By day this supports neither side of the dry-climate debate. At night it sides with Guo and Schwaab (weaker cooling in dry places).
The night trend holds unweighted, with capped weights, without few-block cities, and with city size, air temperature and density added (pre −0.92, post −0.77).
By day the honest summary is "no robust pattern": one coastal city alone can flip the pre-monsoon 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Hollow markers lean towards small cities: fewer squares, wider 95% range. The most extreme slopes on both ends are also small cities.
Likely question, is there a regional pattern: not by day; slide 11 tests that formally.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not Guo's daytime warming? Guo's cities are arid worldwide; India's dry cities are semi-arid, and much urban greenery is watered (Manoli 2019), which rainfall cannot see. Different method, so a contrast, not a replication.
Likely question, are the night numbers reliable with so few dry cities: only 39 dry cities have night estimates, but the result strengthens with a 6-night cut-off.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cleanest test of conditions (H4), because the city is held fixed.
Pre-monsoon daytime cooling is strongest (median −1.13 vs −0.67 post, −0.81 winter). One untested reading: most sun and hottest surfaces in Apr–May, so more heat for vegetation to offset.
Likely question, is it just noise: across 202 cities Wilcoxon p ≈ 7e-19; per city 30% significantly weaker vs 2% stronger, with a conservative standard error.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People-weighting: each square's temperature weighted by the people living there (WorldPop 2020), compared with the plain average.
Night is the clearest result (135–157 cities with night data; humid cities under-represented because of cloud). By day 63% pre-monsoon, 87% post-monsoon, 73% winter.
Before the monsoon some large cities go the other way: Surat, Pune, Mumbai, Kozhikode, Indore, Nagpur, Jaipur. Most are wet, so it is not simply a dry-city effect; the reason is not established.
Rainfall makes only a small difference, and only pre-monsoon (55% of dry vs 66% of wet cities).
Population density, not income: say "crowded", never "poor". Chakraborty et al. 2019 found poorer neighbourhoods hotter in 72% of 25 cities.
Likely question, is +0.1 °C meaningful: the point is the direction (almost every city at night) and the link to greenness; in some cities it is about 1 °C. Surface temperature overstates felt heat.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Water-rich squares can be cooler and less green, so water is a possible confounder.
The overall daytime slope changes only slightly and Jodhpur's night slope is unchanged.
Likely question, how was water share calculated: OSM water polygons intersected with each MODIS square in the sinusoidal projection.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Variants: EVI instead of NDVI, 20% built-up cut-off, each control removed, water squares dropped, 6-night cut-off.
The rainfall slope changes sign across variants and is never significant at 5%, so "no clear daytime rainfall pattern" is the safe reading.
The night result depends on the built-up control: without it greener looks cooler at night in 53–75% of cities. Built-up surfaces hold heat at night.
A 6-night cut-off adds 24–32 cities at night, about three-quarters of them wet, and does not change the picture (ρ 0.91–0.95).
Likely question, why do NDVI and EVI disagree: on significance in 14% of cities; not explained by NDVI being tied to built-up (16% vs 13%, p = 0.54). An open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H1 Role 3 · H2 Role 2 · H3 Roles 2/3 (humid cities have less night data; holds with a 6-night cut-off, 54% vs 18%) · H4 Role 3 · H5 Role 4 · Data Roles 1/5. One breath per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Done: pipeline, 303 cities × 3 seasons sampled, cooling slopes, climate, exposure, main results. Close by restating the answer: greenery cools by day almost everywhere; the conditions that matter show up at night and between seasons.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3A2B"/>
        </a:solidFill>
      </p:bgPr>
    </p:bg>
    <p:spTree>
      <p:nvGrpSpPr>
        <p:cNvPr id="1" name=""/>
        <p:cNvGrpSpPr/>
        <p:nvPr/>
      </p:nvGrpSpPr>
      <p:grpSpPr>
        <a:xfrm>
          <a:off x="0" y="0"/>
          <a:ext cx="0" cy="0"/>
          <a:chOff x="0" y="0"/>
          <a:chExt cx="0" cy="0"/>
        </a:xfrm>
      </p:grpSpPr>
      <p:sp>
        <p:nvSpPr>
          <p:cNvPr id="2" name="Text 0"/>
          <p:cNvSpPr txBox="1"/>
          <p:nvPr/>
        </p:nvSpPr>
        <p:spPr>
          <a:xfrm>
            <a:off x="457200" y="822960"/>
            <a:ext cx="8229600" cy="274320"/>
          </a:xfrm>
          <a:prstGeom prst="rect">
            <a:avLst/>
          </a:prstGeom>
          <a:noFill/>
          <a:ln/>
        </p:spPr>
        <p:txBody>
          <a:bodyPr wrap="square" lIns="0" tIns="0" rIns="0" bIns="0" rtlCol="0" anchor="ctr"/>
          <a:lstStyle/>
          <a:p>
            <a:pPr indent="0" marL="0">
              <a:buNone/>
            </a:pPr>
            <a:r>
              <a:rPr lang="en-US" sz="1000" b="1" spc="200" kern="0" dirty="0">
                <a:solidFill>
                  <a:srgbClr val="C9DECF"/>
                </a:solidFill>
                <a:latin typeface="Calibri" pitchFamily="34" charset="0"/>
                <a:ea typeface="Calibri" pitchFamily="34" charset="-122"/>
                <a:cs typeface="Calibri" pitchFamily="34" charset="-120"/>
              </a:rPr>
              <a:t>NATURE-BASED SOLUTIONS FOR URBAN HEAT · MID-SEMESTER EVALUATION</a:t>
            </a:r>
            <a:endParaRPr lang="en-US" sz="1000" dirty="0"/>
          </a:p>
        </p:txBody>
      </p:sp>
      <p:sp>
        <p:nvSpPr>
          <p:cNvPr id="3" name="Text 1"/>
          <p:cNvSpPr txBox="1"/>
          <p:nvPr/>
        </p:nvSpPr>
        <p:spPr>
          <a:xfrm>
            <a:off x="457200" y="1234440"/>
            <a:ext cx="8229600" cy="82296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GreenPulse</a:t>
            </a:r>
            <a:endParaRPr lang="en-US" sz="4800" dirty="0"/>
          </a:p>
        </p:txBody>
      </p:sp>
      <p:sp>
        <p:nvSpPr>
          <p:cNvPr id="4" name="Text 2"/>
          <p:cNvSpPr txBox="1"/>
          <p:nvPr/>
        </p:nvSpPr>
        <p:spPr>
          <a:xfrm>
            <a:off x="457200" y="2103120"/>
            <a:ext cx="8229600" cy="548640"/>
          </a:xfrm>
          <a:prstGeom prst="rect">
            <a:avLst/>
          </a:prstGeom>
          <a:noFill/>
          <a:ln/>
        </p:spPr>
        <p:txBody>
          <a:bodyPr wrap="square" lIns="0" tIns="0" rIns="0" bIns="0" rtlCol="0" anchor="ctr"/>
          <a:lstStyle/>
          <a:p>
            <a:pPr indent="0" marL="0">
              <a:buNone/>
            </a:pPr>
            <a:r>
              <a:rPr lang="en-US" sz="2400" i="1" dirty="0">
                <a:solidFill>
                  <a:srgbClr val="C9DECF"/>
                </a:solidFill>
                <a:latin typeface="Cambria" pitchFamily="34" charset="0"/>
                <a:ea typeface="Cambria" pitchFamily="34" charset="-122"/>
                <a:cs typeface="Cambria" pitchFamily="34" charset="-120"/>
              </a:rPr>
              <a:t>Does urban vegetation cool Indian cities, and when?</a:t>
            </a:r>
            <a:endParaRPr lang="en-US" sz="2400" dirty="0"/>
          </a:p>
        </p:txBody>
      </p:sp>
      <p:sp>
        <p:nvSpPr>
          <p:cNvPr id="5" name="Text 3"/>
          <p:cNvSpPr txBox="1"/>
          <p:nvPr/>
        </p:nvSpPr>
        <p:spPr>
          <a:xfrm>
            <a:off x="457200" y="2788920"/>
            <a:ext cx="8229600" cy="320040"/>
          </a:xfrm>
          <a:prstGeom prst="rect">
            <a:avLst/>
          </a:prstGeom>
          <a:noFill/>
          <a:ln/>
        </p:spPr>
        <p:txBody>
          <a:bodyPr wrap="square" lIns="0" tIns="0" rIns="0" bIns="0" rtlCol="0" anchor="ctr"/>
          <a:lstStyle/>
          <a:p>
            <a:pPr indent="0" marL="0">
              <a:buNone/>
            </a:pPr>
            <a:r>
              <a:rPr lang="en-US" sz="1400" dirty="0">
                <a:solidFill>
                  <a:srgbClr val="F2B66D"/>
                </a:solidFill>
                <a:latin typeface="Calibri" pitchFamily="34" charset="0"/>
                <a:ea typeface="Calibri" pitchFamily="34" charset="-122"/>
                <a:cs typeface="Calibri" pitchFamily="34" charset="-120"/>
              </a:rPr>
              <a:t>303 cities · 3 seasons · 1 km satellite squares · 2019–2024</a:t>
            </a:r>
            <a:endParaRPr lang="en-US" sz="1400" dirty="0"/>
          </a:p>
        </p:txBody>
      </p:sp>
      <p:sp>
        <p:nvSpPr>
          <p:cNvPr id="6" name="Text 4"/>
          <p:cNvSpPr txBox="1"/>
          <p:nvPr/>
        </p:nvSpPr>
        <p:spPr>
          <a:xfrm>
            <a:off x="457200" y="4160520"/>
            <a:ext cx="8229600" cy="32004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Atharv Johar · Himani Das · Ishaan Karan · Nidhi Vaidya · Prajna Penmetsa</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2011680" cy="237744"/>
          </a:xfrm>
          <a:prstGeom prst="rect">
            <a:avLst/>
          </a:prstGeom>
          <a:noFill/>
          <a:ln/>
        </p:spPr>
        <p:txBody>
          <a:bodyPr wrap="square" lIns="0" tIns="0" rIns="0" bIns="0" rtlCol="0" anchor="ctr"/>
          <a:lstStyle/>
          <a:p>
            <a:pPr indent="0" marL="0">
              <a:buNone/>
            </a:pPr>
            <a:r>
              <a:rPr lang="en-US" sz="900" b="1" spc="200" kern="0" dirty="0">
                <a:solidFill>
                  <a:srgbClr val="1F4D3A"/>
                </a:solidFill>
                <a:latin typeface="Calibri" pitchFamily="34" charset="0"/>
                <a:ea typeface="Calibri" pitchFamily="34" charset="-122"/>
                <a:cs typeface="Calibri" pitchFamily="34" charset="-120"/>
              </a:rPr>
              <a:t>PROBLEM</a:t>
            </a:r>
            <a:endParaRPr lang="en-US" sz="900" dirty="0"/>
          </a:p>
        </p:txBody>
      </p:sp>
      <p:sp>
        <p:nvSpPr>
          <p:cNvPr id="3" name="Text 1"/>
          <p:cNvSpPr txBox="1"/>
          <p:nvPr/>
        </p:nvSpPr>
        <p:spPr>
          <a:xfrm>
            <a:off x="5943600" y="256032"/>
            <a:ext cx="2743200" cy="237744"/>
          </a:xfrm>
          <a:prstGeom prst="rect">
            <a:avLst/>
          </a:prstGeom>
          <a:noFill/>
          <a:ln/>
        </p:spPr>
        <p:txBody>
          <a:bodyPr wrap="square" lIns="0" tIns="0" rIns="0" bIns="0" rtlCol="0" anchor="ctr"/>
          <a:lstStyle/>
          <a:p>
            <a:pPr algn="r" indent="0" marL="0">
              <a:buNone/>
            </a:pPr>
            <a:r>
              <a:rPr lang="en-US" sz="900" dirty="0">
                <a:solidFill>
                  <a:srgbClr val="5F6670"/>
                </a:solidFill>
                <a:latin typeface="Calibri" pitchFamily="34" charset="0"/>
                <a:ea typeface="Calibri" pitchFamily="34" charset="-122"/>
                <a:cs typeface="Calibri" pitchFamily="34" charset="-120"/>
              </a:rPr>
              <a:t>Presenter: Role 4</a:t>
            </a:r>
            <a:endParaRPr lang="en-US" sz="900" dirty="0"/>
          </a:p>
        </p:txBody>
      </p:sp>
      <p:sp>
        <p:nvSpPr>
          <p:cNvPr id="4" name="Text 2"/>
          <p:cNvSpPr txBox="1"/>
          <p:nvPr/>
        </p:nvSpPr>
        <p:spPr>
          <a:xfrm>
            <a:off x="457200" y="502920"/>
            <a:ext cx="8229600" cy="685800"/>
          </a:xfrm>
          <a:prstGeom prst="rect">
            <a:avLst/>
          </a:prstGeom>
          <a:noFill/>
          <a:ln/>
        </p:spPr>
        <p:txBody>
          <a:bodyPr wrap="square" lIns="0" tIns="0" rIns="0" bIns="0" rtlCol="0" anchor="t">
            <a:normAutofit/>
          </a:bodyPr>
          <a:lstStyle/>
          <a:p>
            <a:pPr indent="0" marL="0">
              <a:buNone/>
            </a:pPr>
            <a:r>
              <a:rPr lang="en-US" sz="2000" b="1" dirty="0">
                <a:solidFill>
                  <a:srgbClr val="1F2328"/>
                </a:solidFill>
                <a:latin typeface="Cambria" pitchFamily="34" charset="0"/>
                <a:ea typeface="Cambria" pitchFamily="34" charset="-122"/>
                <a:cs typeface="Cambria" pitchFamily="34" charset="-120"/>
              </a:rPr>
              <a:t>Cities are hotter than their surroundings, and greening is the go-to fix</a:t>
            </a:r>
            <a:endParaRPr lang="en-US" sz="2000" dirty="0"/>
          </a:p>
        </p:txBody>
      </p:sp>
      <p:sp>
        <p:nvSpPr>
          <p:cNvPr id="5" name="Text 3"/>
          <p:cNvSpPr txBox="1"/>
          <p:nvPr/>
        </p:nvSpPr>
        <p:spPr>
          <a:xfrm>
            <a:off x="457200" y="1325880"/>
            <a:ext cx="4754880" cy="1920240"/>
          </a:xfrm>
          <a:prstGeom prst="rect">
            <a:avLst/>
          </a:prstGeom>
          <a:noFill/>
          <a:ln/>
        </p:spPr>
        <p:txBody>
          <a:bodyPr wrap="square" lIns="0" tIns="0" rIns="0" bIns="0" rtlCol="0" anchor="t">
            <a:normAutofit/>
          </a:bodyPr>
          <a:lstStyle/>
          <a:p>
            <a:pPr marL="177800" indent="-177800">
              <a:spcAft>
                <a:spcPts val="500"/>
              </a:spcAft>
              <a:buSzPct val="100000"/>
              <a:buChar char="•"/>
            </a:pPr>
            <a:r>
              <a:rPr lang="en-US" sz="1400" dirty="0">
                <a:solidFill>
                  <a:srgbClr val="1F2328"/>
                </a:solidFill>
                <a:latin typeface="Calibri" pitchFamily="34" charset="0"/>
                <a:ea typeface="Calibri" pitchFamily="34" charset="-122"/>
                <a:cs typeface="Calibri" pitchFamily="34" charset="-120"/>
              </a:rPr>
              <a:t>Dense buildings, sealed surfaces and waste heat make cities hotter than the land around them.</a:t>
            </a:r>
            <a:endParaRPr lang="en-US" sz="1400" dirty="0"/>
          </a:p>
          <a:p>
            <a:pPr marL="177800" indent="-177800">
              <a:spcAft>
                <a:spcPts val="500"/>
              </a:spcAft>
              <a:buSzPct val="100000"/>
              <a:buChar char="•"/>
            </a:pPr>
            <a:r>
              <a:rPr lang="en-US" sz="1400" dirty="0">
                <a:solidFill>
                  <a:srgbClr val="1F2328"/>
                </a:solidFill>
                <a:latin typeface="Calibri" pitchFamily="34" charset="0"/>
                <a:ea typeface="Calibri" pitchFamily="34" charset="-122"/>
                <a:cs typeface="Calibri" pitchFamily="34" charset="-120"/>
              </a:rPr>
              <a:t>Trees, parks and green space are promoted as low-cost cooling: through shade, and through evaporation from leaves.</a:t>
            </a:r>
            <a:endParaRPr lang="en-US" sz="1400" dirty="0"/>
          </a:p>
          <a:p>
            <a:pPr marL="177800" indent="-177800">
              <a:buSzPct val="100000"/>
              <a:buChar char="•"/>
            </a:pPr>
            <a:r>
              <a:rPr lang="en-US" sz="1400" dirty="0">
                <a:solidFill>
                  <a:srgbClr val="1F2328"/>
                </a:solidFill>
                <a:latin typeface="Calibri" pitchFamily="34" charset="0"/>
                <a:ea typeface="Calibri" pitchFamily="34" charset="-122"/>
                <a:cs typeface="Calibri" pitchFamily="34" charset="-120"/>
              </a:rPr>
              <a:t>Trees cool 2–3× more than grass or green roofs </a:t>
            </a:r>
            <a:pPr indent="0" marL="0">
              <a:spcAft>
                <a:spcPts val="500"/>
              </a:spcAft>
              <a:buNone/>
            </a:pPr>
            <a:r>
              <a:rPr lang="en-US" sz="1400" dirty="0">
                <a:solidFill>
                  <a:srgbClr val="5F6670"/>
                </a:solidFill>
                <a:latin typeface="Calibri" pitchFamily="34" charset="0"/>
                <a:ea typeface="Calibri" pitchFamily="34" charset="-122"/>
                <a:cs typeface="Calibri" pitchFamily="34" charset="-120"/>
              </a:rPr>
              <a:t>(Kim et al. 2024)</a:t>
            </a:r>
            <a:endParaRPr lang="en-US" sz="1400" dirty="0"/>
          </a:p>
        </p:txBody>
      </p:sp>
      <p:sp>
        <p:nvSpPr>
          <p:cNvPr id="6" name="Text 4"/>
          <p:cNvSpPr txBox="1"/>
          <p:nvPr/>
        </p:nvSpPr>
        <p:spPr>
          <a:xfrm>
            <a:off x="5669280" y="1280160"/>
            <a:ext cx="3017520" cy="502920"/>
          </a:xfrm>
          <a:prstGeom prst="rect">
            <a:avLst/>
          </a:prstGeom>
          <a:noFill/>
          <a:ln/>
        </p:spPr>
        <p:txBody>
          <a:bodyPr wrap="square" lIns="0" tIns="0" rIns="0" bIns="0" rtlCol="0" anchor="b"/>
          <a:lstStyle/>
          <a:p>
            <a:pPr indent="0" marL="0">
              <a:buNone/>
            </a:pPr>
            <a:r>
              <a:rPr lang="en-US" sz="2800" b="1" dirty="0">
                <a:solidFill>
                  <a:srgbClr val="C8640A"/>
                </a:solidFill>
                <a:latin typeface="Cambria" pitchFamily="34" charset="0"/>
                <a:ea typeface="Cambria" pitchFamily="34" charset="-122"/>
                <a:cs typeface="Cambria" pitchFamily="34" charset="-120"/>
              </a:rPr>
              <a:t>+1.5 °C</a:t>
            </a:r>
            <a:endParaRPr lang="en-US" sz="2800" dirty="0"/>
          </a:p>
        </p:txBody>
      </p:sp>
      <p:sp>
        <p:nvSpPr>
          <p:cNvPr id="7" name="Text 5"/>
          <p:cNvSpPr txBox="1"/>
          <p:nvPr/>
        </p:nvSpPr>
        <p:spPr>
          <a:xfrm>
            <a:off x="5669280" y="1801368"/>
            <a:ext cx="3017520" cy="548640"/>
          </a:xfrm>
          <a:prstGeom prst="rect">
            <a:avLst/>
          </a:prstGeom>
          <a:noFill/>
          <a:ln/>
        </p:spPr>
        <p:txBody>
          <a:bodyPr wrap="square" lIns="0" tIns="0" rIns="0" bIns="0" rtlCol="0" anchor="t">
            <a:normAutofit/>
          </a:bodyPr>
          <a:lstStyle/>
          <a:p>
            <a:pPr indent="0" marL="0">
              <a:buNone/>
            </a:pPr>
            <a:r>
              <a:rPr lang="en-US" sz="1050" dirty="0">
                <a:solidFill>
                  <a:srgbClr val="5F6670"/>
                </a:solidFill>
                <a:latin typeface="Calibri" pitchFamily="34" charset="0"/>
                <a:ea typeface="Calibri" pitchFamily="34" charset="-122"/>
                <a:cs typeface="Calibri" pitchFamily="34" charset="-120"/>
              </a:rPr>
              <a:t>urban surfaces by day, 419 cities (Peng et al. 2012); +1.1 °C at night</a:t>
            </a:r>
            <a:endParaRPr lang="en-US" sz="1050" dirty="0"/>
          </a:p>
        </p:txBody>
      </p:sp>
      <p:sp>
        <p:nvSpPr>
          <p:cNvPr id="8" name="Text 6"/>
          <p:cNvSpPr txBox="1"/>
          <p:nvPr/>
        </p:nvSpPr>
        <p:spPr>
          <a:xfrm>
            <a:off x="5669280" y="2331720"/>
            <a:ext cx="3017520" cy="502920"/>
          </a:xfrm>
          <a:prstGeom prst="rect">
            <a:avLst/>
          </a:prstGeom>
          <a:noFill/>
          <a:ln/>
        </p:spPr>
        <p:txBody>
          <a:bodyPr wrap="square" lIns="0" tIns="0" rIns="0" bIns="0" rtlCol="0" anchor="b"/>
          <a:lstStyle/>
          <a:p>
            <a:pPr indent="0" marL="0">
              <a:buNone/>
            </a:pPr>
            <a:r>
              <a:rPr lang="en-US" sz="2800" b="1" dirty="0">
                <a:solidFill>
                  <a:srgbClr val="1F4D3A"/>
                </a:solidFill>
                <a:latin typeface="Cambria" pitchFamily="34" charset="0"/>
                <a:ea typeface="Cambria" pitchFamily="34" charset="-122"/>
                <a:cs typeface="Cambria" pitchFamily="34" charset="-120"/>
              </a:rPr>
              <a:t>0.94 °C</a:t>
            </a:r>
            <a:endParaRPr lang="en-US" sz="2800" dirty="0"/>
          </a:p>
        </p:txBody>
      </p:sp>
      <p:sp>
        <p:nvSpPr>
          <p:cNvPr id="9" name="Text 7"/>
          <p:cNvSpPr txBox="1"/>
          <p:nvPr/>
        </p:nvSpPr>
        <p:spPr>
          <a:xfrm>
            <a:off x="5669280" y="2852928"/>
            <a:ext cx="3017520" cy="548640"/>
          </a:xfrm>
          <a:prstGeom prst="rect">
            <a:avLst/>
          </a:prstGeom>
          <a:noFill/>
          <a:ln/>
        </p:spPr>
        <p:txBody>
          <a:bodyPr wrap="square" lIns="0" tIns="0" rIns="0" bIns="0" rtlCol="0" anchor="t">
            <a:normAutofit/>
          </a:bodyPr>
          <a:lstStyle/>
          <a:p>
            <a:pPr indent="0" marL="0">
              <a:buNone/>
            </a:pPr>
            <a:r>
              <a:rPr lang="en-US" sz="1050" dirty="0">
                <a:solidFill>
                  <a:srgbClr val="5F6670"/>
                </a:solidFill>
                <a:latin typeface="Calibri" pitchFamily="34" charset="0"/>
                <a:ea typeface="Calibri" pitchFamily="34" charset="-122"/>
                <a:cs typeface="Calibri" pitchFamily="34" charset="-120"/>
              </a:rPr>
              <a:t>cooler in parks by day, meta-analysis (Bowler et al. 2010)</a:t>
            </a:r>
            <a:endParaRPr lang="en-US" sz="1050" dirty="0"/>
          </a:p>
        </p:txBody>
      </p:sp>
      <p:sp>
        <p:nvSpPr>
          <p:cNvPr id="10" name="Shape 8"/>
          <p:cNvSpPr/>
          <p:nvPr/>
        </p:nvSpPr>
        <p:spPr>
          <a:xfrm>
            <a:off x="457200" y="3520440"/>
            <a:ext cx="8229600" cy="1051560"/>
          </a:xfrm>
          <a:prstGeom prst="roundRect">
            <a:avLst>
              <a:gd name="adj" fmla="val 6957"/>
            </a:avLst>
          </a:prstGeom>
          <a:solidFill>
            <a:srgbClr val="1F4D3A"/>
          </a:solidFill>
          <a:ln w="12700">
            <a:solidFill>
              <a:srgbClr val="1F4D3A"/>
            </a:solidFill>
            <a:prstDash val="solid"/>
          </a:ln>
        </p:spPr>
      </p:sp>
      <p:sp>
        <p:nvSpPr>
          <p:cNvPr id="11" name="Text 9"/>
          <p:cNvSpPr txBox="1"/>
          <p:nvPr/>
        </p:nvSpPr>
        <p:spPr>
          <a:xfrm>
            <a:off x="685800" y="3611880"/>
            <a:ext cx="7772400" cy="868680"/>
          </a:xfrm>
          <a:prstGeom prst="rect">
            <a:avLst/>
          </a:prstGeom>
          <a:noFill/>
          <a:ln/>
        </p:spPr>
        <p:txBody>
          <a:bodyPr wrap="square" lIns="0" tIns="0" rIns="0" bIns="0" rtlCol="0" anchor="ctr"/>
          <a:lstStyle/>
          <a:p>
            <a:pPr indent="0" marL="0">
              <a:buNone/>
            </a:pPr>
            <a:r>
              <a:rPr lang="en-US" sz="1600" b="1" dirty="0">
                <a:solidFill>
                  <a:srgbClr val="F2B66D"/>
                </a:solidFill>
                <a:latin typeface="Cambria" pitchFamily="34" charset="0"/>
                <a:ea typeface="Cambria" pitchFamily="34" charset="-122"/>
                <a:cs typeface="Cambria" pitchFamily="34" charset="-120"/>
              </a:rPr>
              <a:t>Our question  </a:t>
            </a:r>
            <a:pPr indent="0" marL="0">
              <a:buNone/>
            </a:pPr>
            <a:r>
              <a:rPr lang="en-US" sz="1600" dirty="0">
                <a:solidFill>
                  <a:srgbClr val="FFFFFF"/>
                </a:solidFill>
                <a:latin typeface="Cambria" pitchFamily="34" charset="0"/>
                <a:ea typeface="Cambria" pitchFamily="34" charset="-122"/>
                <a:cs typeface="Cambria" pitchFamily="34" charset="-120"/>
              </a:rPr>
              <a:t>Can existing urban vegetation measurably reduce heat exposure, and under what environmental conditions is the cooling effect strongest?</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2011680" cy="237744"/>
          </a:xfrm>
          <a:prstGeom prst="rect">
            <a:avLst/>
          </a:prstGeom>
          <a:noFill/>
          <a:ln/>
        </p:spPr>
        <p:txBody>
          <a:bodyPr wrap="square" lIns="0" tIns="0" rIns="0" bIns="0" rtlCol="0" anchor="ctr"/>
          <a:lstStyle/>
          <a:p>
            <a:pPr indent="0" marL="0">
              <a:buNone/>
            </a:pPr>
            <a:r>
              <a:rPr lang="en-US" sz="900" b="1" spc="200" kern="0" dirty="0">
                <a:solidFill>
                  <a:srgbClr val="1F4D3A"/>
                </a:solidFill>
                <a:latin typeface="Calibri" pitchFamily="34" charset="0"/>
                <a:ea typeface="Calibri" pitchFamily="34" charset="-122"/>
                <a:cs typeface="Calibri" pitchFamily="34" charset="-120"/>
              </a:rPr>
              <a:t>PROBLEM</a:t>
            </a:r>
            <a:endParaRPr lang="en-US" sz="900" dirty="0"/>
          </a:p>
        </p:txBody>
      </p:sp>
      <p:sp>
        <p:nvSpPr>
          <p:cNvPr id="3" name="Text 1"/>
          <p:cNvSpPr txBox="1"/>
          <p:nvPr/>
        </p:nvSpPr>
        <p:spPr>
          <a:xfrm>
            <a:off x="5943600" y="256032"/>
            <a:ext cx="2743200" cy="237744"/>
          </a:xfrm>
          <a:prstGeom prst="rect">
            <a:avLst/>
          </a:prstGeom>
          <a:noFill/>
          <a:ln/>
        </p:spPr>
        <p:txBody>
          <a:bodyPr wrap="square" lIns="0" tIns="0" rIns="0" bIns="0" rtlCol="0" anchor="ctr"/>
          <a:lstStyle/>
          <a:p>
            <a:pPr algn="r" indent="0" marL="0">
              <a:buNone/>
            </a:pPr>
            <a:r>
              <a:rPr lang="en-US" sz="900" dirty="0">
                <a:solidFill>
                  <a:srgbClr val="5F6670"/>
                </a:solidFill>
                <a:latin typeface="Calibri" pitchFamily="34" charset="0"/>
                <a:ea typeface="Calibri" pitchFamily="34" charset="-122"/>
                <a:cs typeface="Calibri" pitchFamily="34" charset="-120"/>
              </a:rPr>
              <a:t>Presenter: Role 4</a:t>
            </a:r>
            <a:endParaRPr lang="en-US" sz="900" dirty="0"/>
          </a:p>
        </p:txBody>
      </p:sp>
      <p:sp>
        <p:nvSpPr>
          <p:cNvPr id="4" name="Text 2"/>
          <p:cNvSpPr txBox="1"/>
          <p:nvPr/>
        </p:nvSpPr>
        <p:spPr>
          <a:xfrm>
            <a:off x="457200" y="502920"/>
            <a:ext cx="8229600" cy="685800"/>
          </a:xfrm>
          <a:prstGeom prst="rect">
            <a:avLst/>
          </a:prstGeom>
          <a:noFill/>
          <a:ln/>
        </p:spPr>
        <p:txBody>
          <a:bodyPr wrap="square" lIns="0" tIns="0" rIns="0" bIns="0" rtlCol="0" anchor="t">
            <a:normAutofit/>
          </a:bodyPr>
          <a:lstStyle/>
          <a:p>
            <a:pPr indent="0" marL="0">
              <a:buNone/>
            </a:pPr>
            <a:r>
              <a:rPr lang="en-US" sz="2000" b="1" dirty="0">
                <a:solidFill>
                  <a:srgbClr val="1F2328"/>
                </a:solidFill>
                <a:latin typeface="Cambria" pitchFamily="34" charset="0"/>
                <a:ea typeface="Cambria" pitchFamily="34" charset="-122"/>
                <a:cs typeface="Cambria" pitchFamily="34" charset="-120"/>
              </a:rPr>
              <a:t>The evidence disagrees on dry climates, and mostly measures surface heat</a:t>
            </a:r>
            <a:endParaRPr lang="en-US" sz="2000" dirty="0"/>
          </a:p>
        </p:txBody>
      </p:sp>
      <p:sp>
        <p:nvSpPr>
          <p:cNvPr id="5" name="Shape 3"/>
          <p:cNvSpPr/>
          <p:nvPr/>
        </p:nvSpPr>
        <p:spPr>
          <a:xfrm>
            <a:off x="457200" y="1280160"/>
            <a:ext cx="3977640" cy="1783080"/>
          </a:xfrm>
          <a:prstGeom prst="roundRect">
            <a:avLst>
              <a:gd name="adj" fmla="val 4103"/>
            </a:avLst>
          </a:prstGeom>
          <a:solidFill>
            <a:srgbClr val="FBEBDD"/>
          </a:solidFill>
          <a:ln w="12700">
            <a:solidFill>
              <a:srgbClr val="FBEBDD"/>
            </a:solidFill>
            <a:prstDash val="solid"/>
          </a:ln>
        </p:spPr>
      </p:sp>
      <p:sp>
        <p:nvSpPr>
          <p:cNvPr id="6" name="Text 4"/>
          <p:cNvSpPr txBox="1"/>
          <p:nvPr/>
        </p:nvSpPr>
        <p:spPr>
          <a:xfrm>
            <a:off x="621792" y="1408176"/>
            <a:ext cx="3648456" cy="1527048"/>
          </a:xfrm>
          <a:prstGeom prst="rect">
            <a:avLst/>
          </a:prstGeom>
          <a:noFill/>
          <a:ln/>
        </p:spPr>
        <p:txBody>
          <a:bodyPr wrap="square" lIns="0" tIns="0" rIns="0" bIns="0" rtlCol="0" anchor="t">
            <a:normAutofit/>
          </a:bodyPr>
          <a:lstStyle/>
          <a:p>
            <a:pPr indent="0" marL="0">
              <a:spcAft>
                <a:spcPts val="400"/>
              </a:spcAft>
              <a:buNone/>
            </a:pPr>
            <a:r>
              <a:rPr lang="en-US" sz="1250" b="1" dirty="0">
                <a:solidFill>
                  <a:srgbClr val="C8640A"/>
                </a:solidFill>
                <a:latin typeface="Calibri" pitchFamily="34" charset="0"/>
                <a:ea typeface="Calibri" pitchFamily="34" charset="-122"/>
                <a:cs typeface="Calibri" pitchFamily="34" charset="-120"/>
              </a:rPr>
              <a:t>Dry cities cool LESS</a:t>
            </a:r>
            <a:endParaRPr lang="en-US" sz="1250" dirty="0"/>
          </a:p>
          <a:p>
            <a:pPr indent="0" marL="0">
              <a:buNone/>
            </a:pPr>
            <a:r>
              <a:rPr lang="en-US" sz="1100" dirty="0">
                <a:solidFill>
                  <a:srgbClr val="1F2328"/>
                </a:solidFill>
                <a:latin typeface="Calibri" pitchFamily="34" charset="0"/>
                <a:ea typeface="Calibri" pitchFamily="34" charset="-122"/>
                <a:cs typeface="Calibri" pitchFamily="34" charset="-120"/>
              </a:rPr>
              <a:t>Guo et al. 2026 (761 cities): in 22% of cities under 1,000 mm/yr, vegetation causes net warming.</a:t>
            </a:r>
            <a:endParaRPr lang="en-US" sz="1250" dirty="0"/>
          </a:p>
          <a:p>
            <a:pPr indent="0" marL="0">
              <a:buNone/>
            </a:pPr>
            <a:endParaRPr lang="en-US" sz="1250" dirty="0"/>
          </a:p>
          <a:p>
            <a:pPr indent="0" marL="0">
              <a:buNone/>
            </a:pPr>
            <a:r>
              <a:rPr lang="en-US" sz="1100" dirty="0">
                <a:solidFill>
                  <a:srgbClr val="1F2328"/>
                </a:solidFill>
                <a:latin typeface="Calibri" pitchFamily="34" charset="0"/>
                <a:ea typeface="Calibri" pitchFamily="34" charset="-122"/>
                <a:cs typeface="Calibri" pitchFamily="34" charset="-120"/>
              </a:rPr>
              <a:t>Schwaab et al. 2021 (293 cities): under hot extremes, trees cool less in the dry south of Europe (0–4 K) than in central Europe (8–12 K).</a:t>
            </a:r>
            <a:endParaRPr lang="en-US" sz="1250" dirty="0"/>
          </a:p>
        </p:txBody>
      </p:sp>
      <p:sp>
        <p:nvSpPr>
          <p:cNvPr id="7" name="Shape 5"/>
          <p:cNvSpPr/>
          <p:nvPr/>
        </p:nvSpPr>
        <p:spPr>
          <a:xfrm>
            <a:off x="4709160" y="1280160"/>
            <a:ext cx="3977640" cy="1783080"/>
          </a:xfrm>
          <a:prstGeom prst="roundRect">
            <a:avLst>
              <a:gd name="adj" fmla="val 4103"/>
            </a:avLst>
          </a:prstGeom>
          <a:solidFill>
            <a:srgbClr val="E9F1EB"/>
          </a:solidFill>
          <a:ln w="12700">
            <a:solidFill>
              <a:srgbClr val="E9F1EB"/>
            </a:solidFill>
            <a:prstDash val="solid"/>
          </a:ln>
        </p:spPr>
      </p:sp>
      <p:sp>
        <p:nvSpPr>
          <p:cNvPr id="8" name="Text 6"/>
          <p:cNvSpPr txBox="1"/>
          <p:nvPr/>
        </p:nvSpPr>
        <p:spPr>
          <a:xfrm>
            <a:off x="4873752" y="1408176"/>
            <a:ext cx="3648456" cy="1527048"/>
          </a:xfrm>
          <a:prstGeom prst="rect">
            <a:avLst/>
          </a:prstGeom>
          <a:noFill/>
          <a:ln/>
        </p:spPr>
        <p:txBody>
          <a:bodyPr wrap="square" lIns="0" tIns="0" rIns="0" bIns="0" rtlCol="0" anchor="t">
            <a:normAutofit/>
          </a:bodyPr>
          <a:lstStyle/>
          <a:p>
            <a:pPr indent="0" marL="0">
              <a:spcAft>
                <a:spcPts val="400"/>
              </a:spcAft>
              <a:buNone/>
            </a:pPr>
            <a:r>
              <a:rPr lang="en-US" sz="1250" b="1" dirty="0">
                <a:solidFill>
                  <a:srgbClr val="1F4D3A"/>
                </a:solidFill>
                <a:latin typeface="Calibri" pitchFamily="34" charset="0"/>
                <a:ea typeface="Calibri" pitchFamily="34" charset="-122"/>
                <a:cs typeface="Calibri" pitchFamily="34" charset="-120"/>
              </a:rPr>
              <a:t>Dry cities cool MORE</a:t>
            </a:r>
            <a:endParaRPr lang="en-US" sz="1250" dirty="0"/>
          </a:p>
          <a:p>
            <a:pPr indent="0" marL="0">
              <a:buNone/>
            </a:pPr>
            <a:r>
              <a:rPr lang="en-US" sz="1100" dirty="0">
                <a:solidFill>
                  <a:srgbClr val="1F2328"/>
                </a:solidFill>
                <a:latin typeface="Calibri" pitchFamily="34" charset="0"/>
                <a:ea typeface="Calibri" pitchFamily="34" charset="-122"/>
                <a:cs typeface="Calibri" pitchFamily="34" charset="-120"/>
              </a:rPr>
              <a:t>Manoli et al. 2019: greening is more efficient in dry regions, but only with irrigation.</a:t>
            </a:r>
            <a:endParaRPr lang="en-US" sz="1250" dirty="0"/>
          </a:p>
          <a:p>
            <a:pPr indent="0" marL="0">
              <a:buNone/>
            </a:pPr>
            <a:endParaRPr lang="en-US" sz="1250" dirty="0"/>
          </a:p>
          <a:p>
            <a:pPr indent="0" marL="0">
              <a:buNone/>
            </a:pPr>
            <a:r>
              <a:rPr lang="en-US" sz="1100" dirty="0">
                <a:solidFill>
                  <a:srgbClr val="1F2328"/>
                </a:solidFill>
                <a:latin typeface="Calibri" pitchFamily="34" charset="0"/>
                <a:ea typeface="Calibri" pitchFamily="34" charset="-122"/>
                <a:cs typeface="Calibri" pitchFamily="34" charset="-120"/>
              </a:rPr>
              <a:t>Yang et al. 2022 (510 cities): tree cooling efficiency is higher in hot, dry cities.</a:t>
            </a:r>
            <a:endParaRPr lang="en-US" sz="1250" dirty="0"/>
          </a:p>
        </p:txBody>
      </p:sp>
      <p:sp>
        <p:nvSpPr>
          <p:cNvPr id="9" name="Text 7"/>
          <p:cNvSpPr txBox="1"/>
          <p:nvPr/>
        </p:nvSpPr>
        <p:spPr>
          <a:xfrm>
            <a:off x="457200" y="3246120"/>
            <a:ext cx="2621280" cy="1417320"/>
          </a:xfrm>
          <a:prstGeom prst="rect">
            <a:avLst/>
          </a:prstGeom>
          <a:noFill/>
          <a:ln/>
        </p:spPr>
        <p:txBody>
          <a:bodyPr wrap="square" lIns="0" tIns="0" rIns="0" bIns="0" rtlCol="0" anchor="t">
            <a:normAutofit/>
          </a:bodyPr>
          <a:lstStyle/>
          <a:p>
            <a:pPr indent="0" marL="0">
              <a:spcAft>
                <a:spcPts val="300"/>
              </a:spcAft>
              <a:buNone/>
            </a:pPr>
            <a:r>
              <a:rPr lang="en-US" sz="1050" b="1" dirty="0">
                <a:solidFill>
                  <a:srgbClr val="1F4D3A"/>
                </a:solidFill>
                <a:latin typeface="Calibri" pitchFamily="34" charset="0"/>
                <a:ea typeface="Calibri" pitchFamily="34" charset="-122"/>
                <a:cs typeface="Calibri" pitchFamily="34" charset="-120"/>
              </a:rPr>
              <a:t>Humid cities: a new warning</a:t>
            </a:r>
            <a:endParaRPr lang="en-US" sz="1050" dirty="0"/>
          </a:p>
          <a:p>
            <a:pPr indent="0" marL="0">
              <a:buNone/>
            </a:pPr>
            <a:r>
              <a:rPr lang="en-US" sz="1050" dirty="0">
                <a:solidFill>
                  <a:srgbClr val="1F2328"/>
                </a:solidFill>
                <a:latin typeface="Calibri" pitchFamily="34" charset="0"/>
                <a:ea typeface="Calibri" pitchFamily="34" charset="-122"/>
                <a:cs typeface="Calibri" pitchFamily="34" charset="-120"/>
              </a:rPr>
              <a:t>Borah et al. 2026, 138 Indian cities: high canopy activity goes with a higher Heat Index at pre-monsoon midday (an association).</a:t>
            </a:r>
            <a:endParaRPr lang="en-US" sz="1050" dirty="0"/>
          </a:p>
        </p:txBody>
      </p:sp>
      <p:sp>
        <p:nvSpPr>
          <p:cNvPr id="10" name="Text 8"/>
          <p:cNvSpPr txBox="1"/>
          <p:nvPr/>
        </p:nvSpPr>
        <p:spPr>
          <a:xfrm>
            <a:off x="3261360" y="3246120"/>
            <a:ext cx="2621280" cy="1417320"/>
          </a:xfrm>
          <a:prstGeom prst="rect">
            <a:avLst/>
          </a:prstGeom>
          <a:noFill/>
          <a:ln/>
        </p:spPr>
        <p:txBody>
          <a:bodyPr wrap="square" lIns="0" tIns="0" rIns="0" bIns="0" rtlCol="0" anchor="t">
            <a:normAutofit/>
          </a:bodyPr>
          <a:lstStyle/>
          <a:p>
            <a:pPr indent="0" marL="0">
              <a:spcAft>
                <a:spcPts val="300"/>
              </a:spcAft>
              <a:buNone/>
            </a:pPr>
            <a:r>
              <a:rPr lang="en-US" sz="1050" b="1" dirty="0">
                <a:solidFill>
                  <a:srgbClr val="1F4D3A"/>
                </a:solidFill>
                <a:latin typeface="Calibri" pitchFamily="34" charset="0"/>
                <a:ea typeface="Calibri" pitchFamily="34" charset="-122"/>
                <a:cs typeface="Calibri" pitchFamily="34" charset="-120"/>
              </a:rPr>
              <a:t>The metric problem</a:t>
            </a:r>
            <a:endParaRPr lang="en-US" sz="1050" dirty="0"/>
          </a:p>
          <a:p>
            <a:pPr indent="0" marL="0">
              <a:buNone/>
            </a:pPr>
            <a:r>
              <a:rPr lang="en-US" sz="1050" dirty="0">
                <a:solidFill>
                  <a:srgbClr val="1F2328"/>
                </a:solidFill>
                <a:latin typeface="Calibri" pitchFamily="34" charset="0"/>
                <a:ea typeface="Calibri" pitchFamily="34" charset="-122"/>
                <a:cs typeface="Calibri" pitchFamily="34" charset="-120"/>
              </a:rPr>
              <a:t>Satellites overstate the heat island ~6× vs air temperature (Venter 2021); tree cooling ~12× (Du 2024).</a:t>
            </a:r>
            <a:endParaRPr lang="en-US" sz="1050" dirty="0"/>
          </a:p>
        </p:txBody>
      </p:sp>
      <p:sp>
        <p:nvSpPr>
          <p:cNvPr id="11" name="Text 9"/>
          <p:cNvSpPr txBox="1"/>
          <p:nvPr/>
        </p:nvSpPr>
        <p:spPr>
          <a:xfrm>
            <a:off x="6065520" y="3246120"/>
            <a:ext cx="2621280" cy="1417320"/>
          </a:xfrm>
          <a:prstGeom prst="rect">
            <a:avLst/>
          </a:prstGeom>
          <a:noFill/>
          <a:ln/>
        </p:spPr>
        <p:txBody>
          <a:bodyPr wrap="square" lIns="0" tIns="0" rIns="0" bIns="0" rtlCol="0" anchor="t">
            <a:normAutofit/>
          </a:bodyPr>
          <a:lstStyle/>
          <a:p>
            <a:pPr indent="0" marL="0">
              <a:spcAft>
                <a:spcPts val="300"/>
              </a:spcAft>
              <a:buNone/>
            </a:pPr>
            <a:r>
              <a:rPr lang="en-US" sz="1050" b="1" dirty="0">
                <a:solidFill>
                  <a:srgbClr val="1F4D3A"/>
                </a:solidFill>
                <a:latin typeface="Calibri" pitchFamily="34" charset="0"/>
                <a:ea typeface="Calibri" pitchFamily="34" charset="-122"/>
                <a:cs typeface="Calibri" pitchFamily="34" charset="-120"/>
              </a:rPr>
              <a:t>The geography gap</a:t>
            </a:r>
            <a:endParaRPr lang="en-US" sz="1050" dirty="0"/>
          </a:p>
          <a:p>
            <a:pPr indent="0" marL="0">
              <a:buNone/>
            </a:pPr>
            <a:r>
              <a:rPr lang="en-US" sz="1050" dirty="0">
                <a:solidFill>
                  <a:srgbClr val="1F2328"/>
                </a:solidFill>
                <a:latin typeface="Calibri" pitchFamily="34" charset="0"/>
                <a:ea typeface="Calibri" pitchFamily="34" charset="-122"/>
                <a:cs typeface="Calibri" pitchFamily="34" charset="-120"/>
              </a:rPr>
              <a:t>Most evidence is from Europe, China and North America. India spans desert to very wet.</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2011680" cy="237744"/>
          </a:xfrm>
          <a:prstGeom prst="rect">
            <a:avLst/>
          </a:prstGeom>
          <a:noFill/>
          <a:ln/>
        </p:spPr>
        <p:txBody>
          <a:bodyPr wrap="square" lIns="0" tIns="0" rIns="0" bIns="0" rtlCol="0" anchor="ctr"/>
          <a:lstStyle/>
          <a:p>
            <a:pPr indent="0" marL="0">
              <a:buNone/>
            </a:pPr>
            <a:r>
              <a:rPr lang="en-US" sz="900" b="1" spc="200" kern="0" dirty="0">
                <a:solidFill>
                  <a:srgbClr val="1F4D3A"/>
                </a:solidFill>
                <a:latin typeface="Calibri" pitchFamily="34" charset="0"/>
                <a:ea typeface="Calibri" pitchFamily="34" charset="-122"/>
                <a:cs typeface="Calibri" pitchFamily="34" charset="-120"/>
              </a:rPr>
              <a:t>PROBLEM</a:t>
            </a:r>
            <a:endParaRPr lang="en-US" sz="900" dirty="0"/>
          </a:p>
        </p:txBody>
      </p:sp>
      <p:sp>
        <p:nvSpPr>
          <p:cNvPr id="3" name="Text 1"/>
          <p:cNvSpPr txBox="1"/>
          <p:nvPr/>
        </p:nvSpPr>
        <p:spPr>
          <a:xfrm>
            <a:off x="5943600" y="256032"/>
            <a:ext cx="2743200" cy="237744"/>
          </a:xfrm>
          <a:prstGeom prst="rect">
            <a:avLst/>
          </a:prstGeom>
          <a:noFill/>
          <a:ln/>
        </p:spPr>
        <p:txBody>
          <a:bodyPr wrap="square" lIns="0" tIns="0" rIns="0" bIns="0" rtlCol="0" anchor="ctr"/>
          <a:lstStyle/>
          <a:p>
            <a:pPr algn="r" indent="0" marL="0">
              <a:buNone/>
            </a:pPr>
            <a:r>
              <a:rPr lang="en-US" sz="900" dirty="0">
                <a:solidFill>
                  <a:srgbClr val="5F6670"/>
                </a:solidFill>
                <a:latin typeface="Calibri" pitchFamily="34" charset="0"/>
                <a:ea typeface="Calibri" pitchFamily="34" charset="-122"/>
                <a:cs typeface="Calibri" pitchFamily="34" charset="-120"/>
              </a:rPr>
              <a:t>Presenter: Role 4</a:t>
            </a:r>
            <a:endParaRPr lang="en-US" sz="900" dirty="0"/>
          </a:p>
        </p:txBody>
      </p:sp>
      <p:sp>
        <p:nvSpPr>
          <p:cNvPr id="4" name="Text 2"/>
          <p:cNvSpPr txBox="1"/>
          <p:nvPr/>
        </p:nvSpPr>
        <p:spPr>
          <a:xfrm>
            <a:off x="457200" y="502920"/>
            <a:ext cx="8229600" cy="685800"/>
          </a:xfrm>
          <a:prstGeom prst="rect">
            <a:avLst/>
          </a:prstGeom>
          <a:noFill/>
          <a:ln/>
        </p:spPr>
        <p:txBody>
          <a:bodyPr wrap="square" lIns="0" tIns="0" rIns="0" bIns="0" rtlCol="0" anchor="t">
            <a:normAutofit/>
          </a:bodyPr>
          <a:lstStyle/>
          <a:p>
            <a:pPr indent="0" marL="0">
              <a:buNone/>
            </a:pPr>
            <a:r>
              <a:rPr lang="en-US" sz="2000" b="1" dirty="0">
                <a:solidFill>
                  <a:srgbClr val="1F2328"/>
                </a:solidFill>
                <a:latin typeface="Cambria" pitchFamily="34" charset="0"/>
                <a:ea typeface="Cambria" pitchFamily="34" charset="-122"/>
                <a:cs typeface="Cambria" pitchFamily="34" charset="-120"/>
              </a:rPr>
              <a:t>Five hypotheses we test at mid-sem</a:t>
            </a:r>
            <a:endParaRPr lang="en-US" sz="2000" dirty="0"/>
          </a:p>
        </p:txBody>
      </p:sp>
      <p:sp>
        <p:nvSpPr>
          <p:cNvPr id="5" name="Shape 3"/>
          <p:cNvSpPr/>
          <p:nvPr/>
        </p:nvSpPr>
        <p:spPr>
          <a:xfrm>
            <a:off x="457200" y="1325880"/>
            <a:ext cx="384048" cy="384048"/>
          </a:xfrm>
          <a:prstGeom prst="ellipse">
            <a:avLst/>
          </a:prstGeom>
          <a:solidFill>
            <a:srgbClr val="1F4D3A"/>
          </a:solidFill>
          <a:ln w="12700">
            <a:solidFill>
              <a:srgbClr val="1F4D3A"/>
            </a:solidFill>
            <a:prstDash val="solid"/>
          </a:ln>
        </p:spPr>
      </p:sp>
      <p:sp>
        <p:nvSpPr>
          <p:cNvPr id="6" name="Text 4"/>
          <p:cNvSpPr txBox="1"/>
          <p:nvPr/>
        </p:nvSpPr>
        <p:spPr>
          <a:xfrm>
            <a:off x="457200" y="1325880"/>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H1</a:t>
            </a:r>
            <a:endParaRPr lang="en-US" sz="1100" dirty="0"/>
          </a:p>
        </p:txBody>
      </p:sp>
      <p:sp>
        <p:nvSpPr>
          <p:cNvPr id="7" name="Text 5"/>
          <p:cNvSpPr txBox="1"/>
          <p:nvPr/>
        </p:nvSpPr>
        <p:spPr>
          <a:xfrm>
            <a:off x="1005840" y="1271016"/>
            <a:ext cx="7680960" cy="502920"/>
          </a:xfrm>
          <a:prstGeom prst="rect">
            <a:avLst/>
          </a:prstGeom>
          <a:noFill/>
          <a:ln/>
        </p:spPr>
        <p:txBody>
          <a:bodyPr wrap="square" lIns="0" tIns="0" rIns="0" bIns="0" rtlCol="0" anchor="ctr"/>
          <a:lstStyle/>
          <a:p>
            <a:pPr indent="0" marL="0">
              <a:buNone/>
            </a:pPr>
            <a:r>
              <a:rPr lang="en-US" sz="1400" dirty="0">
                <a:solidFill>
                  <a:srgbClr val="1F2328"/>
                </a:solidFill>
                <a:latin typeface="Calibri" pitchFamily="34" charset="0"/>
                <a:ea typeface="Calibri" pitchFamily="34" charset="-122"/>
                <a:cs typeface="Calibri" pitchFamily="34" charset="-120"/>
              </a:rPr>
              <a:t>Greener squares are cooler by day in most cities.</a:t>
            </a:r>
            <a:endParaRPr lang="en-US" sz="1400" dirty="0"/>
          </a:p>
        </p:txBody>
      </p:sp>
      <p:sp>
        <p:nvSpPr>
          <p:cNvPr id="8" name="Shape 6"/>
          <p:cNvSpPr/>
          <p:nvPr/>
        </p:nvSpPr>
        <p:spPr>
          <a:xfrm>
            <a:off x="457200" y="1929384"/>
            <a:ext cx="384048" cy="384048"/>
          </a:xfrm>
          <a:prstGeom prst="ellipse">
            <a:avLst/>
          </a:prstGeom>
          <a:solidFill>
            <a:srgbClr val="1F4D3A"/>
          </a:solidFill>
          <a:ln w="12700">
            <a:solidFill>
              <a:srgbClr val="1F4D3A"/>
            </a:solidFill>
            <a:prstDash val="solid"/>
          </a:ln>
        </p:spPr>
      </p:sp>
      <p:sp>
        <p:nvSpPr>
          <p:cNvPr id="9" name="Text 7"/>
          <p:cNvSpPr txBox="1"/>
          <p:nvPr/>
        </p:nvSpPr>
        <p:spPr>
          <a:xfrm>
            <a:off x="457200" y="1929384"/>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H2</a:t>
            </a:r>
            <a:endParaRPr lang="en-US" sz="1100" dirty="0"/>
          </a:p>
        </p:txBody>
      </p:sp>
      <p:sp>
        <p:nvSpPr>
          <p:cNvPr id="10" name="Text 8"/>
          <p:cNvSpPr txBox="1"/>
          <p:nvPr/>
        </p:nvSpPr>
        <p:spPr>
          <a:xfrm>
            <a:off x="1005840" y="1874520"/>
            <a:ext cx="7680960" cy="502920"/>
          </a:xfrm>
          <a:prstGeom prst="rect">
            <a:avLst/>
          </a:prstGeom>
          <a:noFill/>
          <a:ln/>
        </p:spPr>
        <p:txBody>
          <a:bodyPr wrap="square" lIns="0" tIns="0" rIns="0" bIns="0" rtlCol="0" anchor="ctr"/>
          <a:lstStyle/>
          <a:p>
            <a:pPr indent="0" marL="0">
              <a:buNone/>
            </a:pPr>
            <a:r>
              <a:rPr lang="en-US" sz="1400" dirty="0">
                <a:solidFill>
                  <a:srgbClr val="1F2328"/>
                </a:solidFill>
                <a:latin typeface="Calibri" pitchFamily="34" charset="0"/>
                <a:ea typeface="Calibri" pitchFamily="34" charset="-122"/>
                <a:cs typeface="Calibri" pitchFamily="34" charset="-120"/>
              </a:rPr>
              <a:t>The cooling slope changes with background moisture. We test which way.</a:t>
            </a:r>
            <a:endParaRPr lang="en-US" sz="1400" dirty="0"/>
          </a:p>
        </p:txBody>
      </p:sp>
      <p:sp>
        <p:nvSpPr>
          <p:cNvPr id="11" name="Shape 9"/>
          <p:cNvSpPr/>
          <p:nvPr/>
        </p:nvSpPr>
        <p:spPr>
          <a:xfrm>
            <a:off x="457200" y="2532888"/>
            <a:ext cx="384048" cy="384048"/>
          </a:xfrm>
          <a:prstGeom prst="ellipse">
            <a:avLst/>
          </a:prstGeom>
          <a:solidFill>
            <a:srgbClr val="1F4D3A"/>
          </a:solidFill>
          <a:ln w="12700">
            <a:solidFill>
              <a:srgbClr val="1F4D3A"/>
            </a:solidFill>
            <a:prstDash val="solid"/>
          </a:ln>
        </p:spPr>
      </p:sp>
      <p:sp>
        <p:nvSpPr>
          <p:cNvPr id="12" name="Text 10"/>
          <p:cNvSpPr txBox="1"/>
          <p:nvPr/>
        </p:nvSpPr>
        <p:spPr>
          <a:xfrm>
            <a:off x="457200" y="2532888"/>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H3</a:t>
            </a:r>
            <a:endParaRPr lang="en-US" sz="1100" dirty="0"/>
          </a:p>
        </p:txBody>
      </p:sp>
      <p:sp>
        <p:nvSpPr>
          <p:cNvPr id="13" name="Text 11"/>
          <p:cNvSpPr txBox="1"/>
          <p:nvPr/>
        </p:nvSpPr>
        <p:spPr>
          <a:xfrm>
            <a:off x="1005840" y="2478024"/>
            <a:ext cx="7680960" cy="502920"/>
          </a:xfrm>
          <a:prstGeom prst="rect">
            <a:avLst/>
          </a:prstGeom>
          <a:noFill/>
          <a:ln/>
        </p:spPr>
        <p:txBody>
          <a:bodyPr wrap="square" lIns="0" tIns="0" rIns="0" bIns="0" rtlCol="0" anchor="ctr"/>
          <a:lstStyle/>
          <a:p>
            <a:pPr indent="0" marL="0">
              <a:buNone/>
            </a:pPr>
            <a:r>
              <a:rPr lang="en-US" sz="1400" dirty="0">
                <a:solidFill>
                  <a:srgbClr val="1F2328"/>
                </a:solidFill>
                <a:latin typeface="Calibri" pitchFamily="34" charset="0"/>
                <a:ea typeface="Calibri" pitchFamily="34" charset="-122"/>
                <a:cs typeface="Calibri" pitchFamily="34" charset="-120"/>
              </a:rPr>
              <a:t>Night cooling is weaker, and may reverse in dry cities.</a:t>
            </a:r>
            <a:endParaRPr lang="en-US" sz="1400" dirty="0"/>
          </a:p>
        </p:txBody>
      </p:sp>
      <p:sp>
        <p:nvSpPr>
          <p:cNvPr id="14" name="Shape 12"/>
          <p:cNvSpPr/>
          <p:nvPr/>
        </p:nvSpPr>
        <p:spPr>
          <a:xfrm>
            <a:off x="457200" y="3136392"/>
            <a:ext cx="384048" cy="384048"/>
          </a:xfrm>
          <a:prstGeom prst="ellipse">
            <a:avLst/>
          </a:prstGeom>
          <a:solidFill>
            <a:srgbClr val="1F4D3A"/>
          </a:solidFill>
          <a:ln w="12700">
            <a:solidFill>
              <a:srgbClr val="1F4D3A"/>
            </a:solidFill>
            <a:prstDash val="solid"/>
          </a:ln>
        </p:spPr>
      </p:sp>
      <p:sp>
        <p:nvSpPr>
          <p:cNvPr id="15" name="Text 13"/>
          <p:cNvSpPr txBox="1"/>
          <p:nvPr/>
        </p:nvSpPr>
        <p:spPr>
          <a:xfrm>
            <a:off x="457200" y="3136392"/>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H4</a:t>
            </a:r>
            <a:endParaRPr lang="en-US" sz="1100" dirty="0"/>
          </a:p>
        </p:txBody>
      </p:sp>
      <p:sp>
        <p:nvSpPr>
          <p:cNvPr id="16" name="Text 14"/>
          <p:cNvSpPr txBox="1"/>
          <p:nvPr/>
        </p:nvSpPr>
        <p:spPr>
          <a:xfrm>
            <a:off x="1005840" y="3081528"/>
            <a:ext cx="7680960" cy="502920"/>
          </a:xfrm>
          <a:prstGeom prst="rect">
            <a:avLst/>
          </a:prstGeom>
          <a:noFill/>
          <a:ln/>
        </p:spPr>
        <p:txBody>
          <a:bodyPr wrap="square" lIns="0" tIns="0" rIns="0" bIns="0" rtlCol="0" anchor="ctr"/>
          <a:lstStyle/>
          <a:p>
            <a:pPr indent="0" marL="0">
              <a:buNone/>
            </a:pPr>
            <a:r>
              <a:rPr lang="en-US" sz="1400" dirty="0">
                <a:solidFill>
                  <a:srgbClr val="1F2328"/>
                </a:solidFill>
                <a:latin typeface="Calibri" pitchFamily="34" charset="0"/>
                <a:ea typeface="Calibri" pitchFamily="34" charset="-122"/>
                <a:cs typeface="Calibri" pitchFamily="34" charset="-120"/>
              </a:rPr>
              <a:t>The same city cools differently before and after the monsoon.</a:t>
            </a:r>
            <a:endParaRPr lang="en-US" sz="1400" dirty="0"/>
          </a:p>
        </p:txBody>
      </p:sp>
      <p:sp>
        <p:nvSpPr>
          <p:cNvPr id="17" name="Shape 15"/>
          <p:cNvSpPr/>
          <p:nvPr/>
        </p:nvSpPr>
        <p:spPr>
          <a:xfrm>
            <a:off x="457200" y="3739896"/>
            <a:ext cx="384048" cy="384048"/>
          </a:xfrm>
          <a:prstGeom prst="ellipse">
            <a:avLst/>
          </a:prstGeom>
          <a:solidFill>
            <a:srgbClr val="1F4D3A"/>
          </a:solidFill>
          <a:ln w="12700">
            <a:solidFill>
              <a:srgbClr val="1F4D3A"/>
            </a:solidFill>
            <a:prstDash val="solid"/>
          </a:ln>
        </p:spPr>
      </p:sp>
      <p:sp>
        <p:nvSpPr>
          <p:cNvPr id="18" name="Text 16"/>
          <p:cNvSpPr txBox="1"/>
          <p:nvPr/>
        </p:nvSpPr>
        <p:spPr>
          <a:xfrm>
            <a:off x="457200" y="3739896"/>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H5</a:t>
            </a:r>
            <a:endParaRPr lang="en-US" sz="1100" dirty="0"/>
          </a:p>
        </p:txBody>
      </p:sp>
      <p:sp>
        <p:nvSpPr>
          <p:cNvPr id="19" name="Text 17"/>
          <p:cNvSpPr txBox="1"/>
          <p:nvPr/>
        </p:nvSpPr>
        <p:spPr>
          <a:xfrm>
            <a:off x="1005840" y="3685032"/>
            <a:ext cx="7680960" cy="502920"/>
          </a:xfrm>
          <a:prstGeom prst="rect">
            <a:avLst/>
          </a:prstGeom>
          <a:noFill/>
          <a:ln/>
        </p:spPr>
        <p:txBody>
          <a:bodyPr wrap="square" lIns="0" tIns="0" rIns="0" bIns="0" rtlCol="0" anchor="ctr"/>
          <a:lstStyle/>
          <a:p>
            <a:pPr indent="0" marL="0">
              <a:buNone/>
            </a:pPr>
            <a:r>
              <a:rPr lang="en-US" sz="1400" dirty="0">
                <a:solidFill>
                  <a:srgbClr val="1F2328"/>
                </a:solidFill>
                <a:latin typeface="Calibri" pitchFamily="34" charset="0"/>
                <a:ea typeface="Calibri" pitchFamily="34" charset="-122"/>
                <a:cs typeface="Calibri" pitchFamily="34" charset="-120"/>
              </a:rPr>
              <a:t>Crowded squares are less green and hotter, so people feel more heat than the city average.</a:t>
            </a:r>
            <a:endParaRPr lang="en-US" sz="1400" dirty="0"/>
          </a:p>
        </p:txBody>
      </p:sp>
      <p:sp>
        <p:nvSpPr>
          <p:cNvPr id="20" name="Text 18"/>
          <p:cNvSpPr txBox="1"/>
          <p:nvPr/>
        </p:nvSpPr>
        <p:spPr>
          <a:xfrm>
            <a:off x="1005840" y="4434840"/>
            <a:ext cx="7589520" cy="274320"/>
          </a:xfrm>
          <a:prstGeom prst="rect">
            <a:avLst/>
          </a:prstGeom>
          <a:noFill/>
          <a:ln/>
        </p:spPr>
        <p:txBody>
          <a:bodyPr wrap="square" lIns="0" tIns="0" rIns="0" bIns="0" rtlCol="0" anchor="ctr"/>
          <a:lstStyle/>
          <a:p>
            <a:pPr indent="0" marL="0">
              <a:buNone/>
            </a:pPr>
            <a:r>
              <a:rPr lang="en-US" sz="1200" i="1" dirty="0">
                <a:solidFill>
                  <a:srgbClr val="5F6670"/>
                </a:solidFill>
                <a:latin typeface="Calibri" pitchFamily="34" charset="0"/>
                <a:ea typeface="Calibri" pitchFamily="34" charset="-122"/>
                <a:cs typeface="Calibri" pitchFamily="34" charset="-120"/>
              </a:rPr>
              <a:t>After mid-sem: H6, turning surface cooling into felt heat (Heat Index).</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2011680" cy="237744"/>
          </a:xfrm>
          <a:prstGeom prst="rect">
            <a:avLst/>
          </a:prstGeom>
          <a:noFill/>
          <a:ln/>
        </p:spPr>
        <p:txBody>
          <a:bodyPr wrap="square" lIns="0" tIns="0" rIns="0" bIns="0" rtlCol="0" anchor="ctr"/>
          <a:lstStyle/>
          <a:p>
            <a:pPr indent="0" marL="0">
              <a:buNone/>
            </a:pPr>
            <a:r>
              <a:rPr lang="en-US" sz="900" b="1" spc="200" kern="0" dirty="0">
                <a:solidFill>
                  <a:srgbClr val="1F4D3A"/>
                </a:solidFill>
                <a:latin typeface="Calibri" pitchFamily="34" charset="0"/>
                <a:ea typeface="Calibri" pitchFamily="34" charset="-122"/>
                <a:cs typeface="Calibri" pitchFamily="34" charset="-120"/>
              </a:rPr>
              <a:t>DATA</a:t>
            </a:r>
            <a:endParaRPr lang="en-US" sz="900" dirty="0"/>
          </a:p>
        </p:txBody>
      </p:sp>
      <p:sp>
        <p:nvSpPr>
          <p:cNvPr id="3" name="Text 1"/>
          <p:cNvSpPr txBox="1"/>
          <p:nvPr/>
        </p:nvSpPr>
        <p:spPr>
          <a:xfrm>
            <a:off x="5943600" y="256032"/>
            <a:ext cx="2743200" cy="237744"/>
          </a:xfrm>
          <a:prstGeom prst="rect">
            <a:avLst/>
          </a:prstGeom>
          <a:noFill/>
          <a:ln/>
        </p:spPr>
        <p:txBody>
          <a:bodyPr wrap="square" lIns="0" tIns="0" rIns="0" bIns="0" rtlCol="0" anchor="ctr"/>
          <a:lstStyle/>
          <a:p>
            <a:pPr algn="r" indent="0" marL="0">
              <a:buNone/>
            </a:pPr>
            <a:r>
              <a:rPr lang="en-US" sz="900" dirty="0">
                <a:solidFill>
                  <a:srgbClr val="5F6670"/>
                </a:solidFill>
                <a:latin typeface="Calibri" pitchFamily="34" charset="0"/>
                <a:ea typeface="Calibri" pitchFamily="34" charset="-122"/>
                <a:cs typeface="Calibri" pitchFamily="34" charset="-120"/>
              </a:rPr>
              <a:t>Presenter: Role 1</a:t>
            </a:r>
            <a:endParaRPr lang="en-US" sz="900" dirty="0"/>
          </a:p>
        </p:txBody>
      </p:sp>
      <p:sp>
        <p:nvSpPr>
          <p:cNvPr id="4" name="Text 2"/>
          <p:cNvSpPr txBox="1"/>
          <p:nvPr/>
        </p:nvSpPr>
        <p:spPr>
          <a:xfrm>
            <a:off x="457200" y="502920"/>
            <a:ext cx="8229600" cy="685800"/>
          </a:xfrm>
          <a:prstGeom prst="rect">
            <a:avLst/>
          </a:prstGeom>
          <a:noFill/>
          <a:ln/>
        </p:spPr>
        <p:txBody>
          <a:bodyPr wrap="square" lIns="0" tIns="0" rIns="0" bIns="0" rtlCol="0" anchor="t">
            <a:normAutofit/>
          </a:bodyPr>
          <a:lstStyle/>
          <a:p>
            <a:pPr indent="0" marL="0">
              <a:buNone/>
            </a:pPr>
            <a:r>
              <a:rPr lang="en-US" sz="2000" b="1" dirty="0">
                <a:solidFill>
                  <a:srgbClr val="1F2328"/>
                </a:solidFill>
                <a:latin typeface="Cambria" pitchFamily="34" charset="0"/>
                <a:ea typeface="Cambria" pitchFamily="34" charset="-122"/>
                <a:cs typeface="Cambria" pitchFamily="34" charset="-120"/>
              </a:rPr>
              <a:t>Seven open datasets, all in Google Earth Engine except OpenStreetMap</a:t>
            </a:r>
            <a:endParaRPr lang="en-US" sz="2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8229600" cy="914400"/>
        </p:xfrm>
        <a:graphic>
          <a:graphicData uri="http://schemas.openxmlformats.org/drawingml/2006/table">
            <a:tbl>
              <a:tblPr/>
              <a:tblGrid>
                <a:gridCol w="2377440"/>
                <a:gridCol w="2103120"/>
                <a:gridCol w="3749040"/>
              </a:tblGrid>
              <a:tr h="0">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Dataset</a:t>
                      </a:r>
                      <a:endParaRPr lang="en-US" sz="1150" dirty="0">
                        <a:latin typeface="Calibri" charset="0"/>
                        <a:ea typeface="Calibri" charset="0"/>
                        <a:cs typeface="Calibri" charset="0"/>
                      </a:endParaRPr>
                    </a:p>
                  </a:txBody>
                  <a:tcPr marL="76200" marR="76200" marT="38100" marB="38100" anchor="ctr">
                    <a:lnL w="6350" cap="flat" cmpd="sng" algn="ctr">
                      <a:solidFill>
                        <a:srgbClr val="D7DDD9"/>
                      </a:solidFill>
                      <a:prstDash val="solid"/>
                      <a:round/>
                      <a:headEnd type="none" w="med" len="med"/>
                      <a:tailEnd type="none" w="med" len="med"/>
                    </a:lnL>
                    <a:lnR w="6350" cap="flat" cmpd="sng" algn="ctr">
                      <a:solidFill>
                        <a:srgbClr val="D7DDD9"/>
                      </a:solidFill>
                      <a:prstDash val="solid"/>
                      <a:round/>
                      <a:headEnd type="none" w="med" len="med"/>
                      <a:tailEnd type="none" w="med" len="med"/>
                    </a:lnR>
                    <a:lnT w="6350" cap="flat" cmpd="sng" algn="ctr">
                      <a:solidFill>
                        <a:srgbClr val="D7DDD9"/>
                      </a:solidFill>
                      <a:prstDash val="solid"/>
                      <a:round/>
                      <a:headEnd type="none" w="med" len="med"/>
                      <a:tailEnd type="none" w="med" len="med"/>
                    </a:lnT>
                    <a:lnB w="6350" cap="flat" cmpd="sng" algn="ctr">
                      <a:solidFill>
                        <a:srgbClr val="D7DDD9"/>
                      </a:solidFill>
                      <a:prstDash val="solid"/>
                      <a:round/>
                      <a:headEnd type="none" w="med" len="med"/>
                      <a:tailEnd type="none" w="med" len="med"/>
                    </a:lnB>
                    <a:solidFill>
                      <a:srgbClr val="1F4D3A"/>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Resolution</a:t>
                      </a:r>
                      <a:endParaRPr lang="en-US" sz="1150" dirty="0">
                        <a:latin typeface="Calibri" charset="0"/>
                        <a:ea typeface="Calibri" charset="0"/>
                        <a:cs typeface="Calibri" charset="0"/>
                      </a:endParaRPr>
                    </a:p>
                  </a:txBody>
                  <a:tcPr marL="76200" marR="76200" marT="38100" marB="38100" anchor="ctr">
                    <a:lnL w="6350" cap="flat" cmpd="sng" algn="ctr">
                      <a:solidFill>
                        <a:srgbClr val="D7DDD9"/>
                      </a:solidFill>
                      <a:prstDash val="solid"/>
                      <a:round/>
                      <a:headEnd type="none" w="med" len="med"/>
                      <a:tailEnd type="none" w="med" len="med"/>
                    </a:lnL>
                    <a:lnR w="6350" cap="flat" cmpd="sng" algn="ctr">
                      <a:solidFill>
                        <a:srgbClr val="D7DDD9"/>
                      </a:solidFill>
                      <a:prstDash val="solid"/>
                      <a:round/>
                      <a:headEnd type="none" w="med" len="med"/>
                      <a:tailEnd type="none" w="med" len="med"/>
                    </a:lnR>
                    <a:lnT w="6350" cap="flat" cmpd="sng" algn="ctr">
                      <a:solidFill>
                        <a:srgbClr val="D7DDD9"/>
                      </a:solidFill>
                      <a:prstDash val="solid"/>
                      <a:round/>
                      <a:headEnd type="none" w="med" len="med"/>
                      <a:tailEnd type="none" w="med" len="med"/>
                    </a:lnT>
                    <a:lnB w="6350" cap="flat" cmpd="sng" algn="ctr">
                      <a:solidFill>
                        <a:srgbClr val="D7DDD9"/>
                      </a:solidFill>
                      <a:prstDash val="solid"/>
                      <a:round/>
                      <a:headEnd type="none" w="med" len="med"/>
                      <a:tailEnd type="none" w="med" len="med"/>
                    </a:lnB>
                    <a:solidFill>
                      <a:srgbClr val="1F4D3A"/>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Used for</a:t>
                      </a:r>
                      <a:endParaRPr lang="en-US" sz="1150" dirty="0">
                        <a:latin typeface="Calibri" charset="0"/>
                        <a:ea typeface="Calibri" charset="0"/>
                        <a:cs typeface="Calibri" charset="0"/>
                      </a:endParaRPr>
                    </a:p>
                  </a:txBody>
                  <a:tcPr marL="76200" marR="76200" marT="38100" marB="38100" anchor="ctr">
                    <a:lnL w="6350" cap="flat" cmpd="sng" algn="ctr">
                      <a:solidFill>
                        <a:srgbClr val="D7DDD9"/>
                      </a:solidFill>
                      <a:prstDash val="solid"/>
                      <a:round/>
                      <a:headEnd type="none" w="med" len="med"/>
                      <a:tailEnd type="none" w="med" len="med"/>
                    </a:lnL>
                    <a:lnR w="6350" cap="flat" cmpd="sng" algn="ctr">
                      <a:solidFill>
                        <a:srgbClr val="D7DDD9"/>
                      </a:solidFill>
                      <a:prstDash val="solid"/>
                      <a:round/>
                      <a:headEnd type="none" w="med" len="med"/>
                      <a:tailEnd type="none" w="med" len="med"/>
                    </a:lnR>
                    <a:lnT w="6350" cap="flat" cmpd="sng" algn="ctr">
                      <a:solidFill>
                        <a:srgbClr val="D7DDD9"/>
                      </a:solidFill>
                      <a:prstDash val="solid"/>
                      <a:round/>
                      <a:headEnd type="none" w="med" len="med"/>
                      <a:tailEnd type="none" w="med" len="med"/>
                    </a:lnT>
                    <a:lnB w="6350" cap="flat" cmpd="sng" algn="ctr">
                      <a:solidFill>
                        <a:srgbClr val="D7DDD9"/>
                      </a:solidFill>
                      <a:prstDash val="solid"/>
                      <a:round/>
                      <a:headEnd type="none" w="med" len="med"/>
                      <a:tailEnd type="none" w="med" len="med"/>
                    </a:lnB>
                    <a:solidFill>
                      <a:srgbClr val="1F4D3A"/>
                    </a:solidFill>
                  </a:tcPr>
                </a:tc>
              </a:tr>
              <a:tr h="0">
                <a:tc>
                  <a:txBody>
                    <a:bodyPr/>
                    <a:lstStyle/>
                    <a:p>
                      <a:pPr indent="0" marL="0">
                        <a:buNone/>
                      </a:pPr>
                      <a:r>
                        <a:rPr lang="en-US" sz="1150" dirty="0">
                          <a:solidFill>
                            <a:srgbClr val="1F2328"/>
                          </a:solidFill>
                          <a:latin typeface="Calibri" pitchFamily="34" charset="0"/>
                          <a:ea typeface="Calibri" pitchFamily="34" charset="-122"/>
                          <a:cs typeface="Calibri" pitchFamily="34" charset="-120"/>
                        </a:rPr>
                        <a:t>MODIS LST (Aqua, MYD11A2)</a:t>
                      </a:r>
                      <a:endParaRPr lang="en-US" sz="1150" dirty="0">
                        <a:latin typeface="Calibri" charset="0"/>
                        <a:ea typeface="Calibri" charset="0"/>
                        <a:cs typeface="Calibri" charset="0"/>
                      </a:endParaRPr>
                    </a:p>
                  </a:txBody>
                  <a:tcPr marL="76200" marR="76200" marT="38100" marB="38100" anchor="ctr">
                    <a:lnL w="6350" cap="flat" cmpd="sng" algn="ctr">
                      <a:solidFill>
                        <a:srgbClr val="D7DDD9"/>
                      </a:solidFill>
                      <a:prstDash val="solid"/>
                      <a:round/>
                      <a:headEnd type="none" w="med" len="med"/>
                      <a:tailEnd type="none" w="med" len="med"/>
                    </a:lnL>
                    <a:lnR w="6350" cap="flat" cmpd="sng" algn="ctr">
                      <a:solidFill>
                        <a:srgbClr val="D7DDD9"/>
                      </a:solidFill>
                      <a:prstDash val="solid"/>
                      <a:round/>
                      <a:headEnd type="none" w="med" len="med"/>
                      <a:tailEnd type="none" w="med" len="med"/>
                    </a:lnR>
                    <a:lnT w="6350" cap="flat" cmpd="sng" algn="ctr">
                      <a:solidFill>
                        <a:srgbClr val="D7DDD9"/>
                      </a:solidFill>
                      <a:prstDash val="solid"/>
                      <a:round/>
                      <a:headEnd type="none" w="med" len="med"/>
                      <a:tailEnd type="none" w="med" len="med"/>
                    </a:lnT>
                    <a:lnB w="6350" cap="flat" cmpd="sng" algn="ctr">
                      <a:solidFill>
                        <a:srgbClr val="D7DDD9"/>
                      </a:solidFill>
                      <a:prstDash val="solid"/>
                      <a:round/>
                      <a:headEnd type="none" w="med" len="med"/>
                      <a:tailEnd type="none" w="med" len="med"/>
                    </a:lnB>
                    <a:solidFill>
                      <a:srgbClr val="E9F1EB"/>
                    </a:solidFill>
                  </a:tcPr>
                </a:tc>
                <a:tc>
                  <a:txBody>
                    <a:bodyPr/>
                    <a:lstStyle/>
                    <a:p>
                      <a:pPr indent="0" marL="0">
                        <a:buNone/>
                      </a:pPr>
                      <a:r>
                        <a:rPr lang="en-US" sz="1150" dirty="0">
                          <a:solidFill>
                            <a:srgbClr val="1F2328"/>
                          </a:solidFill>
                          <a:latin typeface="Calibri" pitchFamily="34" charset="0"/>
                          <a:ea typeface="Calibri" pitchFamily="34" charset="-122"/>
                          <a:cs typeface="Calibri" pitchFamily="34" charset="-120"/>
                        </a:rPr>
                        <a:t>1 km, 8-day, ~13:30 / ~01:30</a:t>
                      </a:r>
                      <a:endParaRPr lang="en-US" sz="1150" dirty="0">
                        <a:latin typeface="Calibri" charset="0"/>
                        <a:ea typeface="Calibri" charset="0"/>
                        <a:cs typeface="Calibri" charset="0"/>
                      </a:endParaRPr>
                    </a:p>
                  </a:txBody>
                  <a:tcPr marL="76200" marR="76200" marT="38100" marB="38100" anchor="ctr">
                    <a:lnL w="6350" cap="flat" cmpd="sng" algn="ctr">
                      <a:solidFill>
                        <a:srgbClr val="D7DDD9"/>
                      </a:solidFill>
                      <a:prstDash val="solid"/>
                      <a:round/>
                      <a:headEnd type="none" w="med" len="med"/>
                      <a:tailEnd type="none" w="med" len="med"/>
                    </a:lnL>
                    <a:lnR w="6350" cap="flat" cmpd="sng" algn="ctr">
                      <a:solidFill>
                        <a:srgbClr val="D7DDD9"/>
                      </a:solidFill>
                      <a:prstDash val="solid"/>
                      <a:round/>
                      <a:headEnd type="none" w="med" len="med"/>
                      <a:tailEnd type="none" w="med" len="med"/>
                    </a:lnR>
                    <a:lnT w="6350" cap="flat" cmpd="sng" algn="ctr">
                      <a:solidFill>
                        <a:srgbClr val="D7DDD9"/>
                      </a:solidFill>
                      <a:prstDash val="solid"/>
                      <a:round/>
                      <a:headEnd type="none" w="med" len="med"/>
                      <a:tailEnd type="none" w="med" len="med"/>
                    </a:lnT>
                    <a:lnB w="6350" cap="flat" cmpd="sng" algn="ctr">
                      <a:solidFill>
                        <a:srgbClr val="D7DDD9"/>
                      </a:solidFill>
                      <a:prstDash val="solid"/>
                      <a:round/>
                      <a:headEnd type="none" w="med" len="med"/>
                      <a:tailEnd type="none" w="med" len="med"/>
                    </a:lnB>
                    <a:solidFill>
                      <a:srgbClr val="E9F1EB"/>
                    </a:solidFill>
                  </a:tcPr>
                </a:tc>
                <a:tc>
                  <a:txBody>
                    <a:bodyPr/>
                    <a:lstStyle/>
                    <a:p>
                      <a:pPr indent="0" marL="0">
                        <a:buNone/>
                      </a:pPr>
                      <a:r>
                        <a:rPr lang="en-US" sz="1150" dirty="0">
                          <a:solidFill>
                            <a:srgbClr val="1F2328"/>
                          </a:solidFill>
                          <a:latin typeface="Calibri" pitchFamily="34" charset="0"/>
                          <a:ea typeface="Calibri" pitchFamily="34" charset="-122"/>
                          <a:cs typeface="Calibri" pitchFamily="34" charset="-120"/>
                        </a:rPr>
                        <a:t>Day and night surface temperature</a:t>
                      </a:r>
                      <a:endParaRPr lang="en-US" sz="1150" dirty="0">
                        <a:latin typeface="Calibri" charset="0"/>
                        <a:ea typeface="Calibri" charset="0"/>
                        <a:cs typeface="Calibri" charset="0"/>
                      </a:endParaRPr>
                    </a:p>
                  </a:txBody>
                  <a:tcPr marL="76200" marR="76200" marT="38100" marB="38100" anchor="ctr">
                    <a:lnL w="6350" cap="flat" cmpd="sng" algn="ctr">
                      <a:solidFill>
                        <a:srgbClr val="D7DDD9"/>
                      </a:solidFill>
                      <a:prstDash val="solid"/>
                      <a:round/>
                      <a:headEnd type="none" w="med" len="med"/>
                      <a:tailEnd type="none" w="med" len="med"/>
                    </a:lnL>
                    <a:lnR w="6350" cap="flat" cmpd="sng" algn="ctr">
                      <a:solidFill>
                        <a:srgbClr val="D7DDD9"/>
                      </a:solidFill>
                      <a:prstDash val="solid"/>
                      <a:round/>
                      <a:headEnd type="none" w="med" len="med"/>
                      <a:tailEnd type="none" w="med" len="med"/>
                    </a:lnR>
                    <a:lnT w="6350" cap="flat" cmpd="sng" algn="ctr">
                      <a:solidFill>
                        <a:srgbClr val="D7DDD9"/>
                      </a:solidFill>
                      <a:prstDash val="solid"/>
                      <a:round/>
                      <a:headEnd type="none" w="med" len="med"/>
                      <a:tailEnd type="none" w="med" len="med"/>
                    </a:lnT>
                    <a:lnB w="6350" cap="flat" cmpd="sng" algn="ctr">
                      <a:solidFill>
                        <a:srgbClr val="D7DDD9"/>
                      </a:solidFill>
                      <a:prstDash val="solid"/>
                      <a:round/>
                      <a:headEnd type="none" w="med" len="med"/>
                      <a:tailEnd type="none" w="med" len="med"/>
                    </a:lnB>
                    <a:solidFill>
                      <a:srgbClr val="E9F1EB"/>
                    </a:solidFill>
                  </a:tcPr>
                </a:tc>
              </a:tr>
              <a:tr h="0">
                <a:tc>
                  <a:txBody>
                    <a:bodyPr/>
                    <a:lstStyle/>
                    <a:p>
                      <a:pPr indent="0" marL="0">
                        <a:buNone/>
                      </a:pPr>
                      <a:r>
                        <a:rPr lang="en-US" sz="1150" dirty="0">
                          <a:solidFill>
                            <a:srgbClr val="1F2328"/>
                          </a:solidFill>
                          <a:latin typeface="Calibri" pitchFamily="34" charset="0"/>
                          <a:ea typeface="Calibri" pitchFamily="34" charset="-122"/>
                          <a:cs typeface="Calibri" pitchFamily="34" charset="-120"/>
                        </a:rPr>
                        <a:t>MODIS vegetation (MOD13A1)</a:t>
                      </a:r>
                      <a:endParaRPr lang="en-US" sz="1150" dirty="0">
                        <a:latin typeface="Calibri" charset="0"/>
                        <a:ea typeface="Calibri" charset="0"/>
                        <a:cs typeface="Calibri" charset="0"/>
                      </a:endParaRPr>
                    </a:p>
                  </a:txBody>
                  <a:tcPr marL="76200" marR="76200" marT="38100" marB="38100" anchor="ctr">
                    <a:lnL w="6350" cap="flat" cmpd="sng" algn="ctr">
                      <a:solidFill>
                        <a:srgbClr val="D7DDD9"/>
                      </a:solidFill>
                      <a:prstDash val="solid"/>
                      <a:round/>
                      <a:headEnd type="none" w="med" len="med"/>
                      <a:tailEnd type="none" w="med" len="med"/>
                    </a:lnL>
                    <a:lnR w="6350" cap="flat" cmpd="sng" algn="ctr">
                      <a:solidFill>
                        <a:srgbClr val="D7DDD9"/>
                      </a:solidFill>
                      <a:prstDash val="solid"/>
                      <a:round/>
                      <a:headEnd type="none" w="med" len="med"/>
                      <a:tailEnd type="none" w="med" len="med"/>
                    </a:lnR>
                    <a:lnT w="6350" cap="flat" cmpd="sng" algn="ctr">
                      <a:solidFill>
                        <a:srgbClr val="D7DDD9"/>
                      </a:solidFill>
                      <a:prstDash val="solid"/>
                      <a:round/>
                      <a:headEnd type="none" w="med" len="med"/>
                      <a:tailEnd type="none" w="med" len="med"/>
                    </a:lnT>
                    <a:lnB w="6350" cap="flat" cmpd="sng" algn="ctr">
                      <a:solidFill>
                        <a:srgbClr val="D7DDD9"/>
                      </a:solidFill>
                      <a:prstDash val="solid"/>
                      <a:round/>
                      <a:headEnd type="none" w="med" len="med"/>
                      <a:tailEnd type="none" w="med" len="med"/>
                    </a:lnB>
                    <a:solidFill>
                      <a:srgbClr val="FFFFFF"/>
                    </a:solidFill>
                  </a:tcPr>
                </a:tc>
                <a:tc>
                  <a:txBody>
                    <a:bodyPr/>
                    <a:lstStyle/>
                    <a:p>
                      <a:pPr indent="0" marL="0">
                        <a:buNone/>
                      </a:pPr>
                      <a:r>
                        <a:rPr lang="en-US" sz="1150" dirty="0">
                          <a:solidFill>
                            <a:srgbClr val="1F2328"/>
                          </a:solidFill>
                          <a:latin typeface="Calibri" pitchFamily="34" charset="0"/>
                          <a:ea typeface="Calibri" pitchFamily="34" charset="-122"/>
                          <a:cs typeface="Calibri" pitchFamily="34" charset="-120"/>
                        </a:rPr>
                        <a:t>500 m → 1 km</a:t>
                      </a:r>
                      <a:endParaRPr lang="en-US" sz="1150" dirty="0">
                        <a:latin typeface="Calibri" charset="0"/>
                        <a:ea typeface="Calibri" charset="0"/>
                        <a:cs typeface="Calibri" charset="0"/>
                      </a:endParaRPr>
                    </a:p>
                  </a:txBody>
                  <a:tcPr marL="76200" marR="76200" marT="38100" marB="38100" anchor="ctr">
                    <a:lnL w="6350" cap="flat" cmpd="sng" algn="ctr">
                      <a:solidFill>
                        <a:srgbClr val="D7DDD9"/>
                      </a:solidFill>
                      <a:prstDash val="solid"/>
                      <a:round/>
                      <a:headEnd type="none" w="med" len="med"/>
                      <a:tailEnd type="none" w="med" len="med"/>
                    </a:lnL>
                    <a:lnR w="6350" cap="flat" cmpd="sng" algn="ctr">
                      <a:solidFill>
                        <a:srgbClr val="D7DDD9"/>
                      </a:solidFill>
                      <a:prstDash val="solid"/>
                      <a:round/>
                      <a:headEnd type="none" w="med" len="med"/>
                      <a:tailEnd type="none" w="med" len="med"/>
                    </a:lnR>
                    <a:lnT w="6350" cap="flat" cmpd="sng" algn="ctr">
                      <a:solidFill>
                        <a:srgbClr val="D7DDD9"/>
                      </a:solidFill>
                      <a:prstDash val="solid"/>
                      <a:round/>
                      <a:headEnd type="none" w="med" len="med"/>
                      <a:tailEnd type="none" w="med" len="med"/>
                    </a:lnT>
                    <a:lnB w="6350" cap="flat" cmpd="sng" algn="ctr">
                      <a:solidFill>
                        <a:srgbClr val="D7DDD9"/>
                      </a:solidFill>
                      <a:prstDash val="solid"/>
                      <a:round/>
                      <a:headEnd type="none" w="med" len="med"/>
                      <a:tailEnd type="none" w="med" len="med"/>
                    </a:lnB>
                    <a:solidFill>
                      <a:srgbClr val="FFFFFF"/>
                    </a:solidFill>
                  </a:tcPr>
                </a:tc>
                <a:tc>
                  <a:txBody>
                    <a:bodyPr/>
                    <a:lstStyle/>
                    <a:p>
                      <a:pPr indent="0" marL="0">
                        <a:buNone/>
                      </a:pPr>
                      <a:r>
                        <a:rPr lang="en-US" sz="1150" dirty="0">
                          <a:solidFill>
                            <a:srgbClr val="1F2328"/>
                          </a:solidFill>
                          <a:latin typeface="Calibri" pitchFamily="34" charset="0"/>
                          <a:ea typeface="Calibri" pitchFamily="34" charset="-122"/>
                          <a:cs typeface="Calibri" pitchFamily="34" charset="-120"/>
                        </a:rPr>
                        <a:t>Greenness: NDVI (main), EVI (check)</a:t>
                      </a:r>
                      <a:endParaRPr lang="en-US" sz="1150" dirty="0">
                        <a:latin typeface="Calibri" charset="0"/>
                        <a:ea typeface="Calibri" charset="0"/>
                        <a:cs typeface="Calibri" charset="0"/>
                      </a:endParaRPr>
                    </a:p>
                  </a:txBody>
                  <a:tcPr marL="76200" marR="76200" marT="38100" marB="38100" anchor="ctr">
                    <a:lnL w="6350" cap="flat" cmpd="sng" algn="ctr">
                      <a:solidFill>
                        <a:srgbClr val="D7DDD9"/>
                      </a:solidFill>
                      <a:prstDash val="solid"/>
                      <a:round/>
                      <a:headEnd type="none" w="med" len="med"/>
                      <a:tailEnd type="none" w="med" len="med"/>
                    </a:lnL>
                    <a:lnR w="6350" cap="flat" cmpd="sng" algn="ctr">
                      <a:solidFill>
                        <a:srgbClr val="D7DDD9"/>
                      </a:solidFill>
                      <a:prstDash val="solid"/>
                      <a:round/>
                      <a:headEnd type="none" w="med" len="med"/>
                      <a:tailEnd type="none" w="med" len="med"/>
                    </a:lnR>
                    <a:lnT w="6350" cap="flat" cmpd="sng" algn="ctr">
                      <a:solidFill>
                        <a:srgbClr val="D7DDD9"/>
                      </a:solidFill>
                      <a:prstDash val="solid"/>
                      <a:round/>
                      <a:headEnd type="none" w="med" len="med"/>
                      <a:tailEnd type="none" w="med" len="med"/>
                    </a:lnT>
                    <a:lnB w="6350" cap="flat" cmpd="sng" algn="ctr">
                      <a:solidFill>
                        <a:srgbClr val="D7DDD9"/>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1F2328"/>
                          </a:solidFill>
                          <a:latin typeface="Calibri" pitchFamily="34" charset="0"/>
                          <a:ea typeface="Calibri" pitchFamily="34" charset="-122"/>
                          <a:cs typeface="Calibri" pitchFamily="34" charset="-120"/>
                        </a:rPr>
                        <a:t>ERA5-Land</a:t>
                      </a:r>
                      <a:endParaRPr lang="en-US" sz="1150" dirty="0">
                        <a:latin typeface="Calibri" charset="0"/>
                        <a:ea typeface="Calibri" charset="0"/>
                        <a:cs typeface="Calibri" charset="0"/>
                      </a:endParaRPr>
                    </a:p>
                  </a:txBody>
                  <a:tcPr marL="76200" marR="76200" marT="38100" marB="38100" anchor="ctr">
                    <a:lnL w="6350" cap="flat" cmpd="sng" algn="ctr">
                      <a:solidFill>
                        <a:srgbClr val="D7DDD9"/>
                      </a:solidFill>
                      <a:prstDash val="solid"/>
                      <a:round/>
                      <a:headEnd type="none" w="med" len="med"/>
                      <a:tailEnd type="none" w="med" len="med"/>
                    </a:lnL>
                    <a:lnR w="6350" cap="flat" cmpd="sng" algn="ctr">
                      <a:solidFill>
                        <a:srgbClr val="D7DDD9"/>
                      </a:solidFill>
                      <a:prstDash val="solid"/>
                      <a:round/>
                      <a:headEnd type="none" w="med" len="med"/>
                      <a:tailEnd type="none" w="med" len="med"/>
                    </a:lnR>
                    <a:lnT w="6350" cap="flat" cmpd="sng" algn="ctr">
                      <a:solidFill>
                        <a:srgbClr val="D7DDD9"/>
                      </a:solidFill>
                      <a:prstDash val="solid"/>
                      <a:round/>
                      <a:headEnd type="none" w="med" len="med"/>
                      <a:tailEnd type="none" w="med" len="med"/>
                    </a:lnT>
                    <a:lnB w="6350" cap="flat" cmpd="sng" algn="ctr">
                      <a:solidFill>
                        <a:srgbClr val="D7DDD9"/>
                      </a:solidFill>
                      <a:prstDash val="solid"/>
                      <a:round/>
                      <a:headEnd type="none" w="med" len="med"/>
                      <a:tailEnd type="none" w="med" len="med"/>
                    </a:lnB>
                    <a:solidFill>
                      <a:srgbClr val="E9F1EB"/>
                    </a:solidFill>
                  </a:tcPr>
                </a:tc>
                <a:tc>
                  <a:txBody>
                    <a:bodyPr/>
                    <a:lstStyle/>
                    <a:p>
                      <a:pPr indent="0" marL="0">
                        <a:buNone/>
                      </a:pPr>
                      <a:r>
                        <a:rPr lang="en-US" sz="1150" dirty="0">
                          <a:solidFill>
                            <a:srgbClr val="1F2328"/>
                          </a:solidFill>
                          <a:latin typeface="Calibri" pitchFamily="34" charset="0"/>
                          <a:ea typeface="Calibri" pitchFamily="34" charset="-122"/>
                          <a:cs typeface="Calibri" pitchFamily="34" charset="-120"/>
                        </a:rPr>
                        <a:t>~9 km</a:t>
                      </a:r>
                      <a:endParaRPr lang="en-US" sz="1150" dirty="0">
                        <a:latin typeface="Calibri" charset="0"/>
                        <a:ea typeface="Calibri" charset="0"/>
                        <a:cs typeface="Calibri" charset="0"/>
                      </a:endParaRPr>
                    </a:p>
                  </a:txBody>
                  <a:tcPr marL="76200" marR="76200" marT="38100" marB="38100" anchor="ctr">
                    <a:lnL w="6350" cap="flat" cmpd="sng" algn="ctr">
                      <a:solidFill>
                        <a:srgbClr val="D7DDD9"/>
                      </a:solidFill>
                      <a:prstDash val="solid"/>
                      <a:round/>
                      <a:headEnd type="none" w="med" len="med"/>
                      <a:tailEnd type="none" w="med" len="med"/>
                    </a:lnL>
                    <a:lnR w="6350" cap="flat" cmpd="sng" algn="ctr">
                      <a:solidFill>
                        <a:srgbClr val="D7DDD9"/>
                      </a:solidFill>
                      <a:prstDash val="solid"/>
                      <a:round/>
                      <a:headEnd type="none" w="med" len="med"/>
                      <a:tailEnd type="none" w="med" len="med"/>
                    </a:lnR>
                    <a:lnT w="6350" cap="flat" cmpd="sng" algn="ctr">
                      <a:solidFill>
                        <a:srgbClr val="D7DDD9"/>
                      </a:solidFill>
                      <a:prstDash val="solid"/>
                      <a:round/>
                      <a:headEnd type="none" w="med" len="med"/>
                      <a:tailEnd type="none" w="med" len="med"/>
                    </a:lnT>
                    <a:lnB w="6350" cap="flat" cmpd="sng" algn="ctr">
                      <a:solidFill>
                        <a:srgbClr val="D7DDD9"/>
                      </a:solidFill>
                      <a:prstDash val="solid"/>
                      <a:round/>
                      <a:headEnd type="none" w="med" len="med"/>
                      <a:tailEnd type="none" w="med" len="med"/>
                    </a:lnB>
                    <a:solidFill>
                      <a:srgbClr val="E9F1EB"/>
                    </a:solidFill>
                  </a:tcPr>
                </a:tc>
                <a:tc>
                  <a:txBody>
                    <a:bodyPr/>
                    <a:lstStyle/>
                    <a:p>
                      <a:pPr indent="0" marL="0">
                        <a:buNone/>
                      </a:pPr>
                      <a:r>
                        <a:rPr lang="en-US" sz="1150" dirty="0">
                          <a:solidFill>
                            <a:srgbClr val="1F2328"/>
                          </a:solidFill>
                          <a:latin typeface="Calibri" pitchFamily="34" charset="0"/>
                          <a:ea typeface="Calibri" pitchFamily="34" charset="-122"/>
                          <a:cs typeface="Calibri" pitchFamily="34" charset="-120"/>
                        </a:rPr>
                        <a:t>City climate: rain, temperature, humidity, soil moisture, Heat Index</a:t>
                      </a:r>
                      <a:endParaRPr lang="en-US" sz="1150" dirty="0">
                        <a:latin typeface="Calibri" charset="0"/>
                        <a:ea typeface="Calibri" charset="0"/>
                        <a:cs typeface="Calibri" charset="0"/>
                      </a:endParaRPr>
                    </a:p>
                  </a:txBody>
                  <a:tcPr marL="76200" marR="76200" marT="38100" marB="38100" anchor="ctr">
                    <a:lnL w="6350" cap="flat" cmpd="sng" algn="ctr">
                      <a:solidFill>
                        <a:srgbClr val="D7DDD9"/>
                      </a:solidFill>
                      <a:prstDash val="solid"/>
                      <a:round/>
                      <a:headEnd type="none" w="med" len="med"/>
                      <a:tailEnd type="none" w="med" len="med"/>
                    </a:lnL>
                    <a:lnR w="6350" cap="flat" cmpd="sng" algn="ctr">
                      <a:solidFill>
                        <a:srgbClr val="D7DDD9"/>
                      </a:solidFill>
                      <a:prstDash val="solid"/>
                      <a:round/>
                      <a:headEnd type="none" w="med" len="med"/>
                      <a:tailEnd type="none" w="med" len="med"/>
                    </a:lnR>
                    <a:lnT w="6350" cap="flat" cmpd="sng" algn="ctr">
                      <a:solidFill>
                        <a:srgbClr val="D7DDD9"/>
                      </a:solidFill>
                      <a:prstDash val="solid"/>
                      <a:round/>
                      <a:headEnd type="none" w="med" len="med"/>
                      <a:tailEnd type="none" w="med" len="med"/>
                    </a:lnT>
                    <a:lnB w="6350" cap="flat" cmpd="sng" algn="ctr">
                      <a:solidFill>
                        <a:srgbClr val="D7DDD9"/>
                      </a:solidFill>
                      <a:prstDash val="solid"/>
                      <a:round/>
                      <a:headEnd type="none" w="med" len="med"/>
                      <a:tailEnd type="none" w="med" len="med"/>
                    </a:lnB>
                    <a:solidFill>
                      <a:srgbClr val="E9F1EB"/>
                    </a:solidFill>
                  </a:tcPr>
                </a:tc>
              </a:tr>
              <a:tr h="0">
                <a:tc>
                  <a:txBody>
                    <a:bodyPr/>
                    <a:lstStyle/>
                    <a:p>
                      <a:pPr indent="0" marL="0">
                        <a:buNone/>
                      </a:pPr>
                      <a:r>
                        <a:rPr lang="en-US" sz="1150" dirty="0">
                          <a:solidFill>
                            <a:srgbClr val="1F2328"/>
                          </a:solidFill>
                          <a:latin typeface="Calibri" pitchFamily="34" charset="0"/>
                          <a:ea typeface="Calibri" pitchFamily="34" charset="-122"/>
                          <a:cs typeface="Calibri" pitchFamily="34" charset="-120"/>
                        </a:rPr>
                        <a:t>GHSL built-up (2020)</a:t>
                      </a:r>
                      <a:endParaRPr lang="en-US" sz="1150" dirty="0">
                        <a:latin typeface="Calibri" charset="0"/>
                        <a:ea typeface="Calibri" charset="0"/>
                        <a:cs typeface="Calibri" charset="0"/>
                      </a:endParaRPr>
                    </a:p>
                  </a:txBody>
                  <a:tcPr marL="76200" marR="76200" marT="38100" marB="38100" anchor="ctr">
                    <a:lnL w="6350" cap="flat" cmpd="sng" algn="ctr">
                      <a:solidFill>
                        <a:srgbClr val="D7DDD9"/>
                      </a:solidFill>
                      <a:prstDash val="solid"/>
                      <a:round/>
                      <a:headEnd type="none" w="med" len="med"/>
                      <a:tailEnd type="none" w="med" len="med"/>
                    </a:lnL>
                    <a:lnR w="6350" cap="flat" cmpd="sng" algn="ctr">
                      <a:solidFill>
                        <a:srgbClr val="D7DDD9"/>
                      </a:solidFill>
                      <a:prstDash val="solid"/>
                      <a:round/>
                      <a:headEnd type="none" w="med" len="med"/>
                      <a:tailEnd type="none" w="med" len="med"/>
                    </a:lnR>
                    <a:lnT w="6350" cap="flat" cmpd="sng" algn="ctr">
                      <a:solidFill>
                        <a:srgbClr val="D7DDD9"/>
                      </a:solidFill>
                      <a:prstDash val="solid"/>
                      <a:round/>
                      <a:headEnd type="none" w="med" len="med"/>
                      <a:tailEnd type="none" w="med" len="med"/>
                    </a:lnT>
                    <a:lnB w="6350" cap="flat" cmpd="sng" algn="ctr">
                      <a:solidFill>
                        <a:srgbClr val="D7DDD9"/>
                      </a:solidFill>
                      <a:prstDash val="solid"/>
                      <a:round/>
                      <a:headEnd type="none" w="med" len="med"/>
                      <a:tailEnd type="none" w="med" len="med"/>
                    </a:lnB>
                    <a:solidFill>
                      <a:srgbClr val="FFFFFF"/>
                    </a:solidFill>
                  </a:tcPr>
                </a:tc>
                <a:tc>
                  <a:txBody>
                    <a:bodyPr/>
                    <a:lstStyle/>
                    <a:p>
                      <a:pPr indent="0" marL="0">
                        <a:buNone/>
                      </a:pPr>
                      <a:r>
                        <a:rPr lang="en-US" sz="1150" dirty="0">
                          <a:solidFill>
                            <a:srgbClr val="1F2328"/>
                          </a:solidFill>
                          <a:latin typeface="Calibri" pitchFamily="34" charset="0"/>
                          <a:ea typeface="Calibri" pitchFamily="34" charset="-122"/>
                          <a:cs typeface="Calibri" pitchFamily="34" charset="-120"/>
                        </a:rPr>
                        <a:t>100 m</a:t>
                      </a:r>
                      <a:endParaRPr lang="en-US" sz="1150" dirty="0">
                        <a:latin typeface="Calibri" charset="0"/>
                        <a:ea typeface="Calibri" charset="0"/>
                        <a:cs typeface="Calibri" charset="0"/>
                      </a:endParaRPr>
                    </a:p>
                  </a:txBody>
                  <a:tcPr marL="76200" marR="76200" marT="38100" marB="38100" anchor="ctr">
                    <a:lnL w="6350" cap="flat" cmpd="sng" algn="ctr">
                      <a:solidFill>
                        <a:srgbClr val="D7DDD9"/>
                      </a:solidFill>
                      <a:prstDash val="solid"/>
                      <a:round/>
                      <a:headEnd type="none" w="med" len="med"/>
                      <a:tailEnd type="none" w="med" len="med"/>
                    </a:lnL>
                    <a:lnR w="6350" cap="flat" cmpd="sng" algn="ctr">
                      <a:solidFill>
                        <a:srgbClr val="D7DDD9"/>
                      </a:solidFill>
                      <a:prstDash val="solid"/>
                      <a:round/>
                      <a:headEnd type="none" w="med" len="med"/>
                      <a:tailEnd type="none" w="med" len="med"/>
                    </a:lnR>
                    <a:lnT w="6350" cap="flat" cmpd="sng" algn="ctr">
                      <a:solidFill>
                        <a:srgbClr val="D7DDD9"/>
                      </a:solidFill>
                      <a:prstDash val="solid"/>
                      <a:round/>
                      <a:headEnd type="none" w="med" len="med"/>
                      <a:tailEnd type="none" w="med" len="med"/>
                    </a:lnT>
                    <a:lnB w="6350" cap="flat" cmpd="sng" algn="ctr">
                      <a:solidFill>
                        <a:srgbClr val="D7DDD9"/>
                      </a:solidFill>
                      <a:prstDash val="solid"/>
                      <a:round/>
                      <a:headEnd type="none" w="med" len="med"/>
                      <a:tailEnd type="none" w="med" len="med"/>
                    </a:lnB>
                    <a:solidFill>
                      <a:srgbClr val="FFFFFF"/>
                    </a:solidFill>
                  </a:tcPr>
                </a:tc>
                <a:tc>
                  <a:txBody>
                    <a:bodyPr/>
                    <a:lstStyle/>
                    <a:p>
                      <a:pPr indent="0" marL="0">
                        <a:buNone/>
                      </a:pPr>
                      <a:r>
                        <a:rPr lang="en-US" sz="1150" dirty="0">
                          <a:solidFill>
                            <a:srgbClr val="1F2328"/>
                          </a:solidFill>
                          <a:latin typeface="Calibri" pitchFamily="34" charset="0"/>
                          <a:ea typeface="Calibri" pitchFamily="34" charset="-122"/>
                          <a:cs typeface="Calibri" pitchFamily="34" charset="-120"/>
                        </a:rPr>
                        <a:t>Built-up share: control and urban filter</a:t>
                      </a:r>
                      <a:endParaRPr lang="en-US" sz="1150" dirty="0">
                        <a:latin typeface="Calibri" charset="0"/>
                        <a:ea typeface="Calibri" charset="0"/>
                        <a:cs typeface="Calibri" charset="0"/>
                      </a:endParaRPr>
                    </a:p>
                  </a:txBody>
                  <a:tcPr marL="76200" marR="76200" marT="38100" marB="38100" anchor="ctr">
                    <a:lnL w="6350" cap="flat" cmpd="sng" algn="ctr">
                      <a:solidFill>
                        <a:srgbClr val="D7DDD9"/>
                      </a:solidFill>
                      <a:prstDash val="solid"/>
                      <a:round/>
                      <a:headEnd type="none" w="med" len="med"/>
                      <a:tailEnd type="none" w="med" len="med"/>
                    </a:lnL>
                    <a:lnR w="6350" cap="flat" cmpd="sng" algn="ctr">
                      <a:solidFill>
                        <a:srgbClr val="D7DDD9"/>
                      </a:solidFill>
                      <a:prstDash val="solid"/>
                      <a:round/>
                      <a:headEnd type="none" w="med" len="med"/>
                      <a:tailEnd type="none" w="med" len="med"/>
                    </a:lnR>
                    <a:lnT w="6350" cap="flat" cmpd="sng" algn="ctr">
                      <a:solidFill>
                        <a:srgbClr val="D7DDD9"/>
                      </a:solidFill>
                      <a:prstDash val="solid"/>
                      <a:round/>
                      <a:headEnd type="none" w="med" len="med"/>
                      <a:tailEnd type="none" w="med" len="med"/>
                    </a:lnT>
                    <a:lnB w="6350" cap="flat" cmpd="sng" algn="ctr">
                      <a:solidFill>
                        <a:srgbClr val="D7DDD9"/>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1F2328"/>
                          </a:solidFill>
                          <a:latin typeface="Calibri" pitchFamily="34" charset="0"/>
                          <a:ea typeface="Calibri" pitchFamily="34" charset="-122"/>
                          <a:cs typeface="Calibri" pitchFamily="34" charset="-120"/>
                        </a:rPr>
                        <a:t>WorldPop (2020)</a:t>
                      </a:r>
                      <a:endParaRPr lang="en-US" sz="1150" dirty="0">
                        <a:latin typeface="Calibri" charset="0"/>
                        <a:ea typeface="Calibri" charset="0"/>
                        <a:cs typeface="Calibri" charset="0"/>
                      </a:endParaRPr>
                    </a:p>
                  </a:txBody>
                  <a:tcPr marL="76200" marR="76200" marT="38100" marB="38100" anchor="ctr">
                    <a:lnL w="6350" cap="flat" cmpd="sng" algn="ctr">
                      <a:solidFill>
                        <a:srgbClr val="D7DDD9"/>
                      </a:solidFill>
                      <a:prstDash val="solid"/>
                      <a:round/>
                      <a:headEnd type="none" w="med" len="med"/>
                      <a:tailEnd type="none" w="med" len="med"/>
                    </a:lnL>
                    <a:lnR w="6350" cap="flat" cmpd="sng" algn="ctr">
                      <a:solidFill>
                        <a:srgbClr val="D7DDD9"/>
                      </a:solidFill>
                      <a:prstDash val="solid"/>
                      <a:round/>
                      <a:headEnd type="none" w="med" len="med"/>
                      <a:tailEnd type="none" w="med" len="med"/>
                    </a:lnR>
                    <a:lnT w="6350" cap="flat" cmpd="sng" algn="ctr">
                      <a:solidFill>
                        <a:srgbClr val="D7DDD9"/>
                      </a:solidFill>
                      <a:prstDash val="solid"/>
                      <a:round/>
                      <a:headEnd type="none" w="med" len="med"/>
                      <a:tailEnd type="none" w="med" len="med"/>
                    </a:lnT>
                    <a:lnB w="6350" cap="flat" cmpd="sng" algn="ctr">
                      <a:solidFill>
                        <a:srgbClr val="D7DDD9"/>
                      </a:solidFill>
                      <a:prstDash val="solid"/>
                      <a:round/>
                      <a:headEnd type="none" w="med" len="med"/>
                      <a:tailEnd type="none" w="med" len="med"/>
                    </a:lnB>
                    <a:solidFill>
                      <a:srgbClr val="E9F1EB"/>
                    </a:solidFill>
                  </a:tcPr>
                </a:tc>
                <a:tc>
                  <a:txBody>
                    <a:bodyPr/>
                    <a:lstStyle/>
                    <a:p>
                      <a:pPr indent="0" marL="0">
                        <a:buNone/>
                      </a:pPr>
                      <a:r>
                        <a:rPr lang="en-US" sz="1150" dirty="0">
                          <a:solidFill>
                            <a:srgbClr val="1F2328"/>
                          </a:solidFill>
                          <a:latin typeface="Calibri" pitchFamily="34" charset="0"/>
                          <a:ea typeface="Calibri" pitchFamily="34" charset="-122"/>
                          <a:cs typeface="Calibri" pitchFamily="34" charset="-120"/>
                        </a:rPr>
                        <a:t>100 m</a:t>
                      </a:r>
                      <a:endParaRPr lang="en-US" sz="1150" dirty="0">
                        <a:latin typeface="Calibri" charset="0"/>
                        <a:ea typeface="Calibri" charset="0"/>
                        <a:cs typeface="Calibri" charset="0"/>
                      </a:endParaRPr>
                    </a:p>
                  </a:txBody>
                  <a:tcPr marL="76200" marR="76200" marT="38100" marB="38100" anchor="ctr">
                    <a:lnL w="6350" cap="flat" cmpd="sng" algn="ctr">
                      <a:solidFill>
                        <a:srgbClr val="D7DDD9"/>
                      </a:solidFill>
                      <a:prstDash val="solid"/>
                      <a:round/>
                      <a:headEnd type="none" w="med" len="med"/>
                      <a:tailEnd type="none" w="med" len="med"/>
                    </a:lnL>
                    <a:lnR w="6350" cap="flat" cmpd="sng" algn="ctr">
                      <a:solidFill>
                        <a:srgbClr val="D7DDD9"/>
                      </a:solidFill>
                      <a:prstDash val="solid"/>
                      <a:round/>
                      <a:headEnd type="none" w="med" len="med"/>
                      <a:tailEnd type="none" w="med" len="med"/>
                    </a:lnR>
                    <a:lnT w="6350" cap="flat" cmpd="sng" algn="ctr">
                      <a:solidFill>
                        <a:srgbClr val="D7DDD9"/>
                      </a:solidFill>
                      <a:prstDash val="solid"/>
                      <a:round/>
                      <a:headEnd type="none" w="med" len="med"/>
                      <a:tailEnd type="none" w="med" len="med"/>
                    </a:lnT>
                    <a:lnB w="6350" cap="flat" cmpd="sng" algn="ctr">
                      <a:solidFill>
                        <a:srgbClr val="D7DDD9"/>
                      </a:solidFill>
                      <a:prstDash val="solid"/>
                      <a:round/>
                      <a:headEnd type="none" w="med" len="med"/>
                      <a:tailEnd type="none" w="med" len="med"/>
                    </a:lnB>
                    <a:solidFill>
                      <a:srgbClr val="E9F1EB"/>
                    </a:solidFill>
                  </a:tcPr>
                </a:tc>
                <a:tc>
                  <a:txBody>
                    <a:bodyPr/>
                    <a:lstStyle/>
                    <a:p>
                      <a:pPr indent="0" marL="0">
                        <a:buNone/>
                      </a:pPr>
                      <a:r>
                        <a:rPr lang="en-US" sz="1150" dirty="0">
                          <a:solidFill>
                            <a:srgbClr val="1F2328"/>
                          </a:solidFill>
                          <a:latin typeface="Calibri" pitchFamily="34" charset="0"/>
                          <a:ea typeface="Calibri" pitchFamily="34" charset="-122"/>
                          <a:cs typeface="Calibri" pitchFamily="34" charset="-120"/>
                        </a:rPr>
                        <a:t>People per square</a:t>
                      </a:r>
                      <a:endParaRPr lang="en-US" sz="1150" dirty="0">
                        <a:latin typeface="Calibri" charset="0"/>
                        <a:ea typeface="Calibri" charset="0"/>
                        <a:cs typeface="Calibri" charset="0"/>
                      </a:endParaRPr>
                    </a:p>
                  </a:txBody>
                  <a:tcPr marL="76200" marR="76200" marT="38100" marB="38100" anchor="ctr">
                    <a:lnL w="6350" cap="flat" cmpd="sng" algn="ctr">
                      <a:solidFill>
                        <a:srgbClr val="D7DDD9"/>
                      </a:solidFill>
                      <a:prstDash val="solid"/>
                      <a:round/>
                      <a:headEnd type="none" w="med" len="med"/>
                      <a:tailEnd type="none" w="med" len="med"/>
                    </a:lnL>
                    <a:lnR w="6350" cap="flat" cmpd="sng" algn="ctr">
                      <a:solidFill>
                        <a:srgbClr val="D7DDD9"/>
                      </a:solidFill>
                      <a:prstDash val="solid"/>
                      <a:round/>
                      <a:headEnd type="none" w="med" len="med"/>
                      <a:tailEnd type="none" w="med" len="med"/>
                    </a:lnR>
                    <a:lnT w="6350" cap="flat" cmpd="sng" algn="ctr">
                      <a:solidFill>
                        <a:srgbClr val="D7DDD9"/>
                      </a:solidFill>
                      <a:prstDash val="solid"/>
                      <a:round/>
                      <a:headEnd type="none" w="med" len="med"/>
                      <a:tailEnd type="none" w="med" len="med"/>
                    </a:lnT>
                    <a:lnB w="6350" cap="flat" cmpd="sng" algn="ctr">
                      <a:solidFill>
                        <a:srgbClr val="D7DDD9"/>
                      </a:solidFill>
                      <a:prstDash val="solid"/>
                      <a:round/>
                      <a:headEnd type="none" w="med" len="med"/>
                      <a:tailEnd type="none" w="med" len="med"/>
                    </a:lnB>
                    <a:solidFill>
                      <a:srgbClr val="E9F1EB"/>
                    </a:solidFill>
                  </a:tcPr>
                </a:tc>
              </a:tr>
              <a:tr h="0">
                <a:tc>
                  <a:txBody>
                    <a:bodyPr/>
                    <a:lstStyle/>
                    <a:p>
                      <a:pPr indent="0" marL="0">
                        <a:buNone/>
                      </a:pPr>
                      <a:r>
                        <a:rPr lang="en-US" sz="1150" dirty="0">
                          <a:solidFill>
                            <a:srgbClr val="1F2328"/>
                          </a:solidFill>
                          <a:latin typeface="Calibri" pitchFamily="34" charset="0"/>
                          <a:ea typeface="Calibri" pitchFamily="34" charset="-122"/>
                          <a:cs typeface="Calibri" pitchFamily="34" charset="-120"/>
                        </a:rPr>
                        <a:t>OpenStreetMap</a:t>
                      </a:r>
                      <a:endParaRPr lang="en-US" sz="1150" dirty="0">
                        <a:latin typeface="Calibri" charset="0"/>
                        <a:ea typeface="Calibri" charset="0"/>
                        <a:cs typeface="Calibri" charset="0"/>
                      </a:endParaRPr>
                    </a:p>
                  </a:txBody>
                  <a:tcPr marL="76200" marR="76200" marT="38100" marB="38100" anchor="ctr">
                    <a:lnL w="6350" cap="flat" cmpd="sng" algn="ctr">
                      <a:solidFill>
                        <a:srgbClr val="D7DDD9"/>
                      </a:solidFill>
                      <a:prstDash val="solid"/>
                      <a:round/>
                      <a:headEnd type="none" w="med" len="med"/>
                      <a:tailEnd type="none" w="med" len="med"/>
                    </a:lnL>
                    <a:lnR w="6350" cap="flat" cmpd="sng" algn="ctr">
                      <a:solidFill>
                        <a:srgbClr val="D7DDD9"/>
                      </a:solidFill>
                      <a:prstDash val="solid"/>
                      <a:round/>
                      <a:headEnd type="none" w="med" len="med"/>
                      <a:tailEnd type="none" w="med" len="med"/>
                    </a:lnR>
                    <a:lnT w="6350" cap="flat" cmpd="sng" algn="ctr">
                      <a:solidFill>
                        <a:srgbClr val="D7DDD9"/>
                      </a:solidFill>
                      <a:prstDash val="solid"/>
                      <a:round/>
                      <a:headEnd type="none" w="med" len="med"/>
                      <a:tailEnd type="none" w="med" len="med"/>
                    </a:lnT>
                    <a:lnB w="6350" cap="flat" cmpd="sng" algn="ctr">
                      <a:solidFill>
                        <a:srgbClr val="D7DDD9"/>
                      </a:solidFill>
                      <a:prstDash val="solid"/>
                      <a:round/>
                      <a:headEnd type="none" w="med" len="med"/>
                      <a:tailEnd type="none" w="med" len="med"/>
                    </a:lnB>
                    <a:solidFill>
                      <a:srgbClr val="FFFFFF"/>
                    </a:solidFill>
                  </a:tcPr>
                </a:tc>
                <a:tc>
                  <a:txBody>
                    <a:bodyPr/>
                    <a:lstStyle/>
                    <a:p>
                      <a:pPr indent="0" marL="0">
                        <a:buNone/>
                      </a:pPr>
                      <a:r>
                        <a:rPr lang="en-US" sz="1150" dirty="0">
                          <a:solidFill>
                            <a:srgbClr val="1F2328"/>
                          </a:solidFill>
                          <a:latin typeface="Calibri" pitchFamily="34" charset="0"/>
                          <a:ea typeface="Calibri" pitchFamily="34" charset="-122"/>
                          <a:cs typeface="Calibri" pitchFamily="34" charset="-120"/>
                        </a:rPr>
                        <a:t>Vector</a:t>
                      </a:r>
                      <a:endParaRPr lang="en-US" sz="1150" dirty="0">
                        <a:latin typeface="Calibri" charset="0"/>
                        <a:ea typeface="Calibri" charset="0"/>
                        <a:cs typeface="Calibri" charset="0"/>
                      </a:endParaRPr>
                    </a:p>
                  </a:txBody>
                  <a:tcPr marL="76200" marR="76200" marT="38100" marB="38100" anchor="ctr">
                    <a:lnL w="6350" cap="flat" cmpd="sng" algn="ctr">
                      <a:solidFill>
                        <a:srgbClr val="D7DDD9"/>
                      </a:solidFill>
                      <a:prstDash val="solid"/>
                      <a:round/>
                      <a:headEnd type="none" w="med" len="med"/>
                      <a:tailEnd type="none" w="med" len="med"/>
                    </a:lnL>
                    <a:lnR w="6350" cap="flat" cmpd="sng" algn="ctr">
                      <a:solidFill>
                        <a:srgbClr val="D7DDD9"/>
                      </a:solidFill>
                      <a:prstDash val="solid"/>
                      <a:round/>
                      <a:headEnd type="none" w="med" len="med"/>
                      <a:tailEnd type="none" w="med" len="med"/>
                    </a:lnR>
                    <a:lnT w="6350" cap="flat" cmpd="sng" algn="ctr">
                      <a:solidFill>
                        <a:srgbClr val="D7DDD9"/>
                      </a:solidFill>
                      <a:prstDash val="solid"/>
                      <a:round/>
                      <a:headEnd type="none" w="med" len="med"/>
                      <a:tailEnd type="none" w="med" len="med"/>
                    </a:lnT>
                    <a:lnB w="6350" cap="flat" cmpd="sng" algn="ctr">
                      <a:solidFill>
                        <a:srgbClr val="D7DDD9"/>
                      </a:solidFill>
                      <a:prstDash val="solid"/>
                      <a:round/>
                      <a:headEnd type="none" w="med" len="med"/>
                      <a:tailEnd type="none" w="med" len="med"/>
                    </a:lnB>
                    <a:solidFill>
                      <a:srgbClr val="FFFFFF"/>
                    </a:solidFill>
                  </a:tcPr>
                </a:tc>
                <a:tc>
                  <a:txBody>
                    <a:bodyPr/>
                    <a:lstStyle/>
                    <a:p>
                      <a:pPr indent="0" marL="0">
                        <a:buNone/>
                      </a:pPr>
                      <a:r>
                        <a:rPr lang="en-US" sz="1150" dirty="0">
                          <a:solidFill>
                            <a:srgbClr val="1F2328"/>
                          </a:solidFill>
                          <a:latin typeface="Calibri" pitchFamily="34" charset="0"/>
                          <a:ea typeface="Calibri" pitchFamily="34" charset="-122"/>
                          <a:cs typeface="Calibri" pitchFamily="34" charset="-120"/>
                        </a:rPr>
                        <a:t>Water share per square</a:t>
                      </a:r>
                      <a:endParaRPr lang="en-US" sz="1150" dirty="0">
                        <a:latin typeface="Calibri" charset="0"/>
                        <a:ea typeface="Calibri" charset="0"/>
                        <a:cs typeface="Calibri" charset="0"/>
                      </a:endParaRPr>
                    </a:p>
                  </a:txBody>
                  <a:tcPr marL="76200" marR="76200" marT="38100" marB="38100" anchor="ctr">
                    <a:lnL w="6350" cap="flat" cmpd="sng" algn="ctr">
                      <a:solidFill>
                        <a:srgbClr val="D7DDD9"/>
                      </a:solidFill>
                      <a:prstDash val="solid"/>
                      <a:round/>
                      <a:headEnd type="none" w="med" len="med"/>
                      <a:tailEnd type="none" w="med" len="med"/>
                    </a:lnL>
                    <a:lnR w="6350" cap="flat" cmpd="sng" algn="ctr">
                      <a:solidFill>
                        <a:srgbClr val="D7DDD9"/>
                      </a:solidFill>
                      <a:prstDash val="solid"/>
                      <a:round/>
                      <a:headEnd type="none" w="med" len="med"/>
                      <a:tailEnd type="none" w="med" len="med"/>
                    </a:lnR>
                    <a:lnT w="6350" cap="flat" cmpd="sng" algn="ctr">
                      <a:solidFill>
                        <a:srgbClr val="D7DDD9"/>
                      </a:solidFill>
                      <a:prstDash val="solid"/>
                      <a:round/>
                      <a:headEnd type="none" w="med" len="med"/>
                      <a:tailEnd type="none" w="med" len="med"/>
                    </a:lnT>
                    <a:lnB w="6350" cap="flat" cmpd="sng" algn="ctr">
                      <a:solidFill>
                        <a:srgbClr val="D7DDD9"/>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1F2328"/>
                          </a:solidFill>
                          <a:latin typeface="Calibri" pitchFamily="34" charset="0"/>
                          <a:ea typeface="Calibri" pitchFamily="34" charset="-122"/>
                          <a:cs typeface="Calibri" pitchFamily="34" charset="-120"/>
                        </a:rPr>
                        <a:t>SRTM</a:t>
                      </a:r>
                      <a:endParaRPr lang="en-US" sz="1150" dirty="0">
                        <a:latin typeface="Calibri" charset="0"/>
                        <a:ea typeface="Calibri" charset="0"/>
                        <a:cs typeface="Calibri" charset="0"/>
                      </a:endParaRPr>
                    </a:p>
                  </a:txBody>
                  <a:tcPr marL="76200" marR="76200" marT="38100" marB="38100" anchor="ctr">
                    <a:lnL w="6350" cap="flat" cmpd="sng" algn="ctr">
                      <a:solidFill>
                        <a:srgbClr val="D7DDD9"/>
                      </a:solidFill>
                      <a:prstDash val="solid"/>
                      <a:round/>
                      <a:headEnd type="none" w="med" len="med"/>
                      <a:tailEnd type="none" w="med" len="med"/>
                    </a:lnL>
                    <a:lnR w="6350" cap="flat" cmpd="sng" algn="ctr">
                      <a:solidFill>
                        <a:srgbClr val="D7DDD9"/>
                      </a:solidFill>
                      <a:prstDash val="solid"/>
                      <a:round/>
                      <a:headEnd type="none" w="med" len="med"/>
                      <a:tailEnd type="none" w="med" len="med"/>
                    </a:lnR>
                    <a:lnT w="6350" cap="flat" cmpd="sng" algn="ctr">
                      <a:solidFill>
                        <a:srgbClr val="D7DDD9"/>
                      </a:solidFill>
                      <a:prstDash val="solid"/>
                      <a:round/>
                      <a:headEnd type="none" w="med" len="med"/>
                      <a:tailEnd type="none" w="med" len="med"/>
                    </a:lnT>
                    <a:lnB w="6350" cap="flat" cmpd="sng" algn="ctr">
                      <a:solidFill>
                        <a:srgbClr val="D7DDD9"/>
                      </a:solidFill>
                      <a:prstDash val="solid"/>
                      <a:round/>
                      <a:headEnd type="none" w="med" len="med"/>
                      <a:tailEnd type="none" w="med" len="med"/>
                    </a:lnB>
                    <a:solidFill>
                      <a:srgbClr val="E9F1EB"/>
                    </a:solidFill>
                  </a:tcPr>
                </a:tc>
                <a:tc>
                  <a:txBody>
                    <a:bodyPr/>
                    <a:lstStyle/>
                    <a:p>
                      <a:pPr indent="0" marL="0">
                        <a:buNone/>
                      </a:pPr>
                      <a:r>
                        <a:rPr lang="en-US" sz="1150" dirty="0">
                          <a:solidFill>
                            <a:srgbClr val="1F2328"/>
                          </a:solidFill>
                          <a:latin typeface="Calibri" pitchFamily="34" charset="0"/>
                          <a:ea typeface="Calibri" pitchFamily="34" charset="-122"/>
                          <a:cs typeface="Calibri" pitchFamily="34" charset="-120"/>
                        </a:rPr>
                        <a:t>30 m</a:t>
                      </a:r>
                      <a:endParaRPr lang="en-US" sz="1150" dirty="0">
                        <a:latin typeface="Calibri" charset="0"/>
                        <a:ea typeface="Calibri" charset="0"/>
                        <a:cs typeface="Calibri" charset="0"/>
                      </a:endParaRPr>
                    </a:p>
                  </a:txBody>
                  <a:tcPr marL="76200" marR="76200" marT="38100" marB="38100" anchor="ctr">
                    <a:lnL w="6350" cap="flat" cmpd="sng" algn="ctr">
                      <a:solidFill>
                        <a:srgbClr val="D7DDD9"/>
                      </a:solidFill>
                      <a:prstDash val="solid"/>
                      <a:round/>
                      <a:headEnd type="none" w="med" len="med"/>
                      <a:tailEnd type="none" w="med" len="med"/>
                    </a:lnL>
                    <a:lnR w="6350" cap="flat" cmpd="sng" algn="ctr">
                      <a:solidFill>
                        <a:srgbClr val="D7DDD9"/>
                      </a:solidFill>
                      <a:prstDash val="solid"/>
                      <a:round/>
                      <a:headEnd type="none" w="med" len="med"/>
                      <a:tailEnd type="none" w="med" len="med"/>
                    </a:lnR>
                    <a:lnT w="6350" cap="flat" cmpd="sng" algn="ctr">
                      <a:solidFill>
                        <a:srgbClr val="D7DDD9"/>
                      </a:solidFill>
                      <a:prstDash val="solid"/>
                      <a:round/>
                      <a:headEnd type="none" w="med" len="med"/>
                      <a:tailEnd type="none" w="med" len="med"/>
                    </a:lnT>
                    <a:lnB w="6350" cap="flat" cmpd="sng" algn="ctr">
                      <a:solidFill>
                        <a:srgbClr val="D7DDD9"/>
                      </a:solidFill>
                      <a:prstDash val="solid"/>
                      <a:round/>
                      <a:headEnd type="none" w="med" len="med"/>
                      <a:tailEnd type="none" w="med" len="med"/>
                    </a:lnB>
                    <a:solidFill>
                      <a:srgbClr val="E9F1EB"/>
                    </a:solidFill>
                  </a:tcPr>
                </a:tc>
                <a:tc>
                  <a:txBody>
                    <a:bodyPr/>
                    <a:lstStyle/>
                    <a:p>
                      <a:pPr indent="0" marL="0">
                        <a:buNone/>
                      </a:pPr>
                      <a:r>
                        <a:rPr lang="en-US" sz="1150" dirty="0">
                          <a:solidFill>
                            <a:srgbClr val="1F2328"/>
                          </a:solidFill>
                          <a:latin typeface="Calibri" pitchFamily="34" charset="0"/>
                          <a:ea typeface="Calibri" pitchFamily="34" charset="-122"/>
                          <a:cs typeface="Calibri" pitchFamily="34" charset="-120"/>
                        </a:rPr>
                        <a:t>Elevation, a control</a:t>
                      </a:r>
                      <a:endParaRPr lang="en-US" sz="1150" dirty="0">
                        <a:latin typeface="Calibri" charset="0"/>
                        <a:ea typeface="Calibri" charset="0"/>
                        <a:cs typeface="Calibri" charset="0"/>
                      </a:endParaRPr>
                    </a:p>
                  </a:txBody>
                  <a:tcPr marL="76200" marR="76200" marT="38100" marB="38100" anchor="ctr">
                    <a:lnL w="6350" cap="flat" cmpd="sng" algn="ctr">
                      <a:solidFill>
                        <a:srgbClr val="D7DDD9"/>
                      </a:solidFill>
                      <a:prstDash val="solid"/>
                      <a:round/>
                      <a:headEnd type="none" w="med" len="med"/>
                      <a:tailEnd type="none" w="med" len="med"/>
                    </a:lnL>
                    <a:lnR w="6350" cap="flat" cmpd="sng" algn="ctr">
                      <a:solidFill>
                        <a:srgbClr val="D7DDD9"/>
                      </a:solidFill>
                      <a:prstDash val="solid"/>
                      <a:round/>
                      <a:headEnd type="none" w="med" len="med"/>
                      <a:tailEnd type="none" w="med" len="med"/>
                    </a:lnR>
                    <a:lnT w="6350" cap="flat" cmpd="sng" algn="ctr">
                      <a:solidFill>
                        <a:srgbClr val="D7DDD9"/>
                      </a:solidFill>
                      <a:prstDash val="solid"/>
                      <a:round/>
                      <a:headEnd type="none" w="med" len="med"/>
                      <a:tailEnd type="none" w="med" len="med"/>
                    </a:lnT>
                    <a:lnB w="6350" cap="flat" cmpd="sng" algn="ctr">
                      <a:solidFill>
                        <a:srgbClr val="D7DDD9"/>
                      </a:solidFill>
                      <a:prstDash val="solid"/>
                      <a:round/>
                      <a:headEnd type="none" w="med" len="med"/>
                      <a:tailEnd type="none" w="med" len="med"/>
                    </a:lnB>
                    <a:solidFill>
                      <a:srgbClr val="E9F1EB"/>
                    </a:solidFill>
                  </a:tcPr>
                </a:tc>
              </a:tr>
            </a:tbl>
          </a:graphicData>
        </a:graphic>
      </p:graphicFrame>
      <p:sp>
        <p:nvSpPr>
          <p:cNvPr id="6" name="Text 3"/>
          <p:cNvSpPr txBox="1"/>
          <p:nvPr/>
        </p:nvSpPr>
        <p:spPr>
          <a:xfrm>
            <a:off x="457200" y="4526280"/>
            <a:ext cx="8229600" cy="219456"/>
          </a:xfrm>
          <a:prstGeom prst="rect">
            <a:avLst/>
          </a:prstGeom>
          <a:noFill/>
          <a:ln/>
        </p:spPr>
        <p:txBody>
          <a:bodyPr wrap="square" lIns="0" tIns="0" rIns="0" bIns="0" rtlCol="0" anchor="ctr"/>
          <a:lstStyle/>
          <a:p>
            <a:pPr indent="0" marL="0">
              <a:buNone/>
            </a:pPr>
            <a:r>
              <a:rPr lang="en-US" sz="850" i="1" dirty="0">
                <a:solidFill>
                  <a:srgbClr val="5F6670"/>
                </a:solidFill>
                <a:latin typeface="Calibri" pitchFamily="34" charset="0"/>
                <a:ea typeface="Calibri" pitchFamily="34" charset="-122"/>
                <a:cs typeface="Calibri" pitchFamily="34" charset="-120"/>
              </a:rPr>
              <a:t>Everything finer than 1 km is averaged up to the 1 km temperature grid, never the other way round.</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2011680" cy="237744"/>
          </a:xfrm>
          <a:prstGeom prst="rect">
            <a:avLst/>
          </a:prstGeom>
          <a:noFill/>
          <a:ln/>
        </p:spPr>
        <p:txBody>
          <a:bodyPr wrap="square" lIns="0" tIns="0" rIns="0" bIns="0" rtlCol="0" anchor="ctr"/>
          <a:lstStyle/>
          <a:p>
            <a:pPr indent="0" marL="0">
              <a:buNone/>
            </a:pPr>
            <a:r>
              <a:rPr lang="en-US" sz="900" b="1" spc="200" kern="0" dirty="0">
                <a:solidFill>
                  <a:srgbClr val="1F4D3A"/>
                </a:solidFill>
                <a:latin typeface="Calibri" pitchFamily="34" charset="0"/>
                <a:ea typeface="Calibri" pitchFamily="34" charset="-122"/>
                <a:cs typeface="Calibri" pitchFamily="34" charset="-120"/>
              </a:rPr>
              <a:t>DATA</a:t>
            </a:r>
            <a:endParaRPr lang="en-US" sz="900" dirty="0"/>
          </a:p>
        </p:txBody>
      </p:sp>
      <p:sp>
        <p:nvSpPr>
          <p:cNvPr id="3" name="Text 1"/>
          <p:cNvSpPr txBox="1"/>
          <p:nvPr/>
        </p:nvSpPr>
        <p:spPr>
          <a:xfrm>
            <a:off x="5943600" y="256032"/>
            <a:ext cx="2743200" cy="237744"/>
          </a:xfrm>
          <a:prstGeom prst="rect">
            <a:avLst/>
          </a:prstGeom>
          <a:noFill/>
          <a:ln/>
        </p:spPr>
        <p:txBody>
          <a:bodyPr wrap="square" lIns="0" tIns="0" rIns="0" bIns="0" rtlCol="0" anchor="ctr"/>
          <a:lstStyle/>
          <a:p>
            <a:pPr algn="r" indent="0" marL="0">
              <a:buNone/>
            </a:pPr>
            <a:r>
              <a:rPr lang="en-US" sz="900" dirty="0">
                <a:solidFill>
                  <a:srgbClr val="5F6670"/>
                </a:solidFill>
                <a:latin typeface="Calibri" pitchFamily="34" charset="0"/>
                <a:ea typeface="Calibri" pitchFamily="34" charset="-122"/>
                <a:cs typeface="Calibri" pitchFamily="34" charset="-120"/>
              </a:rPr>
              <a:t>Presenter: Role 1</a:t>
            </a:r>
            <a:endParaRPr lang="en-US" sz="900" dirty="0"/>
          </a:p>
        </p:txBody>
      </p:sp>
      <p:sp>
        <p:nvSpPr>
          <p:cNvPr id="4" name="Text 2"/>
          <p:cNvSpPr txBox="1"/>
          <p:nvPr/>
        </p:nvSpPr>
        <p:spPr>
          <a:xfrm>
            <a:off x="457200" y="502920"/>
            <a:ext cx="8229600" cy="685800"/>
          </a:xfrm>
          <a:prstGeom prst="rect">
            <a:avLst/>
          </a:prstGeom>
          <a:noFill/>
          <a:ln/>
        </p:spPr>
        <p:txBody>
          <a:bodyPr wrap="square" lIns="0" tIns="0" rIns="0" bIns="0" rtlCol="0" anchor="t">
            <a:normAutofit/>
          </a:bodyPr>
          <a:lstStyle/>
          <a:p>
            <a:pPr indent="0" marL="0">
              <a:buNone/>
            </a:pPr>
            <a:r>
              <a:rPr lang="en-US" sz="2000" b="1" dirty="0">
                <a:solidFill>
                  <a:srgbClr val="1F2328"/>
                </a:solidFill>
                <a:latin typeface="Cambria" pitchFamily="34" charset="0"/>
                <a:ea typeface="Cambria" pitchFamily="34" charset="-122"/>
                <a:cs typeface="Cambria" pitchFamily="34" charset="-120"/>
              </a:rPr>
              <a:t>303 Indian cities across the full moisture range, in three seasons</a:t>
            </a:r>
            <a:endParaRPr lang="en-US" sz="2000" dirty="0"/>
          </a:p>
        </p:txBody>
      </p:sp>
      <p:pic>
        <p:nvPicPr>
          <p:cNvPr id="5" name="Image 0" descr="B_city_map.png">    </p:cNvPr>
          <p:cNvPicPr>
            <a:picLocks noChangeAspect="1"/>
          </p:cNvPicPr>
          <p:nvPr/>
        </p:nvPicPr>
        <p:blipFill>
          <a:blip r:embed="rId1"/>
          <a:stretch>
            <a:fillRect/>
          </a:stretch>
        </p:blipFill>
        <p:spPr>
          <a:xfrm>
            <a:off x="598186" y="1234440"/>
            <a:ext cx="3558507" cy="3429000"/>
          </a:xfrm>
          <a:prstGeom prst="rect">
            <a:avLst/>
          </a:prstGeom>
        </p:spPr>
      </p:pic>
      <p:sp>
        <p:nvSpPr>
          <p:cNvPr id="6" name="Text 3"/>
          <p:cNvSpPr txBox="1"/>
          <p:nvPr/>
        </p:nvSpPr>
        <p:spPr>
          <a:xfrm>
            <a:off x="4572000" y="1325880"/>
            <a:ext cx="4114800" cy="3291840"/>
          </a:xfrm>
          <a:prstGeom prst="rect">
            <a:avLst/>
          </a:prstGeom>
          <a:noFill/>
          <a:ln/>
        </p:spPr>
        <p:txBody>
          <a:bodyPr wrap="square" lIns="0" tIns="0" rIns="0" bIns="0" rtlCol="0" anchor="t">
            <a:normAutofit/>
          </a:bodyPr>
          <a:lstStyle/>
          <a:p>
            <a:pPr marL="177800" indent="-177800">
              <a:buSzPct val="100000"/>
              <a:buChar char="•"/>
            </a:pPr>
            <a:r>
              <a:rPr lang="en-US" sz="1250" b="1" dirty="0">
                <a:solidFill>
                  <a:srgbClr val="1F2328"/>
                </a:solidFill>
                <a:latin typeface="Calibri" pitchFamily="34" charset="0"/>
                <a:ea typeface="Calibri" pitchFamily="34" charset="-122"/>
                <a:cs typeface="Calibri" pitchFamily="34" charset="-120"/>
              </a:rPr>
              <a:t>Cities: </a:t>
            </a:r>
            <a:pPr indent="0" marL="0">
              <a:spcAft>
                <a:spcPts val="500"/>
              </a:spcAft>
              <a:buNone/>
            </a:pPr>
            <a:r>
              <a:rPr lang="en-US" sz="1250" dirty="0">
                <a:solidFill>
                  <a:srgbClr val="1F2328"/>
                </a:solidFill>
                <a:latin typeface="Calibri" pitchFamily="34" charset="0"/>
                <a:ea typeface="Calibri" pitchFamily="34" charset="-122"/>
                <a:cs typeface="Calibri" pitchFamily="34" charset="-120"/>
              </a:rPr>
              <a:t>every Indian urban centre over 3 lakh people (GHS Urban Centre Database), 303 in all.</a:t>
            </a:r>
            <a:endParaRPr lang="en-US" sz="1250" dirty="0"/>
          </a:p>
          <a:p>
            <a:pPr marL="177800" indent="-177800">
              <a:buSzPct val="100000"/>
              <a:buChar char="•"/>
            </a:pPr>
            <a:r>
              <a:rPr lang="en-US" sz="1250" b="1" dirty="0">
                <a:solidFill>
                  <a:srgbClr val="1F2328"/>
                </a:solidFill>
                <a:latin typeface="Calibri" pitchFamily="34" charset="0"/>
                <a:ea typeface="Calibri" pitchFamily="34" charset="-122"/>
                <a:cs typeface="Calibri" pitchFamily="34" charset="-120"/>
              </a:rPr>
              <a:t>Rainfall: </a:t>
            </a:r>
            <a:pPr indent="0" marL="0">
              <a:spcAft>
                <a:spcPts val="500"/>
              </a:spcAft>
              <a:buNone/>
            </a:pPr>
            <a:r>
              <a:rPr lang="en-US" sz="1250" dirty="0">
                <a:solidFill>
                  <a:srgbClr val="1F2328"/>
                </a:solidFill>
                <a:latin typeface="Calibri" pitchFamily="34" charset="0"/>
                <a:ea typeface="Calibri" pitchFamily="34" charset="-122"/>
                <a:cs typeface="Calibri" pitchFamily="34" charset="-120"/>
              </a:rPr>
              <a:t>262 mm (Bikaner) to 3,792 mm (Darjeeling). Jodhpur 411 mm, Kochi 3,131 mm. 72 cities under 1,000 mm.</a:t>
            </a:r>
            <a:endParaRPr lang="en-US" sz="1250" dirty="0"/>
          </a:p>
          <a:p>
            <a:pPr marL="177800" indent="-177800">
              <a:buSzPct val="100000"/>
              <a:buChar char="•"/>
            </a:pPr>
            <a:r>
              <a:rPr lang="en-US" sz="1250" b="1" dirty="0">
                <a:solidFill>
                  <a:srgbClr val="1F2328"/>
                </a:solidFill>
                <a:latin typeface="Calibri" pitchFamily="34" charset="0"/>
                <a:ea typeface="Calibri" pitchFamily="34" charset="-122"/>
                <a:cs typeface="Calibri" pitchFamily="34" charset="-120"/>
              </a:rPr>
              <a:t>Seasons: </a:t>
            </a:r>
            <a:pPr indent="0" marL="0">
              <a:spcAft>
                <a:spcPts val="500"/>
              </a:spcAft>
              <a:buNone/>
            </a:pPr>
            <a:r>
              <a:rPr lang="en-US" sz="1250" dirty="0">
                <a:solidFill>
                  <a:srgbClr val="1F2328"/>
                </a:solidFill>
                <a:latin typeface="Calibri" pitchFamily="34" charset="0"/>
                <a:ea typeface="Calibri" pitchFamily="34" charset="-122"/>
                <a:cs typeface="Calibri" pitchFamily="34" charset="-120"/>
              </a:rPr>
              <a:t>pre-monsoon (Apr–May), post-monsoon (Oct–Nov), winter (Dec–Feb).</a:t>
            </a:r>
            <a:endParaRPr lang="en-US" sz="1250" dirty="0"/>
          </a:p>
          <a:p>
            <a:pPr marL="177800" indent="-177800">
              <a:buSzPct val="100000"/>
              <a:buChar char="•"/>
            </a:pPr>
            <a:r>
              <a:rPr lang="en-US" sz="1250" b="1" dirty="0">
                <a:solidFill>
                  <a:srgbClr val="1F2328"/>
                </a:solidFill>
                <a:latin typeface="Calibri" pitchFamily="34" charset="0"/>
                <a:ea typeface="Calibri" pitchFamily="34" charset="-122"/>
                <a:cs typeface="Calibri" pitchFamily="34" charset="-120"/>
              </a:rPr>
              <a:t>Years: </a:t>
            </a:r>
            <a:pPr indent="0" marL="0">
              <a:spcAft>
                <a:spcPts val="500"/>
              </a:spcAft>
              <a:buNone/>
            </a:pPr>
            <a:r>
              <a:rPr lang="en-US" sz="1250" dirty="0">
                <a:solidFill>
                  <a:srgbClr val="1F2328"/>
                </a:solidFill>
                <a:latin typeface="Calibri" pitchFamily="34" charset="0"/>
                <a:ea typeface="Calibri" pitchFamily="34" charset="-122"/>
                <a:cs typeface="Calibri" pitchFamily="34" charset="-120"/>
              </a:rPr>
              <a:t>2019–2024 averages, so no single year dominates.</a:t>
            </a:r>
            <a:endParaRPr lang="en-US" sz="1250" dirty="0"/>
          </a:p>
          <a:p>
            <a:pPr marL="177800" indent="-177800">
              <a:buSzPct val="100000"/>
              <a:buChar char="•"/>
            </a:pPr>
            <a:r>
              <a:rPr lang="en-US" sz="1250" b="1" dirty="0">
                <a:solidFill>
                  <a:srgbClr val="1F2328"/>
                </a:solidFill>
                <a:latin typeface="Calibri" pitchFamily="34" charset="0"/>
                <a:ea typeface="Calibri" pitchFamily="34" charset="-122"/>
                <a:cs typeface="Calibri" pitchFamily="34" charset="-120"/>
              </a:rPr>
              <a:t>Seasons differ: </a:t>
            </a:r>
            <a:pPr indent="0" marL="0">
              <a:spcAft>
                <a:spcPts val="500"/>
              </a:spcAft>
              <a:buNone/>
            </a:pPr>
            <a:r>
              <a:rPr lang="en-US" sz="1250" dirty="0">
                <a:solidFill>
                  <a:srgbClr val="1F2328"/>
                </a:solidFill>
                <a:latin typeface="Calibri" pitchFamily="34" charset="0"/>
                <a:ea typeface="Calibri" pitchFamily="34" charset="-122"/>
                <a:cs typeface="Calibri" pitchFamily="34" charset="-120"/>
              </a:rPr>
              <a:t>median square 39.7 °C by day pre-monsoon, 31.2 °C post-monsoon, 27.9 °C winter.</a:t>
            </a:r>
            <a:endParaRPr lang="en-US" sz="1250" dirty="0"/>
          </a:p>
        </p:txBody>
      </p:sp>
      <p:sp>
        <p:nvSpPr>
          <p:cNvPr id="7" name="Text 4"/>
          <p:cNvSpPr txBox="1"/>
          <p:nvPr/>
        </p:nvSpPr>
        <p:spPr>
          <a:xfrm>
            <a:off x="457200" y="4796028"/>
            <a:ext cx="8229600" cy="219456"/>
          </a:xfrm>
          <a:prstGeom prst="rect">
            <a:avLst/>
          </a:prstGeom>
          <a:noFill/>
          <a:ln/>
        </p:spPr>
        <p:txBody>
          <a:bodyPr wrap="square" lIns="0" tIns="0" rIns="0" bIns="0" rtlCol="0" anchor="ctr"/>
          <a:lstStyle/>
          <a:p>
            <a:pPr indent="0" marL="0">
              <a:buNone/>
            </a:pPr>
            <a:r>
              <a:rPr lang="en-US" sz="850" i="1" dirty="0">
                <a:solidFill>
                  <a:srgbClr val="5F6670"/>
                </a:solidFill>
                <a:latin typeface="Calibri" pitchFamily="34" charset="0"/>
                <a:ea typeface="Calibri" pitchFamily="34" charset="-122"/>
                <a:cs typeface="Calibri" pitchFamily="34" charset="-120"/>
              </a:rPr>
              <a:t>City outlines: GHS-UCDB R2024A · Boundary: Natural Earth (India point of view) · Rainfall: ERA5-Land 2019–2024 (city_climate.csv)</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2011680" cy="237744"/>
          </a:xfrm>
          <a:prstGeom prst="rect">
            <a:avLst/>
          </a:prstGeom>
          <a:noFill/>
          <a:ln/>
        </p:spPr>
        <p:txBody>
          <a:bodyPr wrap="square" lIns="0" tIns="0" rIns="0" bIns="0" rtlCol="0" anchor="ctr"/>
          <a:lstStyle/>
          <a:p>
            <a:pPr indent="0" marL="0">
              <a:buNone/>
            </a:pPr>
            <a:r>
              <a:rPr lang="en-US" sz="900" b="1" spc="200" kern="0" dirty="0">
                <a:solidFill>
                  <a:srgbClr val="1F4D3A"/>
                </a:solidFill>
                <a:latin typeface="Calibri" pitchFamily="34" charset="0"/>
                <a:ea typeface="Calibri" pitchFamily="34" charset="-122"/>
                <a:cs typeface="Calibri" pitchFamily="34" charset="-120"/>
              </a:rPr>
              <a:t>DATA</a:t>
            </a:r>
            <a:endParaRPr lang="en-US" sz="900" dirty="0"/>
          </a:p>
        </p:txBody>
      </p:sp>
      <p:sp>
        <p:nvSpPr>
          <p:cNvPr id="3" name="Text 1"/>
          <p:cNvSpPr txBox="1"/>
          <p:nvPr/>
        </p:nvSpPr>
        <p:spPr>
          <a:xfrm>
            <a:off x="5943600" y="256032"/>
            <a:ext cx="2743200" cy="237744"/>
          </a:xfrm>
          <a:prstGeom prst="rect">
            <a:avLst/>
          </a:prstGeom>
          <a:noFill/>
          <a:ln/>
        </p:spPr>
        <p:txBody>
          <a:bodyPr wrap="square" lIns="0" tIns="0" rIns="0" bIns="0" rtlCol="0" anchor="ctr"/>
          <a:lstStyle/>
          <a:p>
            <a:pPr algn="r" indent="0" marL="0">
              <a:buNone/>
            </a:pPr>
            <a:r>
              <a:rPr lang="en-US" sz="900" dirty="0">
                <a:solidFill>
                  <a:srgbClr val="5F6670"/>
                </a:solidFill>
                <a:latin typeface="Calibri" pitchFamily="34" charset="0"/>
                <a:ea typeface="Calibri" pitchFamily="34" charset="-122"/>
                <a:cs typeface="Calibri" pitchFamily="34" charset="-120"/>
              </a:rPr>
              <a:t>Presenter: Role 5</a:t>
            </a:r>
            <a:endParaRPr lang="en-US" sz="900" dirty="0"/>
          </a:p>
        </p:txBody>
      </p:sp>
      <p:sp>
        <p:nvSpPr>
          <p:cNvPr id="4" name="Text 2"/>
          <p:cNvSpPr txBox="1"/>
          <p:nvPr/>
        </p:nvSpPr>
        <p:spPr>
          <a:xfrm>
            <a:off x="457200" y="502920"/>
            <a:ext cx="8229600" cy="685800"/>
          </a:xfrm>
          <a:prstGeom prst="rect">
            <a:avLst/>
          </a:prstGeom>
          <a:noFill/>
          <a:ln/>
        </p:spPr>
        <p:txBody>
          <a:bodyPr wrap="square" lIns="0" tIns="0" rIns="0" bIns="0" rtlCol="0" anchor="t">
            <a:normAutofit/>
          </a:bodyPr>
          <a:lstStyle/>
          <a:p>
            <a:pPr indent="0" marL="0">
              <a:buNone/>
            </a:pPr>
            <a:r>
              <a:rPr lang="en-US" sz="2000" b="1" dirty="0">
                <a:solidFill>
                  <a:srgbClr val="1F2328"/>
                </a:solidFill>
                <a:latin typeface="Cambria" pitchFamily="34" charset="0"/>
                <a:ea typeface="Cambria" pitchFamily="34" charset="-122"/>
                <a:cs typeface="Cambria" pitchFamily="34" charset="-120"/>
              </a:rPr>
              <a:t>No monsoon season: cloud leaves too few usable satellite images</a:t>
            </a:r>
            <a:endParaRPr lang="en-US" sz="2000" dirty="0"/>
          </a:p>
        </p:txBody>
      </p:sp>
      <p:sp>
        <p:nvSpPr>
          <p:cNvPr id="5" name="Text 3"/>
          <p:cNvSpPr txBox="1"/>
          <p:nvPr/>
        </p:nvSpPr>
        <p:spPr>
          <a:xfrm>
            <a:off x="457200" y="1188720"/>
            <a:ext cx="2377440" cy="502920"/>
          </a:xfrm>
          <a:prstGeom prst="rect">
            <a:avLst/>
          </a:prstGeom>
          <a:noFill/>
          <a:ln/>
        </p:spPr>
        <p:txBody>
          <a:bodyPr wrap="square" lIns="0" tIns="0" rIns="0" bIns="0" rtlCol="0" anchor="b"/>
          <a:lstStyle/>
          <a:p>
            <a:pPr indent="0" marL="0">
              <a:buNone/>
            </a:pPr>
            <a:r>
              <a:rPr lang="en-US" sz="2600" b="1" dirty="0">
                <a:solidFill>
                  <a:srgbClr val="C8640A"/>
                </a:solidFill>
                <a:latin typeface="Cambria" pitchFamily="34" charset="0"/>
                <a:ea typeface="Cambria" pitchFamily="34" charset="-122"/>
                <a:cs typeface="Cambria" pitchFamily="34" charset="-120"/>
              </a:rPr>
              <a:t>85% → 25%</a:t>
            </a:r>
            <a:endParaRPr lang="en-US" sz="2600" dirty="0"/>
          </a:p>
        </p:txBody>
      </p:sp>
      <p:sp>
        <p:nvSpPr>
          <p:cNvPr id="6" name="Text 4"/>
          <p:cNvSpPr txBox="1"/>
          <p:nvPr/>
        </p:nvSpPr>
        <p:spPr>
          <a:xfrm>
            <a:off x="457200" y="1709928"/>
            <a:ext cx="2377440" cy="548640"/>
          </a:xfrm>
          <a:prstGeom prst="rect">
            <a:avLst/>
          </a:prstGeom>
          <a:noFill/>
          <a:ln/>
        </p:spPr>
        <p:txBody>
          <a:bodyPr wrap="square" lIns="0" tIns="0" rIns="0" bIns="0" rtlCol="0" anchor="t">
            <a:normAutofit/>
          </a:bodyPr>
          <a:lstStyle/>
          <a:p>
            <a:pPr indent="0" marL="0">
              <a:buNone/>
            </a:pPr>
            <a:r>
              <a:rPr lang="en-US" sz="1050" dirty="0">
                <a:solidFill>
                  <a:srgbClr val="5F6670"/>
                </a:solidFill>
                <a:latin typeface="Calibri" pitchFamily="34" charset="0"/>
                <a:ea typeface="Calibri" pitchFamily="34" charset="-122"/>
                <a:cs typeface="Calibri" pitchFamily="34" charset="-120"/>
              </a:rPr>
              <a:t>usable daytime images in Mumbai, Apr–May vs Jun–Sep</a:t>
            </a:r>
            <a:endParaRPr lang="en-US" sz="1050" dirty="0"/>
          </a:p>
        </p:txBody>
      </p:sp>
      <p:sp>
        <p:nvSpPr>
          <p:cNvPr id="7" name="Text 5"/>
          <p:cNvSpPr txBox="1"/>
          <p:nvPr/>
        </p:nvSpPr>
        <p:spPr>
          <a:xfrm>
            <a:off x="3108960" y="1188720"/>
            <a:ext cx="2377440" cy="502920"/>
          </a:xfrm>
          <a:prstGeom prst="rect">
            <a:avLst/>
          </a:prstGeom>
          <a:noFill/>
          <a:ln/>
        </p:spPr>
        <p:txBody>
          <a:bodyPr wrap="square" lIns="0" tIns="0" rIns="0" bIns="0" rtlCol="0" anchor="b"/>
          <a:lstStyle/>
          <a:p>
            <a:pPr indent="0" marL="0">
              <a:buNone/>
            </a:pPr>
            <a:r>
              <a:rPr lang="en-US" sz="2600" b="1" dirty="0">
                <a:solidFill>
                  <a:srgbClr val="C8640A"/>
                </a:solidFill>
                <a:latin typeface="Cambria" pitchFamily="34" charset="0"/>
                <a:ea typeface="Cambria" pitchFamily="34" charset="-122"/>
                <a:cs typeface="Cambria" pitchFamily="34" charset="-120"/>
              </a:rPr>
              <a:t>19%</a:t>
            </a:r>
            <a:endParaRPr lang="en-US" sz="2600" dirty="0"/>
          </a:p>
        </p:txBody>
      </p:sp>
      <p:sp>
        <p:nvSpPr>
          <p:cNvPr id="8" name="Text 6"/>
          <p:cNvSpPr txBox="1"/>
          <p:nvPr/>
        </p:nvSpPr>
        <p:spPr>
          <a:xfrm>
            <a:off x="3108960" y="1709928"/>
            <a:ext cx="2377440" cy="548640"/>
          </a:xfrm>
          <a:prstGeom prst="rect">
            <a:avLst/>
          </a:prstGeom>
          <a:noFill/>
          <a:ln/>
        </p:spPr>
        <p:txBody>
          <a:bodyPr wrap="square" lIns="0" tIns="0" rIns="0" bIns="0" rtlCol="0" anchor="t">
            <a:normAutofit/>
          </a:bodyPr>
          <a:lstStyle/>
          <a:p>
            <a:pPr indent="0" marL="0">
              <a:buNone/>
            </a:pPr>
            <a:r>
              <a:rPr lang="en-US" sz="1050" dirty="0">
                <a:solidFill>
                  <a:srgbClr val="5F6670"/>
                </a:solidFill>
                <a:latin typeface="Calibri" pitchFamily="34" charset="0"/>
                <a:ea typeface="Calibri" pitchFamily="34" charset="-122"/>
                <a:cs typeface="Calibri" pitchFamily="34" charset="-120"/>
              </a:rPr>
              <a:t>Kolkata in Jun–Sep, the lowest of six cities checked</a:t>
            </a:r>
            <a:endParaRPr lang="en-US" sz="1050" dirty="0"/>
          </a:p>
        </p:txBody>
      </p:sp>
      <p:sp>
        <p:nvSpPr>
          <p:cNvPr id="9" name="Text 7"/>
          <p:cNvSpPr txBox="1"/>
          <p:nvPr/>
        </p:nvSpPr>
        <p:spPr>
          <a:xfrm>
            <a:off x="5760720" y="1325880"/>
            <a:ext cx="2926080" cy="731520"/>
          </a:xfrm>
          <a:prstGeom prst="rect">
            <a:avLst/>
          </a:prstGeom>
          <a:noFill/>
          <a:ln/>
        </p:spPr>
        <p:txBody>
          <a:bodyPr wrap="square" lIns="0" tIns="0" rIns="0" bIns="0" rtlCol="0" anchor="ctr"/>
          <a:lstStyle/>
          <a:p>
            <a:pPr indent="0" marL="0">
              <a:buNone/>
            </a:pPr>
            <a:r>
              <a:rPr lang="en-US" sz="1200" i="1" dirty="0">
                <a:solidFill>
                  <a:srgbClr val="5F6670"/>
                </a:solidFill>
                <a:latin typeface="Calibri" pitchFamily="34" charset="0"/>
                <a:ea typeface="Calibri" pitchFamily="34" charset="-122"/>
                <a:cs typeface="Calibri" pitchFamily="34" charset="-120"/>
              </a:rPr>
              <a:t>Kumar et al. (2017) also excluded June–September for cloud.</a:t>
            </a:r>
            <a:endParaRPr lang="en-US" sz="1200" dirty="0"/>
          </a:p>
        </p:txBody>
      </p:sp>
      <p:pic>
        <p:nvPicPr>
          <p:cNvPr id="10" name="Image 0" descr="M_lst_availability.png">    </p:cNvPr>
          <p:cNvPicPr>
            <a:picLocks noChangeAspect="1"/>
          </p:cNvPicPr>
          <p:nvPr/>
        </p:nvPicPr>
        <p:blipFill>
          <a:blip r:embed="rId1"/>
          <a:stretch>
            <a:fillRect/>
          </a:stretch>
        </p:blipFill>
        <p:spPr>
          <a:xfrm>
            <a:off x="1576789" y="2377440"/>
            <a:ext cx="5990422" cy="2286000"/>
          </a:xfrm>
          <a:prstGeom prst="rect">
            <a:avLst/>
          </a:prstGeom>
        </p:spPr>
      </p:pic>
      <p:sp>
        <p:nvSpPr>
          <p:cNvPr id="11" name="Text 8"/>
          <p:cNvSpPr txBox="1"/>
          <p:nvPr/>
        </p:nvSpPr>
        <p:spPr>
          <a:xfrm>
            <a:off x="457200" y="4796028"/>
            <a:ext cx="8229600" cy="219456"/>
          </a:xfrm>
          <a:prstGeom prst="rect">
            <a:avLst/>
          </a:prstGeom>
          <a:noFill/>
          <a:ln/>
        </p:spPr>
        <p:txBody>
          <a:bodyPr wrap="square" lIns="0" tIns="0" rIns="0" bIns="0" rtlCol="0" anchor="ctr"/>
          <a:lstStyle/>
          <a:p>
            <a:pPr indent="0" marL="0">
              <a:buNone/>
            </a:pPr>
            <a:r>
              <a:rPr lang="en-US" sz="850" i="1" dirty="0">
                <a:solidFill>
                  <a:srgbClr val="5F6670"/>
                </a:solidFill>
                <a:latin typeface="Calibri" pitchFamily="34" charset="0"/>
                <a:ea typeface="Calibri" pitchFamily="34" charset="-122"/>
                <a:cs typeface="Calibri" pitchFamily="34" charset="-120"/>
              </a:rPr>
              <a:t>Share of 8-day images passing the quality filter, averaged over every square in the outline (water counts as unusable). lst_availability_by_month.csv</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2011680" cy="237744"/>
          </a:xfrm>
          <a:prstGeom prst="rect">
            <a:avLst/>
          </a:prstGeom>
          <a:noFill/>
          <a:ln/>
        </p:spPr>
        <p:txBody>
          <a:bodyPr wrap="square" lIns="0" tIns="0" rIns="0" bIns="0" rtlCol="0" anchor="ctr"/>
          <a:lstStyle/>
          <a:p>
            <a:pPr indent="0" marL="0">
              <a:buNone/>
            </a:pPr>
            <a:r>
              <a:rPr lang="en-US" sz="900" b="1" spc="200" kern="0" dirty="0">
                <a:solidFill>
                  <a:srgbClr val="1F4D3A"/>
                </a:solidFill>
                <a:latin typeface="Calibri" pitchFamily="34" charset="0"/>
                <a:ea typeface="Calibri" pitchFamily="34" charset="-122"/>
                <a:cs typeface="Calibri" pitchFamily="34" charset="-120"/>
              </a:rPr>
              <a:t>METHOD</a:t>
            </a:r>
            <a:endParaRPr lang="en-US" sz="900" dirty="0"/>
          </a:p>
        </p:txBody>
      </p:sp>
      <p:sp>
        <p:nvSpPr>
          <p:cNvPr id="3" name="Text 1"/>
          <p:cNvSpPr txBox="1"/>
          <p:nvPr/>
        </p:nvSpPr>
        <p:spPr>
          <a:xfrm>
            <a:off x="5943600" y="256032"/>
            <a:ext cx="2743200" cy="237744"/>
          </a:xfrm>
          <a:prstGeom prst="rect">
            <a:avLst/>
          </a:prstGeom>
          <a:noFill/>
          <a:ln/>
        </p:spPr>
        <p:txBody>
          <a:bodyPr wrap="square" lIns="0" tIns="0" rIns="0" bIns="0" rtlCol="0" anchor="ctr"/>
          <a:lstStyle/>
          <a:p>
            <a:pPr algn="r" indent="0" marL="0">
              <a:buNone/>
            </a:pPr>
            <a:r>
              <a:rPr lang="en-US" sz="900" dirty="0">
                <a:solidFill>
                  <a:srgbClr val="5F6670"/>
                </a:solidFill>
                <a:latin typeface="Calibri" pitchFamily="34" charset="0"/>
                <a:ea typeface="Calibri" pitchFamily="34" charset="-122"/>
                <a:cs typeface="Calibri" pitchFamily="34" charset="-120"/>
              </a:rPr>
              <a:t>Presenter: Role 1</a:t>
            </a:r>
            <a:endParaRPr lang="en-US" sz="900" dirty="0"/>
          </a:p>
        </p:txBody>
      </p:sp>
      <p:sp>
        <p:nvSpPr>
          <p:cNvPr id="4" name="Text 2"/>
          <p:cNvSpPr txBox="1"/>
          <p:nvPr/>
        </p:nvSpPr>
        <p:spPr>
          <a:xfrm>
            <a:off x="457200" y="502920"/>
            <a:ext cx="8229600" cy="685800"/>
          </a:xfrm>
          <a:prstGeom prst="rect">
            <a:avLst/>
          </a:prstGeom>
          <a:noFill/>
          <a:ln/>
        </p:spPr>
        <p:txBody>
          <a:bodyPr wrap="square" lIns="0" tIns="0" rIns="0" bIns="0" rtlCol="0" anchor="t">
            <a:normAutofit/>
          </a:bodyPr>
          <a:lstStyle/>
          <a:p>
            <a:pPr indent="0" marL="0">
              <a:buNone/>
            </a:pPr>
            <a:r>
              <a:rPr lang="en-US" sz="2000" b="1" dirty="0">
                <a:solidFill>
                  <a:srgbClr val="1F2328"/>
                </a:solidFill>
                <a:latin typeface="Cambria" pitchFamily="34" charset="0"/>
                <a:ea typeface="Cambria" pitchFamily="34" charset="-122"/>
                <a:cs typeface="Cambria" pitchFamily="34" charset="-120"/>
              </a:rPr>
              <a:t>Each city becomes a grid of 1 km squares</a:t>
            </a:r>
            <a:endParaRPr lang="en-US" sz="2000" dirty="0"/>
          </a:p>
        </p:txBody>
      </p:sp>
      <p:sp>
        <p:nvSpPr>
          <p:cNvPr id="5" name="Shape 3"/>
          <p:cNvSpPr/>
          <p:nvPr/>
        </p:nvSpPr>
        <p:spPr>
          <a:xfrm>
            <a:off x="457200" y="1417320"/>
            <a:ext cx="1783080" cy="1600200"/>
          </a:xfrm>
          <a:prstGeom prst="roundRect">
            <a:avLst>
              <a:gd name="adj" fmla="val 4571"/>
            </a:avLst>
          </a:prstGeom>
          <a:solidFill>
            <a:srgbClr val="E9F1EB"/>
          </a:solidFill>
          <a:ln w="12700">
            <a:solidFill>
              <a:srgbClr val="E9F1EB"/>
            </a:solidFill>
            <a:prstDash val="solid"/>
          </a:ln>
        </p:spPr>
      </p:sp>
      <p:sp>
        <p:nvSpPr>
          <p:cNvPr id="6" name="Shape 4"/>
          <p:cNvSpPr/>
          <p:nvPr/>
        </p:nvSpPr>
        <p:spPr>
          <a:xfrm>
            <a:off x="594360" y="1554480"/>
            <a:ext cx="384048" cy="384048"/>
          </a:xfrm>
          <a:prstGeom prst="ellipse">
            <a:avLst/>
          </a:prstGeom>
          <a:solidFill>
            <a:srgbClr val="1F4D3A"/>
          </a:solidFill>
          <a:ln w="12700">
            <a:solidFill>
              <a:srgbClr val="1F4D3A"/>
            </a:solidFill>
            <a:prstDash val="solid"/>
          </a:ln>
        </p:spPr>
      </p:sp>
      <p:sp>
        <p:nvSpPr>
          <p:cNvPr id="7" name="Text 5"/>
          <p:cNvSpPr txBox="1"/>
          <p:nvPr/>
        </p:nvSpPr>
        <p:spPr>
          <a:xfrm>
            <a:off x="594360" y="1554480"/>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8" name="Text 6"/>
          <p:cNvSpPr txBox="1"/>
          <p:nvPr/>
        </p:nvSpPr>
        <p:spPr>
          <a:xfrm>
            <a:off x="594360" y="2011680"/>
            <a:ext cx="1508760" cy="960120"/>
          </a:xfrm>
          <a:prstGeom prst="rect">
            <a:avLst/>
          </a:prstGeom>
          <a:noFill/>
          <a:ln/>
        </p:spPr>
        <p:txBody>
          <a:bodyPr wrap="square" lIns="0" tIns="0" rIns="0" bIns="0" rtlCol="0" anchor="t">
            <a:normAutofit/>
          </a:bodyPr>
          <a:lstStyle/>
          <a:p>
            <a:pPr indent="0" marL="0">
              <a:spcAft>
                <a:spcPts val="300"/>
              </a:spcAft>
              <a:buNone/>
            </a:pPr>
            <a:r>
              <a:rPr lang="en-US" sz="1300" b="1" dirty="0">
                <a:solidFill>
                  <a:srgbClr val="1F4D3A"/>
                </a:solidFill>
                <a:latin typeface="Calibri" pitchFamily="34" charset="0"/>
                <a:ea typeface="Calibri" pitchFamily="34" charset="-122"/>
                <a:cs typeface="Calibri" pitchFamily="34" charset="-120"/>
              </a:rPr>
              <a:t>1 km MODIS grid</a:t>
            </a:r>
            <a:endParaRPr lang="en-US" sz="1300" dirty="0"/>
          </a:p>
          <a:p>
            <a:pPr indent="0" marL="0">
              <a:buNone/>
            </a:pPr>
            <a:r>
              <a:rPr lang="en-US" sz="1100" dirty="0">
                <a:solidFill>
                  <a:srgbClr val="1F2328"/>
                </a:solidFill>
                <a:latin typeface="Calibri" pitchFamily="34" charset="0"/>
                <a:ea typeface="Calibri" pitchFamily="34" charset="-122"/>
                <a:cs typeface="Calibri" pitchFamily="34" charset="-120"/>
              </a:rPr>
              <a:t>Every square inside the city outline</a:t>
            </a:r>
            <a:endParaRPr lang="en-US" sz="1300" dirty="0"/>
          </a:p>
        </p:txBody>
      </p:sp>
      <p:sp>
        <p:nvSpPr>
          <p:cNvPr id="9" name="Shape 7"/>
          <p:cNvSpPr/>
          <p:nvPr/>
        </p:nvSpPr>
        <p:spPr>
          <a:xfrm>
            <a:off x="2276856" y="2084832"/>
            <a:ext cx="246888" cy="256032"/>
          </a:xfrm>
          <a:prstGeom prst="rightArrow">
            <a:avLst/>
          </a:prstGeom>
          <a:solidFill>
            <a:srgbClr val="C9DECF"/>
          </a:solidFill>
          <a:ln w="12700">
            <a:solidFill>
              <a:srgbClr val="C9DECF"/>
            </a:solidFill>
            <a:prstDash val="solid"/>
          </a:ln>
        </p:spPr>
      </p:sp>
      <p:sp>
        <p:nvSpPr>
          <p:cNvPr id="10" name="Shape 8"/>
          <p:cNvSpPr/>
          <p:nvPr/>
        </p:nvSpPr>
        <p:spPr>
          <a:xfrm>
            <a:off x="2560320" y="1417320"/>
            <a:ext cx="1783080" cy="1600200"/>
          </a:xfrm>
          <a:prstGeom prst="roundRect">
            <a:avLst>
              <a:gd name="adj" fmla="val 4571"/>
            </a:avLst>
          </a:prstGeom>
          <a:solidFill>
            <a:srgbClr val="E9F1EB"/>
          </a:solidFill>
          <a:ln w="12700">
            <a:solidFill>
              <a:srgbClr val="E9F1EB"/>
            </a:solidFill>
            <a:prstDash val="solid"/>
          </a:ln>
        </p:spPr>
      </p:sp>
      <p:sp>
        <p:nvSpPr>
          <p:cNvPr id="11" name="Shape 9"/>
          <p:cNvSpPr/>
          <p:nvPr/>
        </p:nvSpPr>
        <p:spPr>
          <a:xfrm>
            <a:off x="2697480" y="1554480"/>
            <a:ext cx="384048" cy="384048"/>
          </a:xfrm>
          <a:prstGeom prst="ellipse">
            <a:avLst/>
          </a:prstGeom>
          <a:solidFill>
            <a:srgbClr val="1F4D3A"/>
          </a:solidFill>
          <a:ln w="12700">
            <a:solidFill>
              <a:srgbClr val="1F4D3A"/>
            </a:solidFill>
            <a:prstDash val="solid"/>
          </a:ln>
        </p:spPr>
      </p:sp>
      <p:sp>
        <p:nvSpPr>
          <p:cNvPr id="12" name="Text 10"/>
          <p:cNvSpPr txBox="1"/>
          <p:nvPr/>
        </p:nvSpPr>
        <p:spPr>
          <a:xfrm>
            <a:off x="2697480" y="1554480"/>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3" name="Text 11"/>
          <p:cNvSpPr txBox="1"/>
          <p:nvPr/>
        </p:nvSpPr>
        <p:spPr>
          <a:xfrm>
            <a:off x="2697480" y="2011680"/>
            <a:ext cx="1508760" cy="960120"/>
          </a:xfrm>
          <a:prstGeom prst="rect">
            <a:avLst/>
          </a:prstGeom>
          <a:noFill/>
          <a:ln/>
        </p:spPr>
        <p:txBody>
          <a:bodyPr wrap="square" lIns="0" tIns="0" rIns="0" bIns="0" rtlCol="0" anchor="t">
            <a:normAutofit/>
          </a:bodyPr>
          <a:lstStyle/>
          <a:p>
            <a:pPr indent="0" marL="0">
              <a:spcAft>
                <a:spcPts val="300"/>
              </a:spcAft>
              <a:buNone/>
            </a:pPr>
            <a:r>
              <a:rPr lang="en-US" sz="1300" b="1" dirty="0">
                <a:solidFill>
                  <a:srgbClr val="1F4D3A"/>
                </a:solidFill>
                <a:latin typeface="Calibri" pitchFamily="34" charset="0"/>
                <a:ea typeface="Calibri" pitchFamily="34" charset="-122"/>
                <a:cs typeface="Calibri" pitchFamily="34" charset="-120"/>
              </a:rPr>
              <a:t>Quality filter</a:t>
            </a:r>
            <a:endParaRPr lang="en-US" sz="1300" dirty="0"/>
          </a:p>
          <a:p>
            <a:pPr indent="0" marL="0">
              <a:buNone/>
            </a:pPr>
            <a:r>
              <a:rPr lang="en-US" sz="1100" dirty="0">
                <a:solidFill>
                  <a:srgbClr val="1F2328"/>
                </a:solidFill>
                <a:latin typeface="Calibri" pitchFamily="34" charset="0"/>
                <a:ea typeface="Calibri" pitchFamily="34" charset="-122"/>
                <a:cs typeface="Calibri" pitchFamily="34" charset="-120"/>
              </a:rPr>
              <a:t>Keep readings rated reliable (error ≤ 2 K); no reading = open water</a:t>
            </a:r>
            <a:endParaRPr lang="en-US" sz="1300" dirty="0"/>
          </a:p>
        </p:txBody>
      </p:sp>
      <p:sp>
        <p:nvSpPr>
          <p:cNvPr id="14" name="Shape 12"/>
          <p:cNvSpPr/>
          <p:nvPr/>
        </p:nvSpPr>
        <p:spPr>
          <a:xfrm>
            <a:off x="4379976" y="2084832"/>
            <a:ext cx="246888" cy="256032"/>
          </a:xfrm>
          <a:prstGeom prst="rightArrow">
            <a:avLst/>
          </a:prstGeom>
          <a:solidFill>
            <a:srgbClr val="C9DECF"/>
          </a:solidFill>
          <a:ln w="12700">
            <a:solidFill>
              <a:srgbClr val="C9DECF"/>
            </a:solidFill>
            <a:prstDash val="solid"/>
          </a:ln>
        </p:spPr>
      </p:sp>
      <p:sp>
        <p:nvSpPr>
          <p:cNvPr id="15" name="Shape 13"/>
          <p:cNvSpPr/>
          <p:nvPr/>
        </p:nvSpPr>
        <p:spPr>
          <a:xfrm>
            <a:off x="4663440" y="1417320"/>
            <a:ext cx="1783080" cy="1600200"/>
          </a:xfrm>
          <a:prstGeom prst="roundRect">
            <a:avLst>
              <a:gd name="adj" fmla="val 4571"/>
            </a:avLst>
          </a:prstGeom>
          <a:solidFill>
            <a:srgbClr val="E9F1EB"/>
          </a:solidFill>
          <a:ln w="12700">
            <a:solidFill>
              <a:srgbClr val="E9F1EB"/>
            </a:solidFill>
            <a:prstDash val="solid"/>
          </a:ln>
        </p:spPr>
      </p:sp>
      <p:sp>
        <p:nvSpPr>
          <p:cNvPr id="16" name="Shape 14"/>
          <p:cNvSpPr/>
          <p:nvPr/>
        </p:nvSpPr>
        <p:spPr>
          <a:xfrm>
            <a:off x="4800600" y="1554480"/>
            <a:ext cx="384048" cy="384048"/>
          </a:xfrm>
          <a:prstGeom prst="ellipse">
            <a:avLst/>
          </a:prstGeom>
          <a:solidFill>
            <a:srgbClr val="1F4D3A"/>
          </a:solidFill>
          <a:ln w="12700">
            <a:solidFill>
              <a:srgbClr val="1F4D3A"/>
            </a:solidFill>
            <a:prstDash val="solid"/>
          </a:ln>
        </p:spPr>
      </p:sp>
      <p:sp>
        <p:nvSpPr>
          <p:cNvPr id="17" name="Text 15"/>
          <p:cNvSpPr txBox="1"/>
          <p:nvPr/>
        </p:nvSpPr>
        <p:spPr>
          <a:xfrm>
            <a:off x="4800600" y="1554480"/>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8" name="Text 16"/>
          <p:cNvSpPr txBox="1"/>
          <p:nvPr/>
        </p:nvSpPr>
        <p:spPr>
          <a:xfrm>
            <a:off x="4800600" y="2011680"/>
            <a:ext cx="1508760" cy="960120"/>
          </a:xfrm>
          <a:prstGeom prst="rect">
            <a:avLst/>
          </a:prstGeom>
          <a:noFill/>
          <a:ln/>
        </p:spPr>
        <p:txBody>
          <a:bodyPr wrap="square" lIns="0" tIns="0" rIns="0" bIns="0" rtlCol="0" anchor="t">
            <a:normAutofit/>
          </a:bodyPr>
          <a:lstStyle/>
          <a:p>
            <a:pPr indent="0" marL="0">
              <a:spcAft>
                <a:spcPts val="300"/>
              </a:spcAft>
              <a:buNone/>
            </a:pPr>
            <a:r>
              <a:rPr lang="en-US" sz="1300" b="1" dirty="0">
                <a:solidFill>
                  <a:srgbClr val="1F4D3A"/>
                </a:solidFill>
                <a:latin typeface="Calibri" pitchFamily="34" charset="0"/>
                <a:ea typeface="Calibri" pitchFamily="34" charset="-122"/>
                <a:cs typeface="Calibri" pitchFamily="34" charset="-120"/>
              </a:rPr>
              <a:t>Seasonal means</a:t>
            </a:r>
            <a:endParaRPr lang="en-US" sz="1300" dirty="0"/>
          </a:p>
          <a:p>
            <a:pPr indent="0" marL="0">
              <a:buNone/>
            </a:pPr>
            <a:r>
              <a:rPr lang="en-US" sz="1100" dirty="0">
                <a:solidFill>
                  <a:srgbClr val="1F2328"/>
                </a:solidFill>
                <a:latin typeface="Calibri" pitchFamily="34" charset="0"/>
                <a:ea typeface="Calibri" pitchFamily="34" charset="-122"/>
                <a:cs typeface="Calibri" pitchFamily="34" charset="-120"/>
              </a:rPr>
              <a:t>2019–2024: day/night LST, NDVI, EVI, built-up, people, elevation</a:t>
            </a:r>
            <a:endParaRPr lang="en-US" sz="1300" dirty="0"/>
          </a:p>
        </p:txBody>
      </p:sp>
      <p:sp>
        <p:nvSpPr>
          <p:cNvPr id="19" name="Shape 17"/>
          <p:cNvSpPr/>
          <p:nvPr/>
        </p:nvSpPr>
        <p:spPr>
          <a:xfrm>
            <a:off x="6483096" y="2084832"/>
            <a:ext cx="246888" cy="256032"/>
          </a:xfrm>
          <a:prstGeom prst="rightArrow">
            <a:avLst/>
          </a:prstGeom>
          <a:solidFill>
            <a:srgbClr val="C9DECF"/>
          </a:solidFill>
          <a:ln w="12700">
            <a:solidFill>
              <a:srgbClr val="C9DECF"/>
            </a:solidFill>
            <a:prstDash val="solid"/>
          </a:ln>
        </p:spPr>
      </p:sp>
      <p:sp>
        <p:nvSpPr>
          <p:cNvPr id="20" name="Shape 18"/>
          <p:cNvSpPr/>
          <p:nvPr/>
        </p:nvSpPr>
        <p:spPr>
          <a:xfrm>
            <a:off x="6766560" y="1417320"/>
            <a:ext cx="1783080" cy="1600200"/>
          </a:xfrm>
          <a:prstGeom prst="roundRect">
            <a:avLst>
              <a:gd name="adj" fmla="val 4571"/>
            </a:avLst>
          </a:prstGeom>
          <a:solidFill>
            <a:srgbClr val="E9F1EB"/>
          </a:solidFill>
          <a:ln w="12700">
            <a:solidFill>
              <a:srgbClr val="E9F1EB"/>
            </a:solidFill>
            <a:prstDash val="solid"/>
          </a:ln>
        </p:spPr>
      </p:sp>
      <p:sp>
        <p:nvSpPr>
          <p:cNvPr id="21" name="Shape 19"/>
          <p:cNvSpPr/>
          <p:nvPr/>
        </p:nvSpPr>
        <p:spPr>
          <a:xfrm>
            <a:off x="6903720" y="1554480"/>
            <a:ext cx="384048" cy="384048"/>
          </a:xfrm>
          <a:prstGeom prst="ellipse">
            <a:avLst/>
          </a:prstGeom>
          <a:solidFill>
            <a:srgbClr val="1F4D3A"/>
          </a:solidFill>
          <a:ln w="12700">
            <a:solidFill>
              <a:srgbClr val="1F4D3A"/>
            </a:solidFill>
            <a:prstDash val="solid"/>
          </a:ln>
        </p:spPr>
      </p:sp>
      <p:sp>
        <p:nvSpPr>
          <p:cNvPr id="22" name="Text 20"/>
          <p:cNvSpPr txBox="1"/>
          <p:nvPr/>
        </p:nvSpPr>
        <p:spPr>
          <a:xfrm>
            <a:off x="6903720" y="1554480"/>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3" name="Text 21"/>
          <p:cNvSpPr txBox="1"/>
          <p:nvPr/>
        </p:nvSpPr>
        <p:spPr>
          <a:xfrm>
            <a:off x="6903720" y="2011680"/>
            <a:ext cx="1508760" cy="960120"/>
          </a:xfrm>
          <a:prstGeom prst="rect">
            <a:avLst/>
          </a:prstGeom>
          <a:noFill/>
          <a:ln/>
        </p:spPr>
        <p:txBody>
          <a:bodyPr wrap="square" lIns="0" tIns="0" rIns="0" bIns="0" rtlCol="0" anchor="t">
            <a:normAutofit/>
          </a:bodyPr>
          <a:lstStyle/>
          <a:p>
            <a:pPr indent="0" marL="0">
              <a:spcAft>
                <a:spcPts val="300"/>
              </a:spcAft>
              <a:buNone/>
            </a:pPr>
            <a:r>
              <a:rPr lang="en-US" sz="1300" b="1" dirty="0">
                <a:solidFill>
                  <a:srgbClr val="1F4D3A"/>
                </a:solidFill>
                <a:latin typeface="Calibri" pitchFamily="34" charset="0"/>
                <a:ea typeface="Calibri" pitchFamily="34" charset="-122"/>
                <a:cs typeface="Calibri" pitchFamily="34" charset="-120"/>
              </a:rPr>
              <a:t>Urban squares</a:t>
            </a:r>
            <a:endParaRPr lang="en-US" sz="1300" dirty="0"/>
          </a:p>
          <a:p>
            <a:pPr indent="0" marL="0">
              <a:buNone/>
            </a:pPr>
            <a:r>
              <a:rPr lang="en-US" sz="1100" dirty="0">
                <a:solidFill>
                  <a:srgbClr val="1F2328"/>
                </a:solidFill>
                <a:latin typeface="Calibri" pitchFamily="34" charset="0"/>
                <a:ea typeface="Calibri" pitchFamily="34" charset="-122"/>
                <a:cs typeface="Calibri" pitchFamily="34" charset="-120"/>
              </a:rPr>
              <a:t>Keep squares at least 10% built-up</a:t>
            </a:r>
            <a:endParaRPr lang="en-US" sz="1300" dirty="0"/>
          </a:p>
        </p:txBody>
      </p:sp>
      <p:sp>
        <p:nvSpPr>
          <p:cNvPr id="24" name="Text 22"/>
          <p:cNvSpPr txBox="1"/>
          <p:nvPr/>
        </p:nvSpPr>
        <p:spPr>
          <a:xfrm>
            <a:off x="457200" y="3291840"/>
            <a:ext cx="2377440" cy="502920"/>
          </a:xfrm>
          <a:prstGeom prst="rect">
            <a:avLst/>
          </a:prstGeom>
          <a:noFill/>
          <a:ln/>
        </p:spPr>
        <p:txBody>
          <a:bodyPr wrap="square" lIns="0" tIns="0" rIns="0" bIns="0" rtlCol="0" anchor="b"/>
          <a:lstStyle/>
          <a:p>
            <a:pPr indent="0" marL="0">
              <a:buNone/>
            </a:pPr>
            <a:r>
              <a:rPr lang="en-US" sz="2400" b="1" dirty="0">
                <a:solidFill>
                  <a:srgbClr val="1F4D3A"/>
                </a:solidFill>
                <a:latin typeface="Cambria" pitchFamily="34" charset="0"/>
                <a:ea typeface="Cambria" pitchFamily="34" charset="-122"/>
                <a:cs typeface="Cambria" pitchFamily="34" charset="-120"/>
              </a:rPr>
              <a:t>202 of 303</a:t>
            </a:r>
            <a:endParaRPr lang="en-US" sz="2400" dirty="0"/>
          </a:p>
        </p:txBody>
      </p:sp>
      <p:sp>
        <p:nvSpPr>
          <p:cNvPr id="25" name="Text 23"/>
          <p:cNvSpPr txBox="1"/>
          <p:nvPr/>
        </p:nvSpPr>
        <p:spPr>
          <a:xfrm>
            <a:off x="457200" y="3813048"/>
            <a:ext cx="2377440" cy="548640"/>
          </a:xfrm>
          <a:prstGeom prst="rect">
            <a:avLst/>
          </a:prstGeom>
          <a:noFill/>
          <a:ln/>
        </p:spPr>
        <p:txBody>
          <a:bodyPr wrap="square" lIns="0" tIns="0" rIns="0" bIns="0" rtlCol="0" anchor="t">
            <a:normAutofit/>
          </a:bodyPr>
          <a:lstStyle/>
          <a:p>
            <a:pPr indent="0" marL="0">
              <a:buNone/>
            </a:pPr>
            <a:r>
              <a:rPr lang="en-US" sz="1050" dirty="0">
                <a:solidFill>
                  <a:srgbClr val="5F6670"/>
                </a:solidFill>
                <a:latin typeface="Calibri" pitchFamily="34" charset="0"/>
                <a:ea typeface="Calibri" pitchFamily="34" charset="-122"/>
                <a:cs typeface="Calibri" pitchFamily="34" charset="-120"/>
              </a:rPr>
              <a:t>cities have ≥ 30 urban squares, our minimum for an estimate</a:t>
            </a:r>
            <a:endParaRPr lang="en-US" sz="1050" dirty="0"/>
          </a:p>
        </p:txBody>
      </p:sp>
      <p:sp>
        <p:nvSpPr>
          <p:cNvPr id="26" name="Text 24"/>
          <p:cNvSpPr txBox="1"/>
          <p:nvPr/>
        </p:nvSpPr>
        <p:spPr>
          <a:xfrm>
            <a:off x="3291840" y="3383280"/>
            <a:ext cx="5394960" cy="1097280"/>
          </a:xfrm>
          <a:prstGeom prst="rect">
            <a:avLst/>
          </a:prstGeom>
          <a:noFill/>
          <a:ln/>
        </p:spPr>
        <p:txBody>
          <a:bodyPr wrap="square" lIns="0" tIns="0" rIns="0" bIns="0" rtlCol="0" anchor="t">
            <a:normAutofit/>
          </a:bodyPr>
          <a:lstStyle/>
          <a:p>
            <a:pPr marL="177800" indent="-177800">
              <a:buSzPct val="100000"/>
              <a:buChar char="•"/>
            </a:pPr>
            <a:r>
              <a:rPr lang="en-US" sz="1200" b="1" dirty="0">
                <a:solidFill>
                  <a:srgbClr val="1F2328"/>
                </a:solidFill>
                <a:latin typeface="Calibri" pitchFamily="34" charset="0"/>
                <a:ea typeface="Calibri" pitchFamily="34" charset="-122"/>
                <a:cs typeface="Calibri" pitchFamily="34" charset="-120"/>
              </a:rPr>
              <a:t>Checked: </a:t>
            </a:r>
            <a:pPr indent="0" marL="0">
              <a:spcAft>
                <a:spcPts val="500"/>
              </a:spcAft>
              <a:buNone/>
            </a:pPr>
            <a:r>
              <a:rPr lang="en-US" sz="1200" dirty="0">
                <a:solidFill>
                  <a:srgbClr val="1F2328"/>
                </a:solidFill>
                <a:latin typeface="Calibri" pitchFamily="34" charset="0"/>
                <a:ea typeface="Calibri" pitchFamily="34" charset="-122"/>
                <a:cs typeface="Calibri" pitchFamily="34" charset="-120"/>
              </a:rPr>
              <a:t>reproduces the pilot exactly (Jodhpur 254 squares, Kochi 1,238); population within 0.02% of WorldPop; range checks on all 303 cities.</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2011680" cy="237744"/>
          </a:xfrm>
          <a:prstGeom prst="rect">
            <a:avLst/>
          </a:prstGeom>
          <a:noFill/>
          <a:ln/>
        </p:spPr>
        <p:txBody>
          <a:bodyPr wrap="square" lIns="0" tIns="0" rIns="0" bIns="0" rtlCol="0" anchor="ctr"/>
          <a:lstStyle/>
          <a:p>
            <a:pPr indent="0" marL="0">
              <a:buNone/>
            </a:pPr>
            <a:r>
              <a:rPr lang="en-US" sz="900" b="1" spc="200" kern="0" dirty="0">
                <a:solidFill>
                  <a:srgbClr val="1F4D3A"/>
                </a:solidFill>
                <a:latin typeface="Calibri" pitchFamily="34" charset="0"/>
                <a:ea typeface="Calibri" pitchFamily="34" charset="-122"/>
                <a:cs typeface="Calibri" pitchFamily="34" charset="-120"/>
              </a:rPr>
              <a:t>METHOD</a:t>
            </a:r>
            <a:endParaRPr lang="en-US" sz="900" dirty="0"/>
          </a:p>
        </p:txBody>
      </p:sp>
      <p:sp>
        <p:nvSpPr>
          <p:cNvPr id="3" name="Text 1"/>
          <p:cNvSpPr txBox="1"/>
          <p:nvPr/>
        </p:nvSpPr>
        <p:spPr>
          <a:xfrm>
            <a:off x="5943600" y="256032"/>
            <a:ext cx="2743200" cy="237744"/>
          </a:xfrm>
          <a:prstGeom prst="rect">
            <a:avLst/>
          </a:prstGeom>
          <a:noFill/>
          <a:ln/>
        </p:spPr>
        <p:txBody>
          <a:bodyPr wrap="square" lIns="0" tIns="0" rIns="0" bIns="0" rtlCol="0" anchor="ctr"/>
          <a:lstStyle/>
          <a:p>
            <a:pPr algn="r" indent="0" marL="0">
              <a:buNone/>
            </a:pPr>
            <a:r>
              <a:rPr lang="en-US" sz="900" dirty="0">
                <a:solidFill>
                  <a:srgbClr val="5F6670"/>
                </a:solidFill>
                <a:latin typeface="Calibri" pitchFamily="34" charset="0"/>
                <a:ea typeface="Calibri" pitchFamily="34" charset="-122"/>
                <a:cs typeface="Calibri" pitchFamily="34" charset="-120"/>
              </a:rPr>
              <a:t>Presenter: Role 3</a:t>
            </a:r>
            <a:endParaRPr lang="en-US" sz="900" dirty="0"/>
          </a:p>
        </p:txBody>
      </p:sp>
      <p:sp>
        <p:nvSpPr>
          <p:cNvPr id="4" name="Text 2"/>
          <p:cNvSpPr txBox="1"/>
          <p:nvPr/>
        </p:nvSpPr>
        <p:spPr>
          <a:xfrm>
            <a:off x="457200" y="502920"/>
            <a:ext cx="8229600" cy="685800"/>
          </a:xfrm>
          <a:prstGeom prst="rect">
            <a:avLst/>
          </a:prstGeom>
          <a:noFill/>
          <a:ln/>
        </p:spPr>
        <p:txBody>
          <a:bodyPr wrap="square" lIns="0" tIns="0" rIns="0" bIns="0" rtlCol="0" anchor="t">
            <a:normAutofit/>
          </a:bodyPr>
          <a:lstStyle/>
          <a:p>
            <a:pPr indent="0" marL="0">
              <a:buNone/>
            </a:pPr>
            <a:r>
              <a:rPr lang="en-US" sz="2000" b="1" dirty="0">
                <a:solidFill>
                  <a:srgbClr val="1F2328"/>
                </a:solidFill>
                <a:latin typeface="Cambria" pitchFamily="34" charset="0"/>
                <a:ea typeface="Cambria" pitchFamily="34" charset="-122"/>
                <a:cs typeface="Cambria" pitchFamily="34" charset="-120"/>
              </a:rPr>
              <a:t>The cooling slope: how much cooler greener squares are, other things equal</a:t>
            </a:r>
            <a:endParaRPr lang="en-US" sz="2000" dirty="0"/>
          </a:p>
        </p:txBody>
      </p:sp>
      <p:sp>
        <p:nvSpPr>
          <p:cNvPr id="5" name="Shape 3"/>
          <p:cNvSpPr/>
          <p:nvPr/>
        </p:nvSpPr>
        <p:spPr>
          <a:xfrm>
            <a:off x="457200" y="1280160"/>
            <a:ext cx="8229600" cy="566928"/>
          </a:xfrm>
          <a:prstGeom prst="roundRect">
            <a:avLst>
              <a:gd name="adj" fmla="val 12903"/>
            </a:avLst>
          </a:prstGeom>
          <a:solidFill>
            <a:srgbClr val="1F4D3A"/>
          </a:solidFill>
          <a:ln w="12700">
            <a:solidFill>
              <a:srgbClr val="1F4D3A"/>
            </a:solidFill>
            <a:prstDash val="solid"/>
          </a:ln>
        </p:spPr>
      </p:sp>
      <p:sp>
        <p:nvSpPr>
          <p:cNvPr id="6" name="Text 4"/>
          <p:cNvSpPr txBox="1"/>
          <p:nvPr/>
        </p:nvSpPr>
        <p:spPr>
          <a:xfrm>
            <a:off x="640080" y="1280160"/>
            <a:ext cx="7863840" cy="566928"/>
          </a:xfrm>
          <a:prstGeom prst="rect">
            <a:avLst/>
          </a:prstGeom>
          <a:noFill/>
          <a:ln/>
        </p:spPr>
        <p:txBody>
          <a:bodyPr wrap="square" lIns="0" tIns="0" rIns="0" bIns="0" rtlCol="0" anchor="ctr"/>
          <a:lstStyle/>
          <a:p>
            <a:pPr indent="0" marL="0">
              <a:buNone/>
            </a:pPr>
            <a:r>
              <a:rPr lang="en-US" sz="1250" b="1" dirty="0">
                <a:solidFill>
                  <a:srgbClr val="FFFFFF"/>
                </a:solidFill>
                <a:latin typeface="Courier New" pitchFamily="34" charset="0"/>
                <a:ea typeface="Courier New" pitchFamily="34" charset="-122"/>
                <a:cs typeface="Courier New" pitchFamily="34" charset="-120"/>
              </a:rPr>
              <a:t>LST = b0 + b1·NDVI + b2·built + b3·elevation + b4·water      cooling slope = b1 ÷ 10  (°C per 0.1 NDVI)</a:t>
            </a:r>
            <a:endParaRPr lang="en-US" sz="1250" dirty="0"/>
          </a:p>
        </p:txBody>
      </p:sp>
      <p:pic>
        <p:nvPicPr>
          <p:cNvPr id="7" name="Image 0" descr="A_pilot_raw_vs_adjusted.png">    </p:cNvPr>
          <p:cNvPicPr>
            <a:picLocks noChangeAspect="1"/>
          </p:cNvPicPr>
          <p:nvPr/>
        </p:nvPicPr>
        <p:blipFill>
          <a:blip r:embed="rId1"/>
          <a:stretch>
            <a:fillRect/>
          </a:stretch>
        </p:blipFill>
        <p:spPr>
          <a:xfrm>
            <a:off x="457200" y="2011680"/>
            <a:ext cx="5486400" cy="2332586"/>
          </a:xfrm>
          <a:prstGeom prst="rect">
            <a:avLst/>
          </a:prstGeom>
        </p:spPr>
      </p:pic>
      <p:sp>
        <p:nvSpPr>
          <p:cNvPr id="8" name="Text 5"/>
          <p:cNvSpPr txBox="1"/>
          <p:nvPr/>
        </p:nvSpPr>
        <p:spPr>
          <a:xfrm>
            <a:off x="6172200" y="2011680"/>
            <a:ext cx="2514600" cy="2651760"/>
          </a:xfrm>
          <a:prstGeom prst="rect">
            <a:avLst/>
          </a:prstGeom>
          <a:noFill/>
          <a:ln/>
        </p:spPr>
        <p:txBody>
          <a:bodyPr wrap="square" lIns="0" tIns="0" rIns="0" bIns="0" rtlCol="0" anchor="t">
            <a:normAutofit/>
          </a:bodyPr>
          <a:lstStyle/>
          <a:p>
            <a:pPr marL="177800" indent="-177800">
              <a:spcAft>
                <a:spcPts val="500"/>
              </a:spcAft>
              <a:buSzPct val="100000"/>
              <a:buChar char="•"/>
            </a:pPr>
            <a:r>
              <a:rPr lang="en-US" sz="1150" b="1" dirty="0">
                <a:solidFill>
                  <a:srgbClr val="C8640A"/>
                </a:solidFill>
                <a:latin typeface="Calibri" pitchFamily="34" charset="0"/>
                <a:ea typeface="Calibri" pitchFamily="34" charset="-122"/>
                <a:cs typeface="Calibri" pitchFamily="34" charset="-120"/>
              </a:rPr>
              <a:t>Negative = greener squares are cooler.</a:t>
            </a:r>
            <a:endParaRPr lang="en-US" sz="1150" dirty="0"/>
          </a:p>
          <a:p>
            <a:pPr marL="177800" indent="-177800">
              <a:buSzPct val="100000"/>
              <a:buChar char="•"/>
            </a:pPr>
            <a:r>
              <a:rPr lang="en-US" sz="1150" b="1" dirty="0">
                <a:solidFill>
                  <a:srgbClr val="1F2328"/>
                </a:solidFill>
                <a:latin typeface="Calibri" pitchFamily="34" charset="0"/>
                <a:ea typeface="Calibri" pitchFamily="34" charset="-122"/>
                <a:cs typeface="Calibri" pitchFamily="34" charset="-120"/>
              </a:rPr>
              <a:t>Why controls: </a:t>
            </a:r>
            <a:pPr indent="0" marL="0">
              <a:spcAft>
                <a:spcPts val="500"/>
              </a:spcAft>
              <a:buNone/>
            </a:pPr>
            <a:r>
              <a:rPr lang="en-US" sz="1150" dirty="0">
                <a:solidFill>
                  <a:srgbClr val="1F2328"/>
                </a:solidFill>
                <a:latin typeface="Calibri" pitchFamily="34" charset="0"/>
                <a:ea typeface="Calibri" pitchFamily="34" charset="-122"/>
                <a:cs typeface="Calibri" pitchFamily="34" charset="-120"/>
              </a:rPr>
              <a:t>Jodhpur raw −0.59 (not significant) → −1.32 holding built-up fixed. Bare desert outskirts hide the effect.</a:t>
            </a:r>
            <a:endParaRPr lang="en-US" sz="1150" dirty="0"/>
          </a:p>
          <a:p>
            <a:pPr marL="177800" indent="-177800">
              <a:buSzPct val="100000"/>
              <a:buChar char="•"/>
            </a:pPr>
            <a:r>
              <a:rPr lang="en-US" sz="1150" b="1" dirty="0">
                <a:solidFill>
                  <a:srgbClr val="1F2328"/>
                </a:solidFill>
                <a:latin typeface="Calibri" pitchFamily="34" charset="0"/>
                <a:ea typeface="Calibri" pitchFamily="34" charset="-122"/>
                <a:cs typeface="Calibri" pitchFamily="34" charset="-120"/>
              </a:rPr>
              <a:t>Why clustered uncertainty: </a:t>
            </a:r>
            <a:pPr indent="0" marL="0">
              <a:spcAft>
                <a:spcPts val="500"/>
              </a:spcAft>
              <a:buNone/>
            </a:pPr>
            <a:r>
              <a:rPr lang="en-US" sz="1150" dirty="0">
                <a:solidFill>
                  <a:srgbClr val="1F2328"/>
                </a:solidFill>
                <a:latin typeface="Calibri" pitchFamily="34" charset="0"/>
                <a:ea typeface="Calibri" pitchFamily="34" charset="-122"/>
                <a:cs typeface="Calibri" pitchFamily="34" charset="-120"/>
              </a:rPr>
              <a:t>neighbouring squares are alike, so 95% ranges treat ~5 km blocks as one unit.</a:t>
            </a:r>
            <a:endParaRPr lang="en-US" sz="1150" dirty="0"/>
          </a:p>
          <a:p>
            <a:pPr marL="177800" indent="-177800">
              <a:buSzPct val="100000"/>
              <a:buChar char="•"/>
            </a:pPr>
            <a:r>
              <a:rPr lang="en-US" sz="1150" b="1" dirty="0">
                <a:solidFill>
                  <a:srgbClr val="1F2328"/>
                </a:solidFill>
                <a:latin typeface="Calibri" pitchFamily="34" charset="0"/>
                <a:ea typeface="Calibri" pitchFamily="34" charset="-122"/>
                <a:cs typeface="Calibri" pitchFamily="34" charset="-120"/>
              </a:rPr>
              <a:t>One fit </a:t>
            </a:r>
            <a:pPr indent="0" marL="0">
              <a:spcAft>
                <a:spcPts val="500"/>
              </a:spcAft>
              <a:buNone/>
            </a:pPr>
            <a:r>
              <a:rPr lang="en-US" sz="1150" dirty="0">
                <a:solidFill>
                  <a:srgbClr val="1F2328"/>
                </a:solidFill>
                <a:latin typeface="Calibri" pitchFamily="34" charset="0"/>
                <a:ea typeface="Calibri" pitchFamily="34" charset="-122"/>
                <a:cs typeface="Calibri" pitchFamily="34" charset="-120"/>
              </a:rPr>
              <a:t>per city × season × day/night, within a city, so climate is held fixed.</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2011680" cy="237744"/>
          </a:xfrm>
          <a:prstGeom prst="rect">
            <a:avLst/>
          </a:prstGeom>
          <a:noFill/>
          <a:ln/>
        </p:spPr>
        <p:txBody>
          <a:bodyPr wrap="square" lIns="0" tIns="0" rIns="0" bIns="0" rtlCol="0" anchor="ctr"/>
          <a:lstStyle/>
          <a:p>
            <a:pPr indent="0" marL="0">
              <a:buNone/>
            </a:pPr>
            <a:r>
              <a:rPr lang="en-US" sz="900" b="1" spc="200" kern="0" dirty="0">
                <a:solidFill>
                  <a:srgbClr val="1F4D3A"/>
                </a:solidFill>
                <a:latin typeface="Calibri" pitchFamily="34" charset="0"/>
                <a:ea typeface="Calibri" pitchFamily="34" charset="-122"/>
                <a:cs typeface="Calibri" pitchFamily="34" charset="-120"/>
              </a:rPr>
              <a:t>METHOD</a:t>
            </a:r>
            <a:endParaRPr lang="en-US" sz="900" dirty="0"/>
          </a:p>
        </p:txBody>
      </p:sp>
      <p:sp>
        <p:nvSpPr>
          <p:cNvPr id="3" name="Text 1"/>
          <p:cNvSpPr txBox="1"/>
          <p:nvPr/>
        </p:nvSpPr>
        <p:spPr>
          <a:xfrm>
            <a:off x="5943600" y="256032"/>
            <a:ext cx="2743200" cy="237744"/>
          </a:xfrm>
          <a:prstGeom prst="rect">
            <a:avLst/>
          </a:prstGeom>
          <a:noFill/>
          <a:ln/>
        </p:spPr>
        <p:txBody>
          <a:bodyPr wrap="square" lIns="0" tIns="0" rIns="0" bIns="0" rtlCol="0" anchor="ctr"/>
          <a:lstStyle/>
          <a:p>
            <a:pPr algn="r" indent="0" marL="0">
              <a:buNone/>
            </a:pPr>
            <a:r>
              <a:rPr lang="en-US" sz="900" dirty="0">
                <a:solidFill>
                  <a:srgbClr val="5F6670"/>
                </a:solidFill>
                <a:latin typeface="Calibri" pitchFamily="34" charset="0"/>
                <a:ea typeface="Calibri" pitchFamily="34" charset="-122"/>
                <a:cs typeface="Calibri" pitchFamily="34" charset="-120"/>
              </a:rPr>
              <a:t>Presenter: Role 2 (climate) · Role 4 (people)</a:t>
            </a:r>
            <a:endParaRPr lang="en-US" sz="900" dirty="0"/>
          </a:p>
        </p:txBody>
      </p:sp>
      <p:sp>
        <p:nvSpPr>
          <p:cNvPr id="4" name="Text 2"/>
          <p:cNvSpPr txBox="1"/>
          <p:nvPr/>
        </p:nvSpPr>
        <p:spPr>
          <a:xfrm>
            <a:off x="457200" y="502920"/>
            <a:ext cx="8229600" cy="685800"/>
          </a:xfrm>
          <a:prstGeom prst="rect">
            <a:avLst/>
          </a:prstGeom>
          <a:noFill/>
          <a:ln/>
        </p:spPr>
        <p:txBody>
          <a:bodyPr wrap="square" lIns="0" tIns="0" rIns="0" bIns="0" rtlCol="0" anchor="t">
            <a:normAutofit/>
          </a:bodyPr>
          <a:lstStyle/>
          <a:p>
            <a:pPr indent="0" marL="0">
              <a:buNone/>
            </a:pPr>
            <a:r>
              <a:rPr lang="en-US" sz="2000" b="1" dirty="0">
                <a:solidFill>
                  <a:srgbClr val="1F2328"/>
                </a:solidFill>
                <a:latin typeface="Cambria" pitchFamily="34" charset="0"/>
                <a:ea typeface="Cambria" pitchFamily="34" charset="-122"/>
                <a:cs typeface="Cambria" pitchFamily="34" charset="-120"/>
              </a:rPr>
              <a:t>Climate is one value per city; exposure is weighted by people</a:t>
            </a:r>
            <a:endParaRPr lang="en-US" sz="2000" dirty="0"/>
          </a:p>
        </p:txBody>
      </p:sp>
      <p:sp>
        <p:nvSpPr>
          <p:cNvPr id="5" name="Shape 3"/>
          <p:cNvSpPr/>
          <p:nvPr/>
        </p:nvSpPr>
        <p:spPr>
          <a:xfrm>
            <a:off x="457200" y="1325880"/>
            <a:ext cx="3977640" cy="3246120"/>
          </a:xfrm>
          <a:prstGeom prst="roundRect">
            <a:avLst>
              <a:gd name="adj" fmla="val 2254"/>
            </a:avLst>
          </a:prstGeom>
          <a:solidFill>
            <a:srgbClr val="E9F1EB"/>
          </a:solidFill>
          <a:ln w="12700">
            <a:solidFill>
              <a:srgbClr val="E9F1EB"/>
            </a:solidFill>
            <a:prstDash val="solid"/>
          </a:ln>
        </p:spPr>
      </p:sp>
      <p:sp>
        <p:nvSpPr>
          <p:cNvPr id="6" name="Text 4"/>
          <p:cNvSpPr txBox="1"/>
          <p:nvPr/>
        </p:nvSpPr>
        <p:spPr>
          <a:xfrm>
            <a:off x="621792" y="1453896"/>
            <a:ext cx="3648456" cy="2990088"/>
          </a:xfrm>
          <a:prstGeom prst="rect">
            <a:avLst/>
          </a:prstGeom>
          <a:noFill/>
          <a:ln/>
        </p:spPr>
        <p:txBody>
          <a:bodyPr wrap="square" lIns="0" tIns="0" rIns="0" bIns="0" rtlCol="0" anchor="t">
            <a:normAutofit/>
          </a:bodyPr>
          <a:lstStyle/>
          <a:p>
            <a:pPr indent="0" marL="0">
              <a:spcAft>
                <a:spcPts val="400"/>
              </a:spcAft>
              <a:buNone/>
            </a:pPr>
            <a:r>
              <a:rPr lang="en-US" sz="1350" b="1" dirty="0">
                <a:solidFill>
                  <a:srgbClr val="1F4D3A"/>
                </a:solidFill>
                <a:latin typeface="Calibri" pitchFamily="34" charset="0"/>
                <a:ea typeface="Calibri" pitchFamily="34" charset="-122"/>
                <a:cs typeface="Calibri" pitchFamily="34" charset="-120"/>
              </a:rPr>
              <a:t>Background climate (ERA5-Land, ~9 km)</a:t>
            </a:r>
            <a:endParaRPr lang="en-US" sz="1350" dirty="0"/>
          </a:p>
          <a:p>
            <a:pPr indent="0" marL="0">
              <a:buNone/>
            </a:pPr>
            <a:r>
              <a:rPr lang="en-US" sz="1200" dirty="0">
                <a:solidFill>
                  <a:srgbClr val="1F2328"/>
                </a:solidFill>
                <a:latin typeface="Calibri" pitchFamily="34" charset="0"/>
                <a:ea typeface="Calibri" pitchFamily="34" charset="-122"/>
                <a:cs typeface="Calibri" pitchFamily="34" charset="-120"/>
              </a:rPr>
              <a:t>9 km cannot resolve neighbourhoods, so it describes the climate each city sits in.</a:t>
            </a:r>
            <a:endParaRPr lang="en-US" sz="1350" dirty="0"/>
          </a:p>
          <a:p>
            <a:pPr indent="0" marL="0">
              <a:buNone/>
            </a:pPr>
            <a:endParaRPr lang="en-US" sz="1350" dirty="0"/>
          </a:p>
          <a:p>
            <a:pPr indent="0" marL="0">
              <a:buNone/>
            </a:pPr>
            <a:r>
              <a:rPr lang="en-US" sz="1200" dirty="0">
                <a:solidFill>
                  <a:srgbClr val="1F2328"/>
                </a:solidFill>
                <a:latin typeface="Calibri" pitchFamily="34" charset="0"/>
                <a:ea typeface="Calibri" pitchFamily="34" charset="-122"/>
                <a:cs typeface="Calibri" pitchFamily="34" charset="-120"/>
              </a:rPr>
              <a:t>Dryness: annual rainfall (main), soil moisture (second). Potential evaporation is unreliable in arid areas, so not used.</a:t>
            </a:r>
            <a:endParaRPr lang="en-US" sz="1350" dirty="0"/>
          </a:p>
          <a:p>
            <a:pPr indent="0" marL="0">
              <a:buNone/>
            </a:pPr>
            <a:endParaRPr lang="en-US" sz="1350" dirty="0"/>
          </a:p>
          <a:p>
            <a:pPr indent="0" marL="0">
              <a:buNone/>
            </a:pPr>
            <a:r>
              <a:rPr lang="en-US" sz="1200" dirty="0">
                <a:solidFill>
                  <a:srgbClr val="1F2328"/>
                </a:solidFill>
                <a:latin typeface="Calibri" pitchFamily="34" charset="0"/>
                <a:ea typeface="Calibri" pitchFamily="34" charset="-122"/>
                <a:cs typeface="Calibri" pitchFamily="34" charset="-120"/>
              </a:rPr>
              <a:t>Heat Index: computed daily (NOAA formula) from the day's maximum temperature and mean dewpoint, then averaged.</a:t>
            </a:r>
            <a:endParaRPr lang="en-US" sz="1350" dirty="0"/>
          </a:p>
        </p:txBody>
      </p:sp>
      <p:sp>
        <p:nvSpPr>
          <p:cNvPr id="7" name="Shape 5"/>
          <p:cNvSpPr/>
          <p:nvPr/>
        </p:nvSpPr>
        <p:spPr>
          <a:xfrm>
            <a:off x="4709160" y="1325880"/>
            <a:ext cx="3977640" cy="3246120"/>
          </a:xfrm>
          <a:prstGeom prst="roundRect">
            <a:avLst>
              <a:gd name="adj" fmla="val 2254"/>
            </a:avLst>
          </a:prstGeom>
          <a:solidFill>
            <a:srgbClr val="E9F1EB"/>
          </a:solidFill>
          <a:ln w="12700">
            <a:solidFill>
              <a:srgbClr val="E9F1EB"/>
            </a:solidFill>
            <a:prstDash val="solid"/>
          </a:ln>
        </p:spPr>
      </p:sp>
      <p:sp>
        <p:nvSpPr>
          <p:cNvPr id="8" name="Text 6"/>
          <p:cNvSpPr txBox="1"/>
          <p:nvPr/>
        </p:nvSpPr>
        <p:spPr>
          <a:xfrm>
            <a:off x="4873752" y="1453896"/>
            <a:ext cx="3648456" cy="2990088"/>
          </a:xfrm>
          <a:prstGeom prst="rect">
            <a:avLst/>
          </a:prstGeom>
          <a:noFill/>
          <a:ln/>
        </p:spPr>
        <p:txBody>
          <a:bodyPr wrap="square" lIns="0" tIns="0" rIns="0" bIns="0" rtlCol="0" anchor="t">
            <a:normAutofit/>
          </a:bodyPr>
          <a:lstStyle/>
          <a:p>
            <a:pPr indent="0" marL="0">
              <a:spcAft>
                <a:spcPts val="400"/>
              </a:spcAft>
              <a:buNone/>
            </a:pPr>
            <a:r>
              <a:rPr lang="en-US" sz="1350" b="1" dirty="0">
                <a:solidFill>
                  <a:srgbClr val="1F4D3A"/>
                </a:solidFill>
                <a:latin typeface="Calibri" pitchFamily="34" charset="0"/>
                <a:ea typeface="Calibri" pitchFamily="34" charset="-122"/>
                <a:cs typeface="Calibri" pitchFamily="34" charset="-120"/>
              </a:rPr>
              <a:t>People-weighting (WorldPop 2020)</a:t>
            </a:r>
            <a:endParaRPr lang="en-US" sz="1350" dirty="0"/>
          </a:p>
          <a:p>
            <a:pPr indent="0" marL="0">
              <a:buNone/>
            </a:pPr>
            <a:r>
              <a:rPr lang="en-US" sz="1200" dirty="0">
                <a:solidFill>
                  <a:srgbClr val="1F2328"/>
                </a:solidFill>
                <a:latin typeface="Calibri" pitchFamily="34" charset="0"/>
                <a:ea typeface="Calibri" pitchFamily="34" charset="-122"/>
                <a:cs typeface="Calibri" pitchFamily="34" charset="-120"/>
              </a:rPr>
              <a:t>Each square's temperature is weighted by how many people live there.</a:t>
            </a:r>
            <a:endParaRPr lang="en-US" sz="1350" dirty="0"/>
          </a:p>
          <a:p>
            <a:pPr indent="0" marL="0">
              <a:buNone/>
            </a:pPr>
            <a:endParaRPr lang="en-US" sz="1350" dirty="0"/>
          </a:p>
          <a:p>
            <a:pPr indent="0" marL="0">
              <a:buNone/>
            </a:pPr>
            <a:r>
              <a:rPr lang="en-US" sz="1200" dirty="0">
                <a:solidFill>
                  <a:srgbClr val="1F2328"/>
                </a:solidFill>
                <a:latin typeface="Calibri" pitchFamily="34" charset="0"/>
                <a:ea typeface="Calibri" pitchFamily="34" charset="-122"/>
                <a:cs typeface="Calibri" pitchFamily="34" charset="-120"/>
              </a:rPr>
              <a:t>Gap = people-weighted minus plain average.</a:t>
            </a:r>
            <a:endParaRPr lang="en-US" sz="1350" dirty="0"/>
          </a:p>
          <a:p>
            <a:pPr indent="0" marL="0">
              <a:buNone/>
            </a:pPr>
            <a:endParaRPr lang="en-US" sz="1350" dirty="0"/>
          </a:p>
          <a:p>
            <a:pPr indent="0" marL="0">
              <a:buNone/>
            </a:pPr>
            <a:r>
              <a:rPr lang="en-US" sz="1200" dirty="0">
                <a:solidFill>
                  <a:srgbClr val="1F2328"/>
                </a:solidFill>
                <a:latin typeface="Calibri" pitchFamily="34" charset="0"/>
                <a:ea typeface="Calibri" pitchFamily="34" charset="-122"/>
                <a:cs typeface="Calibri" pitchFamily="34" charset="-120"/>
              </a:rPr>
              <a:t>Gap &gt; 0: people live in hotter-than-average squares. Same urban squares and 30-square minimum as the cooling slope.</a:t>
            </a:r>
            <a:endParaRPr lang="en-US" sz="13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2011680" cy="237744"/>
          </a:xfrm>
          <a:prstGeom prst="rect">
            <a:avLst/>
          </a:prstGeom>
          <a:noFill/>
          <a:ln/>
        </p:spPr>
        <p:txBody>
          <a:bodyPr wrap="square" lIns="0" tIns="0" rIns="0" bIns="0" rtlCol="0" anchor="ctr"/>
          <a:lstStyle/>
          <a:p>
            <a:pPr indent="0" marL="0">
              <a:buNone/>
            </a:pPr>
            <a:r>
              <a:rPr lang="en-US" sz="900" b="1" spc="200" kern="0" dirty="0">
                <a:solidFill>
                  <a:srgbClr val="1F4D3A"/>
                </a:solidFill>
                <a:latin typeface="Calibri" pitchFamily="34" charset="0"/>
                <a:ea typeface="Calibri" pitchFamily="34" charset="-122"/>
                <a:cs typeface="Calibri" pitchFamily="34" charset="-120"/>
              </a:rPr>
              <a:t>RESULTS</a:t>
            </a:r>
            <a:endParaRPr lang="en-US" sz="900" dirty="0"/>
          </a:p>
        </p:txBody>
      </p:sp>
      <p:sp>
        <p:nvSpPr>
          <p:cNvPr id="3" name="Text 1"/>
          <p:cNvSpPr txBox="1"/>
          <p:nvPr/>
        </p:nvSpPr>
        <p:spPr>
          <a:xfrm>
            <a:off x="5943600" y="256032"/>
            <a:ext cx="2743200" cy="237744"/>
          </a:xfrm>
          <a:prstGeom prst="rect">
            <a:avLst/>
          </a:prstGeom>
          <a:noFill/>
          <a:ln/>
        </p:spPr>
        <p:txBody>
          <a:bodyPr wrap="square" lIns="0" tIns="0" rIns="0" bIns="0" rtlCol="0" anchor="ctr"/>
          <a:lstStyle/>
          <a:p>
            <a:pPr algn="r" indent="0" marL="0">
              <a:buNone/>
            </a:pPr>
            <a:r>
              <a:rPr lang="en-US" sz="900" dirty="0">
                <a:solidFill>
                  <a:srgbClr val="5F6670"/>
                </a:solidFill>
                <a:latin typeface="Calibri" pitchFamily="34" charset="0"/>
                <a:ea typeface="Calibri" pitchFamily="34" charset="-122"/>
                <a:cs typeface="Calibri" pitchFamily="34" charset="-120"/>
              </a:rPr>
              <a:t>Presenter: Role 3</a:t>
            </a:r>
            <a:endParaRPr lang="en-US" sz="900" dirty="0"/>
          </a:p>
        </p:txBody>
      </p:sp>
      <p:sp>
        <p:nvSpPr>
          <p:cNvPr id="4" name="Text 2"/>
          <p:cNvSpPr txBox="1"/>
          <p:nvPr/>
        </p:nvSpPr>
        <p:spPr>
          <a:xfrm>
            <a:off x="457200" y="502920"/>
            <a:ext cx="8229600" cy="685800"/>
          </a:xfrm>
          <a:prstGeom prst="rect">
            <a:avLst/>
          </a:prstGeom>
          <a:noFill/>
          <a:ln/>
        </p:spPr>
        <p:txBody>
          <a:bodyPr wrap="square" lIns="0" tIns="0" rIns="0" bIns="0" rtlCol="0" anchor="t">
            <a:normAutofit/>
          </a:bodyPr>
          <a:lstStyle/>
          <a:p>
            <a:pPr indent="0" marL="0">
              <a:buNone/>
            </a:pPr>
            <a:r>
              <a:rPr lang="en-US" sz="2000" b="1" dirty="0">
                <a:solidFill>
                  <a:srgbClr val="1F2328"/>
                </a:solidFill>
                <a:latin typeface="Cambria" pitchFamily="34" charset="0"/>
                <a:ea typeface="Cambria" pitchFamily="34" charset="-122"/>
                <a:cs typeface="Cambria" pitchFamily="34" charset="-120"/>
              </a:rPr>
              <a:t>Pilot: greener squares are cooler by day in both a desert city and a wet one</a:t>
            </a:r>
            <a:endParaRPr lang="en-US" sz="2000" dirty="0"/>
          </a:p>
        </p:txBody>
      </p:sp>
      <p:pic>
        <p:nvPicPr>
          <p:cNvPr id="5" name="Image 0" descr="A_pilot_scatter.png">    </p:cNvPr>
          <p:cNvPicPr>
            <a:picLocks noChangeAspect="1"/>
          </p:cNvPicPr>
          <p:nvPr/>
        </p:nvPicPr>
        <p:blipFill>
          <a:blip r:embed="rId1"/>
          <a:stretch>
            <a:fillRect/>
          </a:stretch>
        </p:blipFill>
        <p:spPr>
          <a:xfrm>
            <a:off x="561828" y="1234440"/>
            <a:ext cx="4271304" cy="3474720"/>
          </a:xfrm>
          <a:prstGeom prst="rect">
            <a:avLst/>
          </a:prstGeom>
        </p:spPr>
      </p:pic>
      <p:sp>
        <p:nvSpPr>
          <p:cNvPr id="6" name="Text 3"/>
          <p:cNvSpPr txBox="1"/>
          <p:nvPr/>
        </p:nvSpPr>
        <p:spPr>
          <a:xfrm>
            <a:off x="5257800" y="1280160"/>
            <a:ext cx="3429000" cy="502920"/>
          </a:xfrm>
          <a:prstGeom prst="rect">
            <a:avLst/>
          </a:prstGeom>
          <a:noFill/>
          <a:ln/>
        </p:spPr>
        <p:txBody>
          <a:bodyPr wrap="square" lIns="0" tIns="0" rIns="0" bIns="0" rtlCol="0" anchor="b"/>
          <a:lstStyle/>
          <a:p>
            <a:pPr indent="0" marL="0">
              <a:buNone/>
            </a:pPr>
            <a:r>
              <a:rPr lang="en-US" sz="2600" b="1" dirty="0">
                <a:solidFill>
                  <a:srgbClr val="1F4D3A"/>
                </a:solidFill>
                <a:latin typeface="Cambria" pitchFamily="34" charset="0"/>
                <a:ea typeface="Cambria" pitchFamily="34" charset="-122"/>
                <a:cs typeface="Cambria" pitchFamily="34" charset="-120"/>
              </a:rPr>
              <a:t>−1.32 °C</a:t>
            </a:r>
            <a:endParaRPr lang="en-US" sz="2600" dirty="0"/>
          </a:p>
        </p:txBody>
      </p:sp>
      <p:sp>
        <p:nvSpPr>
          <p:cNvPr id="7" name="Text 4"/>
          <p:cNvSpPr txBox="1"/>
          <p:nvPr/>
        </p:nvSpPr>
        <p:spPr>
          <a:xfrm>
            <a:off x="5257800" y="1801368"/>
            <a:ext cx="3429000" cy="548640"/>
          </a:xfrm>
          <a:prstGeom prst="rect">
            <a:avLst/>
          </a:prstGeom>
          <a:noFill/>
          <a:ln/>
        </p:spPr>
        <p:txBody>
          <a:bodyPr wrap="square" lIns="0" tIns="0" rIns="0" bIns="0" rtlCol="0" anchor="t">
            <a:normAutofit/>
          </a:bodyPr>
          <a:lstStyle/>
          <a:p>
            <a:pPr indent="0" marL="0">
              <a:buNone/>
            </a:pPr>
            <a:r>
              <a:rPr lang="en-US" sz="1050" dirty="0">
                <a:solidFill>
                  <a:srgbClr val="5F6670"/>
                </a:solidFill>
                <a:latin typeface="Calibri" pitchFamily="34" charset="0"/>
                <a:ea typeface="Calibri" pitchFamily="34" charset="-122"/>
                <a:cs typeface="Calibri" pitchFamily="34" charset="-120"/>
              </a:rPr>
              <a:t>Jodhpur (desert), per 0.1 NDVI by day · 95%: −1.98 to −0.67</a:t>
            </a:r>
            <a:endParaRPr lang="en-US" sz="1050" dirty="0"/>
          </a:p>
        </p:txBody>
      </p:sp>
      <p:sp>
        <p:nvSpPr>
          <p:cNvPr id="8" name="Text 5"/>
          <p:cNvSpPr txBox="1"/>
          <p:nvPr/>
        </p:nvSpPr>
        <p:spPr>
          <a:xfrm>
            <a:off x="5257800" y="2331720"/>
            <a:ext cx="3429000" cy="502920"/>
          </a:xfrm>
          <a:prstGeom prst="rect">
            <a:avLst/>
          </a:prstGeom>
          <a:noFill/>
          <a:ln/>
        </p:spPr>
        <p:txBody>
          <a:bodyPr wrap="square" lIns="0" tIns="0" rIns="0" bIns="0" rtlCol="0" anchor="b"/>
          <a:lstStyle/>
          <a:p>
            <a:pPr indent="0" marL="0">
              <a:buNone/>
            </a:pPr>
            <a:r>
              <a:rPr lang="en-US" sz="2600" b="1" dirty="0">
                <a:solidFill>
                  <a:srgbClr val="1F4D3A"/>
                </a:solidFill>
                <a:latin typeface="Cambria" pitchFamily="34" charset="0"/>
                <a:ea typeface="Cambria" pitchFamily="34" charset="-122"/>
                <a:cs typeface="Cambria" pitchFamily="34" charset="-120"/>
              </a:rPr>
              <a:t>−1.04 °C</a:t>
            </a:r>
            <a:endParaRPr lang="en-US" sz="2600" dirty="0"/>
          </a:p>
        </p:txBody>
      </p:sp>
      <p:sp>
        <p:nvSpPr>
          <p:cNvPr id="9" name="Text 6"/>
          <p:cNvSpPr txBox="1"/>
          <p:nvPr/>
        </p:nvSpPr>
        <p:spPr>
          <a:xfrm>
            <a:off x="5257800" y="2852928"/>
            <a:ext cx="3429000" cy="548640"/>
          </a:xfrm>
          <a:prstGeom prst="rect">
            <a:avLst/>
          </a:prstGeom>
          <a:noFill/>
          <a:ln/>
        </p:spPr>
        <p:txBody>
          <a:bodyPr wrap="square" lIns="0" tIns="0" rIns="0" bIns="0" rtlCol="0" anchor="t">
            <a:normAutofit/>
          </a:bodyPr>
          <a:lstStyle/>
          <a:p>
            <a:pPr indent="0" marL="0">
              <a:buNone/>
            </a:pPr>
            <a:r>
              <a:rPr lang="en-US" sz="1050" dirty="0">
                <a:solidFill>
                  <a:srgbClr val="5F6670"/>
                </a:solidFill>
                <a:latin typeface="Calibri" pitchFamily="34" charset="0"/>
                <a:ea typeface="Calibri" pitchFamily="34" charset="-122"/>
                <a:cs typeface="Calibri" pitchFamily="34" charset="-120"/>
              </a:rPr>
              <a:t>Kochi (wet), per 0.1 NDVI by day · 95%: −1.57 to −0.51</a:t>
            </a:r>
            <a:endParaRPr lang="en-US" sz="1050" dirty="0"/>
          </a:p>
        </p:txBody>
      </p:sp>
      <p:sp>
        <p:nvSpPr>
          <p:cNvPr id="10" name="Text 7"/>
          <p:cNvSpPr txBox="1"/>
          <p:nvPr/>
        </p:nvSpPr>
        <p:spPr>
          <a:xfrm>
            <a:off x="5257800" y="3383280"/>
            <a:ext cx="3429000" cy="502920"/>
          </a:xfrm>
          <a:prstGeom prst="rect">
            <a:avLst/>
          </a:prstGeom>
          <a:noFill/>
          <a:ln/>
        </p:spPr>
        <p:txBody>
          <a:bodyPr wrap="square" lIns="0" tIns="0" rIns="0" bIns="0" rtlCol="0" anchor="b"/>
          <a:lstStyle/>
          <a:p>
            <a:pPr indent="0" marL="0">
              <a:buNone/>
            </a:pPr>
            <a:r>
              <a:rPr lang="en-US" sz="2600" b="1" dirty="0">
                <a:solidFill>
                  <a:srgbClr val="C8640A"/>
                </a:solidFill>
                <a:latin typeface="Cambria" pitchFamily="34" charset="0"/>
                <a:ea typeface="Cambria" pitchFamily="34" charset="-122"/>
                <a:cs typeface="Cambria" pitchFamily="34" charset="-120"/>
              </a:rPr>
              <a:t>+0.62 °C</a:t>
            </a:r>
            <a:endParaRPr lang="en-US" sz="2600" dirty="0"/>
          </a:p>
        </p:txBody>
      </p:sp>
      <p:sp>
        <p:nvSpPr>
          <p:cNvPr id="11" name="Text 8"/>
          <p:cNvSpPr txBox="1"/>
          <p:nvPr/>
        </p:nvSpPr>
        <p:spPr>
          <a:xfrm>
            <a:off x="5257800" y="3904488"/>
            <a:ext cx="3429000" cy="548640"/>
          </a:xfrm>
          <a:prstGeom prst="rect">
            <a:avLst/>
          </a:prstGeom>
          <a:noFill/>
          <a:ln/>
        </p:spPr>
        <p:txBody>
          <a:bodyPr wrap="square" lIns="0" tIns="0" rIns="0" bIns="0" rtlCol="0" anchor="t">
            <a:normAutofit/>
          </a:bodyPr>
          <a:lstStyle/>
          <a:p>
            <a:pPr indent="0" marL="0">
              <a:buNone/>
            </a:pPr>
            <a:r>
              <a:rPr lang="en-US" sz="1050" dirty="0">
                <a:solidFill>
                  <a:srgbClr val="5F6670"/>
                </a:solidFill>
                <a:latin typeface="Calibri" pitchFamily="34" charset="0"/>
                <a:ea typeface="Calibri" pitchFamily="34" charset="-122"/>
                <a:cs typeface="Calibri" pitchFamily="34" charset="-120"/>
              </a:rPr>
              <a:t>Jodhpur at night: greener is warmer (only once built-up is controlled)</a:t>
            </a:r>
            <a:endParaRPr lang="en-US" sz="1050" dirty="0"/>
          </a:p>
        </p:txBody>
      </p:sp>
      <p:sp>
        <p:nvSpPr>
          <p:cNvPr id="12" name="Text 9"/>
          <p:cNvSpPr txBox="1"/>
          <p:nvPr/>
        </p:nvSpPr>
        <p:spPr>
          <a:xfrm>
            <a:off x="457200" y="4796028"/>
            <a:ext cx="8229600" cy="219456"/>
          </a:xfrm>
          <a:prstGeom prst="rect">
            <a:avLst/>
          </a:prstGeom>
          <a:noFill/>
          <a:ln/>
        </p:spPr>
        <p:txBody>
          <a:bodyPr wrap="square" lIns="0" tIns="0" rIns="0" bIns="0" rtlCol="0" anchor="ctr"/>
          <a:lstStyle/>
          <a:p>
            <a:pPr indent="0" marL="0">
              <a:buNone/>
            </a:pPr>
            <a:r>
              <a:rPr lang="en-US" sz="850" i="1" dirty="0">
                <a:solidFill>
                  <a:srgbClr val="5F6670"/>
                </a:solidFill>
                <a:latin typeface="Calibri" pitchFamily="34" charset="0"/>
                <a:ea typeface="Calibri" pitchFamily="34" charset="-122"/>
                <a:cs typeface="Calibri" pitchFamily="34" charset="-120"/>
              </a:rPr>
              <a:t>Pilot spec (built-up control only). Final spec with elevation and water: Jodhpur −1.45, Kochi −1.90. cooling_efficiency.csv</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2011680" cy="237744"/>
          </a:xfrm>
          <a:prstGeom prst="rect">
            <a:avLst/>
          </a:prstGeom>
          <a:noFill/>
          <a:ln/>
        </p:spPr>
        <p:txBody>
          <a:bodyPr wrap="square" lIns="0" tIns="0" rIns="0" bIns="0" rtlCol="0" anchor="ctr"/>
          <a:lstStyle/>
          <a:p>
            <a:pPr indent="0" marL="0">
              <a:buNone/>
            </a:pPr>
            <a:r>
              <a:rPr lang="en-US" sz="900" b="1" spc="200" kern="0" dirty="0">
                <a:solidFill>
                  <a:srgbClr val="1F4D3A"/>
                </a:solidFill>
                <a:latin typeface="Calibri" pitchFamily="34" charset="0"/>
                <a:ea typeface="Calibri" pitchFamily="34" charset="-122"/>
                <a:cs typeface="Calibri" pitchFamily="34" charset="-120"/>
              </a:rPr>
              <a:t>RESULTS</a:t>
            </a:r>
            <a:endParaRPr lang="en-US" sz="900" dirty="0"/>
          </a:p>
        </p:txBody>
      </p:sp>
      <p:sp>
        <p:nvSpPr>
          <p:cNvPr id="3" name="Text 1"/>
          <p:cNvSpPr txBox="1"/>
          <p:nvPr/>
        </p:nvSpPr>
        <p:spPr>
          <a:xfrm>
            <a:off x="5943600" y="256032"/>
            <a:ext cx="2743200" cy="237744"/>
          </a:xfrm>
          <a:prstGeom prst="rect">
            <a:avLst/>
          </a:prstGeom>
          <a:noFill/>
          <a:ln/>
        </p:spPr>
        <p:txBody>
          <a:bodyPr wrap="square" lIns="0" tIns="0" rIns="0" bIns="0" rtlCol="0" anchor="ctr"/>
          <a:lstStyle/>
          <a:p>
            <a:pPr algn="r" indent="0" marL="0">
              <a:buNone/>
            </a:pPr>
            <a:r>
              <a:rPr lang="en-US" sz="900" dirty="0">
                <a:solidFill>
                  <a:srgbClr val="5F6670"/>
                </a:solidFill>
                <a:latin typeface="Calibri" pitchFamily="34" charset="0"/>
                <a:ea typeface="Calibri" pitchFamily="34" charset="-122"/>
                <a:cs typeface="Calibri" pitchFamily="34" charset="-120"/>
              </a:rPr>
              <a:t>Presenter: Role 2</a:t>
            </a:r>
            <a:endParaRPr lang="en-US" sz="900" dirty="0"/>
          </a:p>
        </p:txBody>
      </p:sp>
      <p:sp>
        <p:nvSpPr>
          <p:cNvPr id="4" name="Text 2"/>
          <p:cNvSpPr txBox="1"/>
          <p:nvPr/>
        </p:nvSpPr>
        <p:spPr>
          <a:xfrm>
            <a:off x="457200" y="502920"/>
            <a:ext cx="8229600" cy="685800"/>
          </a:xfrm>
          <a:prstGeom prst="rect">
            <a:avLst/>
          </a:prstGeom>
          <a:noFill/>
          <a:ln/>
        </p:spPr>
        <p:txBody>
          <a:bodyPr wrap="square" lIns="0" tIns="0" rIns="0" bIns="0" rtlCol="0" anchor="t">
            <a:normAutofit/>
          </a:bodyPr>
          <a:lstStyle/>
          <a:p>
            <a:pPr indent="0" marL="0">
              <a:buNone/>
            </a:pPr>
            <a:r>
              <a:rPr lang="en-US" sz="2000" b="1" dirty="0">
                <a:solidFill>
                  <a:srgbClr val="1F2328"/>
                </a:solidFill>
                <a:latin typeface="Cambria" pitchFamily="34" charset="0"/>
                <a:ea typeface="Cambria" pitchFamily="34" charset="-122"/>
                <a:cs typeface="Cambria" pitchFamily="34" charset="-120"/>
              </a:rPr>
              <a:t>By day, cooling does not depend on rainfall; at night, wetter cities cool more</a:t>
            </a:r>
            <a:endParaRPr lang="en-US" sz="2000" dirty="0"/>
          </a:p>
        </p:txBody>
      </p:sp>
      <p:pic>
        <p:nvPicPr>
          <p:cNvPr id="5" name="Image 0" descr="D_ce_vs_rain.png">    </p:cNvPr>
          <p:cNvPicPr>
            <a:picLocks noChangeAspect="1"/>
          </p:cNvPicPr>
          <p:nvPr/>
        </p:nvPicPr>
        <p:blipFill>
          <a:blip r:embed="rId1"/>
          <a:stretch>
            <a:fillRect/>
          </a:stretch>
        </p:blipFill>
        <p:spPr>
          <a:xfrm>
            <a:off x="457200" y="1258321"/>
            <a:ext cx="5943600" cy="3426958"/>
          </a:xfrm>
          <a:prstGeom prst="rect">
            <a:avLst/>
          </a:prstGeom>
        </p:spPr>
      </p:pic>
      <p:sp>
        <p:nvSpPr>
          <p:cNvPr id="6" name="Text 3"/>
          <p:cNvSpPr txBox="1"/>
          <p:nvPr/>
        </p:nvSpPr>
        <p:spPr>
          <a:xfrm>
            <a:off x="6583680" y="1325880"/>
            <a:ext cx="2103120" cy="502920"/>
          </a:xfrm>
          <a:prstGeom prst="rect">
            <a:avLst/>
          </a:prstGeom>
          <a:noFill/>
          <a:ln/>
        </p:spPr>
        <p:txBody>
          <a:bodyPr wrap="square" lIns="0" tIns="0" rIns="0" bIns="0" rtlCol="0" anchor="b"/>
          <a:lstStyle/>
          <a:p>
            <a:pPr indent="0" marL="0">
              <a:buNone/>
            </a:pPr>
            <a:r>
              <a:rPr lang="en-US" sz="2400" b="1" dirty="0">
                <a:solidFill>
                  <a:srgbClr val="5F6670"/>
                </a:solidFill>
                <a:latin typeface="Cambria" pitchFamily="34" charset="0"/>
                <a:ea typeface="Cambria" pitchFamily="34" charset="-122"/>
                <a:cs typeface="Cambria" pitchFamily="34" charset="-120"/>
              </a:rPr>
              <a:t>+0.17</a:t>
            </a:r>
            <a:endParaRPr lang="en-US" sz="2400" dirty="0"/>
          </a:p>
        </p:txBody>
      </p:sp>
      <p:sp>
        <p:nvSpPr>
          <p:cNvPr id="7" name="Text 4"/>
          <p:cNvSpPr txBox="1"/>
          <p:nvPr/>
        </p:nvSpPr>
        <p:spPr>
          <a:xfrm>
            <a:off x="6583680" y="1847088"/>
            <a:ext cx="2103120" cy="548640"/>
          </a:xfrm>
          <a:prstGeom prst="rect">
            <a:avLst/>
          </a:prstGeom>
          <a:noFill/>
          <a:ln/>
        </p:spPr>
        <p:txBody>
          <a:bodyPr wrap="square" lIns="0" tIns="0" rIns="0" bIns="0" rtlCol="0" anchor="t">
            <a:normAutofit/>
          </a:bodyPr>
          <a:lstStyle/>
          <a:p>
            <a:pPr indent="0" marL="0">
              <a:buNone/>
            </a:pPr>
            <a:r>
              <a:rPr lang="en-US" sz="1050" dirty="0">
                <a:solidFill>
                  <a:srgbClr val="5F6670"/>
                </a:solidFill>
                <a:latin typeface="Calibri" pitchFamily="34" charset="0"/>
                <a:ea typeface="Calibri" pitchFamily="34" charset="-122"/>
                <a:cs typeface="Calibri" pitchFamily="34" charset="-120"/>
              </a:rPr>
              <a:t>day, pre-monsoon, per 10× rain · 95% CI −0.73 to +1.07: no trend</a:t>
            </a:r>
            <a:endParaRPr lang="en-US" sz="1050" dirty="0"/>
          </a:p>
        </p:txBody>
      </p:sp>
      <p:sp>
        <p:nvSpPr>
          <p:cNvPr id="8" name="Text 5"/>
          <p:cNvSpPr txBox="1"/>
          <p:nvPr/>
        </p:nvSpPr>
        <p:spPr>
          <a:xfrm>
            <a:off x="6583680" y="2377440"/>
            <a:ext cx="2103120" cy="502920"/>
          </a:xfrm>
          <a:prstGeom prst="rect">
            <a:avLst/>
          </a:prstGeom>
          <a:noFill/>
          <a:ln/>
        </p:spPr>
        <p:txBody>
          <a:bodyPr wrap="square" lIns="0" tIns="0" rIns="0" bIns="0" rtlCol="0" anchor="b"/>
          <a:lstStyle/>
          <a:p>
            <a:pPr indent="0" marL="0">
              <a:buNone/>
            </a:pPr>
            <a:r>
              <a:rPr lang="en-US" sz="2400" b="1" dirty="0">
                <a:solidFill>
                  <a:srgbClr val="1F4D3A"/>
                </a:solidFill>
                <a:latin typeface="Cambria" pitchFamily="34" charset="0"/>
                <a:ea typeface="Cambria" pitchFamily="34" charset="-122"/>
                <a:cs typeface="Cambria" pitchFamily="34" charset="-120"/>
              </a:rPr>
              <a:t>−1.16</a:t>
            </a:r>
            <a:endParaRPr lang="en-US" sz="2400" dirty="0"/>
          </a:p>
        </p:txBody>
      </p:sp>
      <p:sp>
        <p:nvSpPr>
          <p:cNvPr id="9" name="Text 6"/>
          <p:cNvSpPr txBox="1"/>
          <p:nvPr/>
        </p:nvSpPr>
        <p:spPr>
          <a:xfrm>
            <a:off x="6583680" y="2898648"/>
            <a:ext cx="2103120" cy="548640"/>
          </a:xfrm>
          <a:prstGeom prst="rect">
            <a:avLst/>
          </a:prstGeom>
          <a:noFill/>
          <a:ln/>
        </p:spPr>
        <p:txBody>
          <a:bodyPr wrap="square" lIns="0" tIns="0" rIns="0" bIns="0" rtlCol="0" anchor="t">
            <a:normAutofit/>
          </a:bodyPr>
          <a:lstStyle/>
          <a:p>
            <a:pPr indent="0" marL="0">
              <a:buNone/>
            </a:pPr>
            <a:r>
              <a:rPr lang="en-US" sz="1050" dirty="0">
                <a:solidFill>
                  <a:srgbClr val="5F6670"/>
                </a:solidFill>
                <a:latin typeface="Calibri" pitchFamily="34" charset="0"/>
                <a:ea typeface="Calibri" pitchFamily="34" charset="-122"/>
                <a:cs typeface="Calibri" pitchFamily="34" charset="-120"/>
              </a:rPr>
              <a:t>night, pre-monsoon, per 10× rain (135 cities): wetter cools more</a:t>
            </a:r>
            <a:endParaRPr lang="en-US" sz="1050" dirty="0"/>
          </a:p>
        </p:txBody>
      </p:sp>
      <p:sp>
        <p:nvSpPr>
          <p:cNvPr id="10" name="Text 7"/>
          <p:cNvSpPr txBox="1"/>
          <p:nvPr/>
        </p:nvSpPr>
        <p:spPr>
          <a:xfrm>
            <a:off x="6583680" y="3429000"/>
            <a:ext cx="2103120" cy="502920"/>
          </a:xfrm>
          <a:prstGeom prst="rect">
            <a:avLst/>
          </a:prstGeom>
          <a:noFill/>
          <a:ln/>
        </p:spPr>
        <p:txBody>
          <a:bodyPr wrap="square" lIns="0" tIns="0" rIns="0" bIns="0" rtlCol="0" anchor="b"/>
          <a:lstStyle/>
          <a:p>
            <a:pPr indent="0" marL="0">
              <a:buNone/>
            </a:pPr>
            <a:r>
              <a:rPr lang="en-US" sz="2400" b="1" dirty="0">
                <a:solidFill>
                  <a:srgbClr val="1F4D3A"/>
                </a:solidFill>
                <a:latin typeface="Cambria" pitchFamily="34" charset="0"/>
                <a:ea typeface="Cambria" pitchFamily="34" charset="-122"/>
                <a:cs typeface="Cambria" pitchFamily="34" charset="-120"/>
              </a:rPr>
              <a:t>−0.98</a:t>
            </a:r>
            <a:endParaRPr lang="en-US" sz="2400" dirty="0"/>
          </a:p>
        </p:txBody>
      </p:sp>
      <p:sp>
        <p:nvSpPr>
          <p:cNvPr id="11" name="Text 8"/>
          <p:cNvSpPr txBox="1"/>
          <p:nvPr/>
        </p:nvSpPr>
        <p:spPr>
          <a:xfrm>
            <a:off x="6583680" y="3950208"/>
            <a:ext cx="2103120" cy="548640"/>
          </a:xfrm>
          <a:prstGeom prst="rect">
            <a:avLst/>
          </a:prstGeom>
          <a:noFill/>
          <a:ln/>
        </p:spPr>
        <p:txBody>
          <a:bodyPr wrap="square" lIns="0" tIns="0" rIns="0" bIns="0" rtlCol="0" anchor="t">
            <a:normAutofit/>
          </a:bodyPr>
          <a:lstStyle/>
          <a:p>
            <a:pPr indent="0" marL="0">
              <a:buNone/>
            </a:pPr>
            <a:r>
              <a:rPr lang="en-US" sz="1050" dirty="0">
                <a:solidFill>
                  <a:srgbClr val="5F6670"/>
                </a:solidFill>
                <a:latin typeface="Calibri" pitchFamily="34" charset="0"/>
                <a:ea typeface="Calibri" pitchFamily="34" charset="-122"/>
                <a:cs typeface="Calibri" pitchFamily="34" charset="-120"/>
              </a:rPr>
              <a:t>night, post-monsoon (141 cities)</a:t>
            </a:r>
            <a:endParaRPr lang="en-US" sz="1050" dirty="0"/>
          </a:p>
        </p:txBody>
      </p:sp>
      <p:sp>
        <p:nvSpPr>
          <p:cNvPr id="12" name="Text 9"/>
          <p:cNvSpPr txBox="1"/>
          <p:nvPr/>
        </p:nvSpPr>
        <p:spPr>
          <a:xfrm>
            <a:off x="457200" y="4796028"/>
            <a:ext cx="8229600" cy="219456"/>
          </a:xfrm>
          <a:prstGeom prst="rect">
            <a:avLst/>
          </a:prstGeom>
          <a:noFill/>
          <a:ln/>
        </p:spPr>
        <p:txBody>
          <a:bodyPr wrap="square" lIns="0" tIns="0" rIns="0" bIns="0" rtlCol="0" anchor="ctr"/>
          <a:lstStyle/>
          <a:p>
            <a:pPr indent="0" marL="0">
              <a:buNone/>
            </a:pPr>
            <a:r>
              <a:rPr lang="en-US" sz="850" i="1" dirty="0">
                <a:solidFill>
                  <a:srgbClr val="5F6670"/>
                </a:solidFill>
                <a:latin typeface="Calibri" pitchFamily="34" charset="0"/>
                <a:ea typeface="Calibri" pitchFamily="34" charset="-122"/>
                <a:cs typeface="Calibri" pitchFamily="34" charset="-120"/>
              </a:rPr>
              <a:t>Top row day, bottom row night; one column per season; 202 cities by day. main_result_regressions.csv</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2011680" cy="237744"/>
          </a:xfrm>
          <a:prstGeom prst="rect">
            <a:avLst/>
          </a:prstGeom>
          <a:noFill/>
          <a:ln/>
        </p:spPr>
        <p:txBody>
          <a:bodyPr wrap="square" lIns="0" tIns="0" rIns="0" bIns="0" rtlCol="0" anchor="ctr"/>
          <a:lstStyle/>
          <a:p>
            <a:pPr indent="0" marL="0">
              <a:buNone/>
            </a:pPr>
            <a:r>
              <a:rPr lang="en-US" sz="900" b="1" spc="200" kern="0" dirty="0">
                <a:solidFill>
                  <a:srgbClr val="1F4D3A"/>
                </a:solidFill>
                <a:latin typeface="Calibri" pitchFamily="34" charset="0"/>
                <a:ea typeface="Calibri" pitchFamily="34" charset="-122"/>
                <a:cs typeface="Calibri" pitchFamily="34" charset="-120"/>
              </a:rPr>
              <a:t>RESULTS</a:t>
            </a:r>
            <a:endParaRPr lang="en-US" sz="900" dirty="0"/>
          </a:p>
        </p:txBody>
      </p:sp>
      <p:sp>
        <p:nvSpPr>
          <p:cNvPr id="3" name="Text 1"/>
          <p:cNvSpPr txBox="1"/>
          <p:nvPr/>
        </p:nvSpPr>
        <p:spPr>
          <a:xfrm>
            <a:off x="5943600" y="256032"/>
            <a:ext cx="2743200" cy="237744"/>
          </a:xfrm>
          <a:prstGeom prst="rect">
            <a:avLst/>
          </a:prstGeom>
          <a:noFill/>
          <a:ln/>
        </p:spPr>
        <p:txBody>
          <a:bodyPr wrap="square" lIns="0" tIns="0" rIns="0" bIns="0" rtlCol="0" anchor="ctr"/>
          <a:lstStyle/>
          <a:p>
            <a:pPr algn="r" indent="0" marL="0">
              <a:buNone/>
            </a:pPr>
            <a:r>
              <a:rPr lang="en-US" sz="900" dirty="0">
                <a:solidFill>
                  <a:srgbClr val="5F6670"/>
                </a:solidFill>
                <a:latin typeface="Calibri" pitchFamily="34" charset="0"/>
                <a:ea typeface="Calibri" pitchFamily="34" charset="-122"/>
                <a:cs typeface="Calibri" pitchFamily="34" charset="-120"/>
              </a:rPr>
              <a:t>Presenter: Role 2</a:t>
            </a:r>
            <a:endParaRPr lang="en-US" sz="900" dirty="0"/>
          </a:p>
        </p:txBody>
      </p:sp>
      <p:sp>
        <p:nvSpPr>
          <p:cNvPr id="4" name="Text 2"/>
          <p:cNvSpPr txBox="1"/>
          <p:nvPr/>
        </p:nvSpPr>
        <p:spPr>
          <a:xfrm>
            <a:off x="457200" y="502920"/>
            <a:ext cx="8229600" cy="685800"/>
          </a:xfrm>
          <a:prstGeom prst="rect">
            <a:avLst/>
          </a:prstGeom>
          <a:noFill/>
          <a:ln/>
        </p:spPr>
        <p:txBody>
          <a:bodyPr wrap="square" lIns="0" tIns="0" rIns="0" bIns="0" rtlCol="0" anchor="t">
            <a:normAutofit/>
          </a:bodyPr>
          <a:lstStyle/>
          <a:p>
            <a:pPr indent="0" marL="0">
              <a:buNone/>
            </a:pPr>
            <a:r>
              <a:rPr lang="en-US" sz="2000" b="1" dirty="0">
                <a:solidFill>
                  <a:srgbClr val="1F2328"/>
                </a:solidFill>
                <a:latin typeface="Cambria" pitchFamily="34" charset="0"/>
                <a:ea typeface="Cambria" pitchFamily="34" charset="-122"/>
                <a:cs typeface="Cambria" pitchFamily="34" charset="-120"/>
              </a:rPr>
              <a:t>Greener is cooler by day almost everywhere in India</a:t>
            </a:r>
            <a:endParaRPr lang="en-US" sz="2000" dirty="0"/>
          </a:p>
        </p:txBody>
      </p:sp>
      <p:pic>
        <p:nvPicPr>
          <p:cNvPr id="5" name="Image 0" descr="D_ce_map_pre_day.png">    </p:cNvPr>
          <p:cNvPicPr>
            <a:picLocks noChangeAspect="1"/>
          </p:cNvPicPr>
          <p:nvPr/>
        </p:nvPicPr>
        <p:blipFill>
          <a:blip r:embed="rId1"/>
          <a:stretch>
            <a:fillRect/>
          </a:stretch>
        </p:blipFill>
        <p:spPr>
          <a:xfrm>
            <a:off x="751700" y="1188720"/>
            <a:ext cx="3617239" cy="3520440"/>
          </a:xfrm>
          <a:prstGeom prst="rect">
            <a:avLst/>
          </a:prstGeom>
        </p:spPr>
      </p:pic>
      <p:sp>
        <p:nvSpPr>
          <p:cNvPr id="6" name="Text 3"/>
          <p:cNvSpPr txBox="1"/>
          <p:nvPr/>
        </p:nvSpPr>
        <p:spPr>
          <a:xfrm>
            <a:off x="5120640" y="1325880"/>
            <a:ext cx="3566160" cy="502920"/>
          </a:xfrm>
          <a:prstGeom prst="rect">
            <a:avLst/>
          </a:prstGeom>
          <a:noFill/>
          <a:ln/>
        </p:spPr>
        <p:txBody>
          <a:bodyPr wrap="square" lIns="0" tIns="0" rIns="0" bIns="0" rtlCol="0" anchor="b"/>
          <a:lstStyle/>
          <a:p>
            <a:pPr indent="0" marL="0">
              <a:buNone/>
            </a:pPr>
            <a:r>
              <a:rPr lang="en-US" sz="2600" b="1" dirty="0">
                <a:solidFill>
                  <a:srgbClr val="1F4D3A"/>
                </a:solidFill>
                <a:latin typeface="Cambria" pitchFamily="34" charset="0"/>
                <a:ea typeface="Cambria" pitchFamily="34" charset="-122"/>
                <a:cs typeface="Cambria" pitchFamily="34" charset="-120"/>
              </a:rPr>
              <a:t>151 of 202</a:t>
            </a:r>
            <a:endParaRPr lang="en-US" sz="2600" dirty="0"/>
          </a:p>
        </p:txBody>
      </p:sp>
      <p:sp>
        <p:nvSpPr>
          <p:cNvPr id="7" name="Text 4"/>
          <p:cNvSpPr txBox="1"/>
          <p:nvPr/>
        </p:nvSpPr>
        <p:spPr>
          <a:xfrm>
            <a:off x="5120640" y="1847088"/>
            <a:ext cx="3566160" cy="548640"/>
          </a:xfrm>
          <a:prstGeom prst="rect">
            <a:avLst/>
          </a:prstGeom>
          <a:noFill/>
          <a:ln/>
        </p:spPr>
        <p:txBody>
          <a:bodyPr wrap="square" lIns="0" tIns="0" rIns="0" bIns="0" rtlCol="0" anchor="t">
            <a:normAutofit/>
          </a:bodyPr>
          <a:lstStyle/>
          <a:p>
            <a:pPr indent="0" marL="0">
              <a:buNone/>
            </a:pPr>
            <a:r>
              <a:rPr lang="en-US" sz="1050" dirty="0">
                <a:solidFill>
                  <a:srgbClr val="5F6670"/>
                </a:solidFill>
                <a:latin typeface="Calibri" pitchFamily="34" charset="0"/>
                <a:ea typeface="Calibri" pitchFamily="34" charset="-122"/>
                <a:cs typeface="Calibri" pitchFamily="34" charset="-120"/>
              </a:rPr>
              <a:t>cities (75%) cool significantly by day before the monsoon; 191 have a negative slope</a:t>
            </a:r>
            <a:endParaRPr lang="en-US" sz="1050" dirty="0"/>
          </a:p>
        </p:txBody>
      </p:sp>
      <p:sp>
        <p:nvSpPr>
          <p:cNvPr id="8" name="Text 5"/>
          <p:cNvSpPr txBox="1"/>
          <p:nvPr/>
        </p:nvSpPr>
        <p:spPr>
          <a:xfrm>
            <a:off x="5120640" y="2377440"/>
            <a:ext cx="3566160" cy="502920"/>
          </a:xfrm>
          <a:prstGeom prst="rect">
            <a:avLst/>
          </a:prstGeom>
          <a:noFill/>
          <a:ln/>
        </p:spPr>
        <p:txBody>
          <a:bodyPr wrap="square" lIns="0" tIns="0" rIns="0" bIns="0" rtlCol="0" anchor="b"/>
          <a:lstStyle/>
          <a:p>
            <a:pPr indent="0" marL="0">
              <a:buNone/>
            </a:pPr>
            <a:r>
              <a:rPr lang="en-US" sz="2600" b="1" dirty="0">
                <a:solidFill>
                  <a:srgbClr val="C8640A"/>
                </a:solidFill>
                <a:latin typeface="Cambria" pitchFamily="34" charset="0"/>
                <a:ea typeface="Cambria" pitchFamily="34" charset="-122"/>
                <a:cs typeface="Cambria" pitchFamily="34" charset="-120"/>
              </a:rPr>
              <a:t>2%</a:t>
            </a:r>
            <a:endParaRPr lang="en-US" sz="2600" dirty="0"/>
          </a:p>
        </p:txBody>
      </p:sp>
      <p:sp>
        <p:nvSpPr>
          <p:cNvPr id="9" name="Text 6"/>
          <p:cNvSpPr txBox="1"/>
          <p:nvPr/>
        </p:nvSpPr>
        <p:spPr>
          <a:xfrm>
            <a:off x="5120640" y="2898648"/>
            <a:ext cx="3566160" cy="548640"/>
          </a:xfrm>
          <a:prstGeom prst="rect">
            <a:avLst/>
          </a:prstGeom>
          <a:noFill/>
          <a:ln/>
        </p:spPr>
        <p:txBody>
          <a:bodyPr wrap="square" lIns="0" tIns="0" rIns="0" bIns="0" rtlCol="0" anchor="t">
            <a:normAutofit/>
          </a:bodyPr>
          <a:lstStyle/>
          <a:p>
            <a:pPr indent="0" marL="0">
              <a:buNone/>
            </a:pPr>
            <a:r>
              <a:rPr lang="en-US" sz="1050" dirty="0">
                <a:solidFill>
                  <a:srgbClr val="5F6670"/>
                </a:solidFill>
                <a:latin typeface="Calibri" pitchFamily="34" charset="0"/>
                <a:ea typeface="Calibri" pitchFamily="34" charset="-122"/>
                <a:cs typeface="Calibri" pitchFamily="34" charset="-120"/>
              </a:rPr>
              <a:t>significantly greener-is-warmer by day: rare and scattered, no region stands out</a:t>
            </a:r>
            <a:endParaRPr lang="en-US" sz="1050" dirty="0"/>
          </a:p>
        </p:txBody>
      </p:sp>
      <p:sp>
        <p:nvSpPr>
          <p:cNvPr id="10" name="Text 7"/>
          <p:cNvSpPr txBox="1"/>
          <p:nvPr/>
        </p:nvSpPr>
        <p:spPr>
          <a:xfrm>
            <a:off x="5120640" y="3429000"/>
            <a:ext cx="3566160" cy="502920"/>
          </a:xfrm>
          <a:prstGeom prst="rect">
            <a:avLst/>
          </a:prstGeom>
          <a:noFill/>
          <a:ln/>
        </p:spPr>
        <p:txBody>
          <a:bodyPr wrap="square" lIns="0" tIns="0" rIns="0" bIns="0" rtlCol="0" anchor="b"/>
          <a:lstStyle/>
          <a:p>
            <a:pPr indent="0" marL="0">
              <a:buNone/>
            </a:pPr>
            <a:r>
              <a:rPr lang="en-US" sz="2600" b="1" dirty="0">
                <a:solidFill>
                  <a:srgbClr val="5F6670"/>
                </a:solidFill>
                <a:latin typeface="Cambria" pitchFamily="34" charset="0"/>
                <a:ea typeface="Cambria" pitchFamily="34" charset="-122"/>
                <a:cs typeface="Cambria" pitchFamily="34" charset="-120"/>
              </a:rPr>
              <a:t>101</a:t>
            </a:r>
            <a:endParaRPr lang="en-US" sz="2600" dirty="0"/>
          </a:p>
        </p:txBody>
      </p:sp>
      <p:sp>
        <p:nvSpPr>
          <p:cNvPr id="11" name="Text 8"/>
          <p:cNvSpPr txBox="1"/>
          <p:nvPr/>
        </p:nvSpPr>
        <p:spPr>
          <a:xfrm>
            <a:off x="5120640" y="3950208"/>
            <a:ext cx="3566160" cy="548640"/>
          </a:xfrm>
          <a:prstGeom prst="rect">
            <a:avLst/>
          </a:prstGeom>
          <a:noFill/>
          <a:ln/>
        </p:spPr>
        <p:txBody>
          <a:bodyPr wrap="square" lIns="0" tIns="0" rIns="0" bIns="0" rtlCol="0" anchor="t">
            <a:normAutofit/>
          </a:bodyPr>
          <a:lstStyle/>
          <a:p>
            <a:pPr indent="0" marL="0">
              <a:buNone/>
            </a:pPr>
            <a:r>
              <a:rPr lang="en-US" sz="1050" dirty="0">
                <a:solidFill>
                  <a:srgbClr val="5F6670"/>
                </a:solidFill>
                <a:latin typeface="Calibri" pitchFamily="34" charset="0"/>
                <a:ea typeface="Calibri" pitchFamily="34" charset="-122"/>
                <a:cs typeface="Calibri" pitchFamily="34" charset="-120"/>
              </a:rPr>
              <a:t>cities too small for an estimate (fewer than 30 urban squares)</a:t>
            </a:r>
            <a:endParaRPr lang="en-US" sz="1050" dirty="0"/>
          </a:p>
        </p:txBody>
      </p:sp>
      <p:sp>
        <p:nvSpPr>
          <p:cNvPr id="12" name="Text 9"/>
          <p:cNvSpPr txBox="1"/>
          <p:nvPr/>
        </p:nvSpPr>
        <p:spPr>
          <a:xfrm>
            <a:off x="457200" y="4796028"/>
            <a:ext cx="8229600" cy="219456"/>
          </a:xfrm>
          <a:prstGeom prst="rect">
            <a:avLst/>
          </a:prstGeom>
          <a:noFill/>
          <a:ln/>
        </p:spPr>
        <p:txBody>
          <a:bodyPr wrap="square" lIns="0" tIns="0" rIns="0" bIns="0" rtlCol="0" anchor="ctr"/>
          <a:lstStyle/>
          <a:p>
            <a:pPr indent="0" marL="0">
              <a:buNone/>
            </a:pPr>
            <a:r>
              <a:rPr lang="en-US" sz="850" i="1" dirty="0">
                <a:solidFill>
                  <a:srgbClr val="5F6670"/>
                </a:solidFill>
                <a:latin typeface="Calibri" pitchFamily="34" charset="0"/>
                <a:ea typeface="Calibri" pitchFamily="34" charset="-122"/>
                <a:cs typeface="Calibri" pitchFamily="34" charset="-120"/>
              </a:rPr>
              <a:t>Blue = cooling, red = warming, hollow = not significant, size = population. Pre-monsoon, day. cooling_efficiency.csv</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2011680" cy="237744"/>
          </a:xfrm>
          <a:prstGeom prst="rect">
            <a:avLst/>
          </a:prstGeom>
          <a:noFill/>
          <a:ln/>
        </p:spPr>
        <p:txBody>
          <a:bodyPr wrap="square" lIns="0" tIns="0" rIns="0" bIns="0" rtlCol="0" anchor="ctr"/>
          <a:lstStyle/>
          <a:p>
            <a:pPr indent="0" marL="0">
              <a:buNone/>
            </a:pPr>
            <a:r>
              <a:rPr lang="en-US" sz="900" b="1" spc="200" kern="0" dirty="0">
                <a:solidFill>
                  <a:srgbClr val="1F4D3A"/>
                </a:solidFill>
                <a:latin typeface="Calibri" pitchFamily="34" charset="0"/>
                <a:ea typeface="Calibri" pitchFamily="34" charset="-122"/>
                <a:cs typeface="Calibri" pitchFamily="34" charset="-120"/>
              </a:rPr>
              <a:t>RESULTS</a:t>
            </a:r>
            <a:endParaRPr lang="en-US" sz="900" dirty="0"/>
          </a:p>
        </p:txBody>
      </p:sp>
      <p:sp>
        <p:nvSpPr>
          <p:cNvPr id="3" name="Text 1"/>
          <p:cNvSpPr txBox="1"/>
          <p:nvPr/>
        </p:nvSpPr>
        <p:spPr>
          <a:xfrm>
            <a:off x="5943600" y="256032"/>
            <a:ext cx="2743200" cy="237744"/>
          </a:xfrm>
          <a:prstGeom prst="rect">
            <a:avLst/>
          </a:prstGeom>
          <a:noFill/>
          <a:ln/>
        </p:spPr>
        <p:txBody>
          <a:bodyPr wrap="square" lIns="0" tIns="0" rIns="0" bIns="0" rtlCol="0" anchor="ctr"/>
          <a:lstStyle/>
          <a:p>
            <a:pPr algn="r" indent="0" marL="0">
              <a:buNone/>
            </a:pPr>
            <a:r>
              <a:rPr lang="en-US" sz="900" dirty="0">
                <a:solidFill>
                  <a:srgbClr val="5F6670"/>
                </a:solidFill>
                <a:latin typeface="Calibri" pitchFamily="34" charset="0"/>
                <a:ea typeface="Calibri" pitchFamily="34" charset="-122"/>
                <a:cs typeface="Calibri" pitchFamily="34" charset="-120"/>
              </a:rPr>
              <a:t>Presenter: Role 2</a:t>
            </a:r>
            <a:endParaRPr lang="en-US" sz="900" dirty="0"/>
          </a:p>
        </p:txBody>
      </p:sp>
      <p:sp>
        <p:nvSpPr>
          <p:cNvPr id="4" name="Text 2"/>
          <p:cNvSpPr txBox="1"/>
          <p:nvPr/>
        </p:nvSpPr>
        <p:spPr>
          <a:xfrm>
            <a:off x="457200" y="502920"/>
            <a:ext cx="8229600" cy="685800"/>
          </a:xfrm>
          <a:prstGeom prst="rect">
            <a:avLst/>
          </a:prstGeom>
          <a:noFill/>
          <a:ln/>
        </p:spPr>
        <p:txBody>
          <a:bodyPr wrap="square" lIns="0" tIns="0" rIns="0" bIns="0" rtlCol="0" anchor="t">
            <a:normAutofit/>
          </a:bodyPr>
          <a:lstStyle/>
          <a:p>
            <a:pPr indent="0" marL="0">
              <a:buNone/>
            </a:pPr>
            <a:r>
              <a:rPr lang="en-US" sz="2000" b="1" dirty="0">
                <a:solidFill>
                  <a:srgbClr val="1F2328"/>
                </a:solidFill>
                <a:latin typeface="Cambria" pitchFamily="34" charset="0"/>
                <a:ea typeface="Cambria" pitchFamily="34" charset="-122"/>
                <a:cs typeface="Cambria" pitchFamily="34" charset="-120"/>
              </a:rPr>
              <a:t>Dry Indian cities do not warm by day; their green squares warm at night</a:t>
            </a:r>
            <a:endParaRPr lang="en-US" sz="20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457200" y="1325880"/>
          <a:ext cx="5120640" cy="914400"/>
        </p:xfrm>
        <a:graphic>
          <a:graphicData uri="http://schemas.openxmlformats.org/drawingml/2006/table">
            <a:tbl>
              <a:tblPr/>
              <a:tblGrid>
                <a:gridCol w="1463040"/>
                <a:gridCol w="685800"/>
                <a:gridCol w="960120"/>
                <a:gridCol w="1051560"/>
                <a:gridCol w="960120"/>
              </a:tblGrid>
              <a:tr h="0">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Pre-monsoon</a:t>
                      </a:r>
                      <a:endParaRPr lang="en-US" sz="1150" dirty="0">
                        <a:latin typeface="Calibri" charset="0"/>
                        <a:ea typeface="Calibri" charset="0"/>
                        <a:cs typeface="Calibri" charset="0"/>
                      </a:endParaRPr>
                    </a:p>
                  </a:txBody>
                  <a:tcPr marL="76200" marR="76200" marT="38100" marB="38100" anchor="ctr">
                    <a:lnL w="6350" cap="flat" cmpd="sng" algn="ctr">
                      <a:solidFill>
                        <a:srgbClr val="D7DDD9"/>
                      </a:solidFill>
                      <a:prstDash val="solid"/>
                      <a:round/>
                      <a:headEnd type="none" w="med" len="med"/>
                      <a:tailEnd type="none" w="med" len="med"/>
                    </a:lnL>
                    <a:lnR w="6350" cap="flat" cmpd="sng" algn="ctr">
                      <a:solidFill>
                        <a:srgbClr val="D7DDD9"/>
                      </a:solidFill>
                      <a:prstDash val="solid"/>
                      <a:round/>
                      <a:headEnd type="none" w="med" len="med"/>
                      <a:tailEnd type="none" w="med" len="med"/>
                    </a:lnR>
                    <a:lnT w="6350" cap="flat" cmpd="sng" algn="ctr">
                      <a:solidFill>
                        <a:srgbClr val="D7DDD9"/>
                      </a:solidFill>
                      <a:prstDash val="solid"/>
                      <a:round/>
                      <a:headEnd type="none" w="med" len="med"/>
                      <a:tailEnd type="none" w="med" len="med"/>
                    </a:lnT>
                    <a:lnB w="6350" cap="flat" cmpd="sng" algn="ctr">
                      <a:solidFill>
                        <a:srgbClr val="D7DDD9"/>
                      </a:solidFill>
                      <a:prstDash val="solid"/>
                      <a:round/>
                      <a:headEnd type="none" w="med" len="med"/>
                      <a:tailEnd type="none" w="med" len="med"/>
                    </a:lnB>
                    <a:solidFill>
                      <a:srgbClr val="1F4D3A"/>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Cities</a:t>
                      </a:r>
                      <a:endParaRPr lang="en-US" sz="1150" dirty="0">
                        <a:latin typeface="Calibri" charset="0"/>
                        <a:ea typeface="Calibri" charset="0"/>
                        <a:cs typeface="Calibri" charset="0"/>
                      </a:endParaRPr>
                    </a:p>
                  </a:txBody>
                  <a:tcPr marL="76200" marR="76200" marT="38100" marB="38100" anchor="ctr">
                    <a:lnL w="6350" cap="flat" cmpd="sng" algn="ctr">
                      <a:solidFill>
                        <a:srgbClr val="D7DDD9"/>
                      </a:solidFill>
                      <a:prstDash val="solid"/>
                      <a:round/>
                      <a:headEnd type="none" w="med" len="med"/>
                      <a:tailEnd type="none" w="med" len="med"/>
                    </a:lnL>
                    <a:lnR w="6350" cap="flat" cmpd="sng" algn="ctr">
                      <a:solidFill>
                        <a:srgbClr val="D7DDD9"/>
                      </a:solidFill>
                      <a:prstDash val="solid"/>
                      <a:round/>
                      <a:headEnd type="none" w="med" len="med"/>
                      <a:tailEnd type="none" w="med" len="med"/>
                    </a:lnR>
                    <a:lnT w="6350" cap="flat" cmpd="sng" algn="ctr">
                      <a:solidFill>
                        <a:srgbClr val="D7DDD9"/>
                      </a:solidFill>
                      <a:prstDash val="solid"/>
                      <a:round/>
                      <a:headEnd type="none" w="med" len="med"/>
                      <a:tailEnd type="none" w="med" len="med"/>
                    </a:lnT>
                    <a:lnB w="6350" cap="flat" cmpd="sng" algn="ctr">
                      <a:solidFill>
                        <a:srgbClr val="D7DDD9"/>
                      </a:solidFill>
                      <a:prstDash val="solid"/>
                      <a:round/>
                      <a:headEnd type="none" w="med" len="med"/>
                      <a:tailEnd type="none" w="med" len="med"/>
                    </a:lnB>
                    <a:solidFill>
                      <a:srgbClr val="1F4D3A"/>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Median slope</a:t>
                      </a:r>
                      <a:endParaRPr lang="en-US" sz="1150" dirty="0">
                        <a:latin typeface="Calibri" charset="0"/>
                        <a:ea typeface="Calibri" charset="0"/>
                        <a:cs typeface="Calibri" charset="0"/>
                      </a:endParaRPr>
                    </a:p>
                  </a:txBody>
                  <a:tcPr marL="76200" marR="76200" marT="38100" marB="38100" anchor="ctr">
                    <a:lnL w="6350" cap="flat" cmpd="sng" algn="ctr">
                      <a:solidFill>
                        <a:srgbClr val="D7DDD9"/>
                      </a:solidFill>
                      <a:prstDash val="solid"/>
                      <a:round/>
                      <a:headEnd type="none" w="med" len="med"/>
                      <a:tailEnd type="none" w="med" len="med"/>
                    </a:lnL>
                    <a:lnR w="6350" cap="flat" cmpd="sng" algn="ctr">
                      <a:solidFill>
                        <a:srgbClr val="D7DDD9"/>
                      </a:solidFill>
                      <a:prstDash val="solid"/>
                      <a:round/>
                      <a:headEnd type="none" w="med" len="med"/>
                      <a:tailEnd type="none" w="med" len="med"/>
                    </a:lnR>
                    <a:lnT w="6350" cap="flat" cmpd="sng" algn="ctr">
                      <a:solidFill>
                        <a:srgbClr val="D7DDD9"/>
                      </a:solidFill>
                      <a:prstDash val="solid"/>
                      <a:round/>
                      <a:headEnd type="none" w="med" len="med"/>
                      <a:tailEnd type="none" w="med" len="med"/>
                    </a:lnT>
                    <a:lnB w="6350" cap="flat" cmpd="sng" algn="ctr">
                      <a:solidFill>
                        <a:srgbClr val="D7DDD9"/>
                      </a:solidFill>
                      <a:prstDash val="solid"/>
                      <a:round/>
                      <a:headEnd type="none" w="med" len="med"/>
                      <a:tailEnd type="none" w="med" len="med"/>
                    </a:lnB>
                    <a:solidFill>
                      <a:srgbClr val="1F4D3A"/>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Significant cooling</a:t>
                      </a:r>
                      <a:endParaRPr lang="en-US" sz="1150" dirty="0">
                        <a:latin typeface="Calibri" charset="0"/>
                        <a:ea typeface="Calibri" charset="0"/>
                        <a:cs typeface="Calibri" charset="0"/>
                      </a:endParaRPr>
                    </a:p>
                  </a:txBody>
                  <a:tcPr marL="76200" marR="76200" marT="38100" marB="38100" anchor="ctr">
                    <a:lnL w="6350" cap="flat" cmpd="sng" algn="ctr">
                      <a:solidFill>
                        <a:srgbClr val="D7DDD9"/>
                      </a:solidFill>
                      <a:prstDash val="solid"/>
                      <a:round/>
                      <a:headEnd type="none" w="med" len="med"/>
                      <a:tailEnd type="none" w="med" len="med"/>
                    </a:lnL>
                    <a:lnR w="6350" cap="flat" cmpd="sng" algn="ctr">
                      <a:solidFill>
                        <a:srgbClr val="D7DDD9"/>
                      </a:solidFill>
                      <a:prstDash val="solid"/>
                      <a:round/>
                      <a:headEnd type="none" w="med" len="med"/>
                      <a:tailEnd type="none" w="med" len="med"/>
                    </a:lnR>
                    <a:lnT w="6350" cap="flat" cmpd="sng" algn="ctr">
                      <a:solidFill>
                        <a:srgbClr val="D7DDD9"/>
                      </a:solidFill>
                      <a:prstDash val="solid"/>
                      <a:round/>
                      <a:headEnd type="none" w="med" len="med"/>
                      <a:tailEnd type="none" w="med" len="med"/>
                    </a:lnT>
                    <a:lnB w="6350" cap="flat" cmpd="sng" algn="ctr">
                      <a:solidFill>
                        <a:srgbClr val="D7DDD9"/>
                      </a:solidFill>
                      <a:prstDash val="solid"/>
                      <a:round/>
                      <a:headEnd type="none" w="med" len="med"/>
                      <a:tailEnd type="none" w="med" len="med"/>
                    </a:lnB>
                    <a:solidFill>
                      <a:srgbClr val="1F4D3A"/>
                    </a:solidFill>
                  </a:tcPr>
                </a:tc>
                <a:tc>
                  <a:txBody>
                    <a:bodyPr/>
                    <a:lstStyle/>
                    <a:p>
                      <a:pPr indent="0" marL="0">
                        <a:buNone/>
                      </a:pPr>
                      <a:r>
                        <a:rPr lang="en-US" sz="1150" b="1" dirty="0">
                          <a:solidFill>
                            <a:srgbClr val="FFFFFF"/>
                          </a:solidFill>
                          <a:latin typeface="Calibri" pitchFamily="34" charset="0"/>
                          <a:ea typeface="Calibri" pitchFamily="34" charset="-122"/>
                          <a:cs typeface="Calibri" pitchFamily="34" charset="-120"/>
                        </a:rPr>
                        <a:t>Greener-is-warmer</a:t>
                      </a:r>
                      <a:endParaRPr lang="en-US" sz="1150" dirty="0">
                        <a:latin typeface="Calibri" charset="0"/>
                        <a:ea typeface="Calibri" charset="0"/>
                        <a:cs typeface="Calibri" charset="0"/>
                      </a:endParaRPr>
                    </a:p>
                  </a:txBody>
                  <a:tcPr marL="76200" marR="76200" marT="38100" marB="38100" anchor="ctr">
                    <a:lnL w="6350" cap="flat" cmpd="sng" algn="ctr">
                      <a:solidFill>
                        <a:srgbClr val="D7DDD9"/>
                      </a:solidFill>
                      <a:prstDash val="solid"/>
                      <a:round/>
                      <a:headEnd type="none" w="med" len="med"/>
                      <a:tailEnd type="none" w="med" len="med"/>
                    </a:lnL>
                    <a:lnR w="6350" cap="flat" cmpd="sng" algn="ctr">
                      <a:solidFill>
                        <a:srgbClr val="D7DDD9"/>
                      </a:solidFill>
                      <a:prstDash val="solid"/>
                      <a:round/>
                      <a:headEnd type="none" w="med" len="med"/>
                      <a:tailEnd type="none" w="med" len="med"/>
                    </a:lnR>
                    <a:lnT w="6350" cap="flat" cmpd="sng" algn="ctr">
                      <a:solidFill>
                        <a:srgbClr val="D7DDD9"/>
                      </a:solidFill>
                      <a:prstDash val="solid"/>
                      <a:round/>
                      <a:headEnd type="none" w="med" len="med"/>
                      <a:tailEnd type="none" w="med" len="med"/>
                    </a:lnT>
                    <a:lnB w="6350" cap="flat" cmpd="sng" algn="ctr">
                      <a:solidFill>
                        <a:srgbClr val="D7DDD9"/>
                      </a:solidFill>
                      <a:prstDash val="solid"/>
                      <a:round/>
                      <a:headEnd type="none" w="med" len="med"/>
                      <a:tailEnd type="none" w="med" len="med"/>
                    </a:lnB>
                    <a:solidFill>
                      <a:srgbClr val="1F4D3A"/>
                    </a:solidFill>
                  </a:tcPr>
                </a:tc>
              </a:tr>
              <a:tr h="0">
                <a:tc>
                  <a:txBody>
                    <a:bodyPr/>
                    <a:lstStyle/>
                    <a:p>
                      <a:pPr indent="0" marL="0">
                        <a:buNone/>
                      </a:pPr>
                      <a:r>
                        <a:rPr lang="en-US" sz="1150" dirty="0">
                          <a:solidFill>
                            <a:srgbClr val="1F2328"/>
                          </a:solidFill>
                          <a:latin typeface="Calibri" pitchFamily="34" charset="0"/>
                          <a:ea typeface="Calibri" pitchFamily="34" charset="-122"/>
                          <a:cs typeface="Calibri" pitchFamily="34" charset="-120"/>
                        </a:rPr>
                        <a:t>Day, &lt; 1,000 mm</a:t>
                      </a:r>
                      <a:endParaRPr lang="en-US" sz="1150" dirty="0">
                        <a:latin typeface="Calibri" charset="0"/>
                        <a:ea typeface="Calibri" charset="0"/>
                        <a:cs typeface="Calibri" charset="0"/>
                      </a:endParaRPr>
                    </a:p>
                  </a:txBody>
                  <a:tcPr marL="76200" marR="76200" marT="38100" marB="38100" anchor="ctr">
                    <a:lnL w="6350" cap="flat" cmpd="sng" algn="ctr">
                      <a:solidFill>
                        <a:srgbClr val="D7DDD9"/>
                      </a:solidFill>
                      <a:prstDash val="solid"/>
                      <a:round/>
                      <a:headEnd type="none" w="med" len="med"/>
                      <a:tailEnd type="none" w="med" len="med"/>
                    </a:lnL>
                    <a:lnR w="6350" cap="flat" cmpd="sng" algn="ctr">
                      <a:solidFill>
                        <a:srgbClr val="D7DDD9"/>
                      </a:solidFill>
                      <a:prstDash val="solid"/>
                      <a:round/>
                      <a:headEnd type="none" w="med" len="med"/>
                      <a:tailEnd type="none" w="med" len="med"/>
                    </a:lnR>
                    <a:lnT w="6350" cap="flat" cmpd="sng" algn="ctr">
                      <a:solidFill>
                        <a:srgbClr val="D7DDD9"/>
                      </a:solidFill>
                      <a:prstDash val="solid"/>
                      <a:round/>
                      <a:headEnd type="none" w="med" len="med"/>
                      <a:tailEnd type="none" w="med" len="med"/>
                    </a:lnT>
                    <a:lnB w="6350" cap="flat" cmpd="sng" algn="ctr">
                      <a:solidFill>
                        <a:srgbClr val="D7DDD9"/>
                      </a:solidFill>
                      <a:prstDash val="solid"/>
                      <a:round/>
                      <a:headEnd type="none" w="med" len="med"/>
                      <a:tailEnd type="none" w="med" len="med"/>
                    </a:lnB>
                    <a:solidFill>
                      <a:srgbClr val="E9F1EB"/>
                    </a:solidFill>
                  </a:tcPr>
                </a:tc>
                <a:tc>
                  <a:txBody>
                    <a:bodyPr/>
                    <a:lstStyle/>
                    <a:p>
                      <a:pPr indent="0" marL="0">
                        <a:buNone/>
                      </a:pPr>
                      <a:r>
                        <a:rPr lang="en-US" sz="1150" dirty="0">
                          <a:solidFill>
                            <a:srgbClr val="1F2328"/>
                          </a:solidFill>
                          <a:latin typeface="Calibri" pitchFamily="34" charset="0"/>
                          <a:ea typeface="Calibri" pitchFamily="34" charset="-122"/>
                          <a:cs typeface="Calibri" pitchFamily="34" charset="-120"/>
                        </a:rPr>
                        <a:t>56</a:t>
                      </a:r>
                      <a:endParaRPr lang="en-US" sz="1150" dirty="0">
                        <a:latin typeface="Calibri" charset="0"/>
                        <a:ea typeface="Calibri" charset="0"/>
                        <a:cs typeface="Calibri" charset="0"/>
                      </a:endParaRPr>
                    </a:p>
                  </a:txBody>
                  <a:tcPr marL="76200" marR="76200" marT="38100" marB="38100" anchor="ctr">
                    <a:lnL w="6350" cap="flat" cmpd="sng" algn="ctr">
                      <a:solidFill>
                        <a:srgbClr val="D7DDD9"/>
                      </a:solidFill>
                      <a:prstDash val="solid"/>
                      <a:round/>
                      <a:headEnd type="none" w="med" len="med"/>
                      <a:tailEnd type="none" w="med" len="med"/>
                    </a:lnL>
                    <a:lnR w="6350" cap="flat" cmpd="sng" algn="ctr">
                      <a:solidFill>
                        <a:srgbClr val="D7DDD9"/>
                      </a:solidFill>
                      <a:prstDash val="solid"/>
                      <a:round/>
                      <a:headEnd type="none" w="med" len="med"/>
                      <a:tailEnd type="none" w="med" len="med"/>
                    </a:lnR>
                    <a:lnT w="6350" cap="flat" cmpd="sng" algn="ctr">
                      <a:solidFill>
                        <a:srgbClr val="D7DDD9"/>
                      </a:solidFill>
                      <a:prstDash val="solid"/>
                      <a:round/>
                      <a:headEnd type="none" w="med" len="med"/>
                      <a:tailEnd type="none" w="med" len="med"/>
                    </a:lnT>
                    <a:lnB w="6350" cap="flat" cmpd="sng" algn="ctr">
                      <a:solidFill>
                        <a:srgbClr val="D7DDD9"/>
                      </a:solidFill>
                      <a:prstDash val="solid"/>
                      <a:round/>
                      <a:headEnd type="none" w="med" len="med"/>
                      <a:tailEnd type="none" w="med" len="med"/>
                    </a:lnB>
                    <a:solidFill>
                      <a:srgbClr val="E9F1EB"/>
                    </a:solidFill>
                  </a:tcPr>
                </a:tc>
                <a:tc>
                  <a:txBody>
                    <a:bodyPr/>
                    <a:lstStyle/>
                    <a:p>
                      <a:pPr indent="0" marL="0">
                        <a:buNone/>
                      </a:pPr>
                      <a:r>
                        <a:rPr lang="en-US" sz="1150" dirty="0">
                          <a:solidFill>
                            <a:srgbClr val="1F2328"/>
                          </a:solidFill>
                          <a:latin typeface="Calibri" pitchFamily="34" charset="0"/>
                          <a:ea typeface="Calibri" pitchFamily="34" charset="-122"/>
                          <a:cs typeface="Calibri" pitchFamily="34" charset="-120"/>
                        </a:rPr>
                        <a:t>−1.06</a:t>
                      </a:r>
                      <a:endParaRPr lang="en-US" sz="1150" dirty="0">
                        <a:latin typeface="Calibri" charset="0"/>
                        <a:ea typeface="Calibri" charset="0"/>
                        <a:cs typeface="Calibri" charset="0"/>
                      </a:endParaRPr>
                    </a:p>
                  </a:txBody>
                  <a:tcPr marL="76200" marR="76200" marT="38100" marB="38100" anchor="ctr">
                    <a:lnL w="6350" cap="flat" cmpd="sng" algn="ctr">
                      <a:solidFill>
                        <a:srgbClr val="D7DDD9"/>
                      </a:solidFill>
                      <a:prstDash val="solid"/>
                      <a:round/>
                      <a:headEnd type="none" w="med" len="med"/>
                      <a:tailEnd type="none" w="med" len="med"/>
                    </a:lnL>
                    <a:lnR w="6350" cap="flat" cmpd="sng" algn="ctr">
                      <a:solidFill>
                        <a:srgbClr val="D7DDD9"/>
                      </a:solidFill>
                      <a:prstDash val="solid"/>
                      <a:round/>
                      <a:headEnd type="none" w="med" len="med"/>
                      <a:tailEnd type="none" w="med" len="med"/>
                    </a:lnR>
                    <a:lnT w="6350" cap="flat" cmpd="sng" algn="ctr">
                      <a:solidFill>
                        <a:srgbClr val="D7DDD9"/>
                      </a:solidFill>
                      <a:prstDash val="solid"/>
                      <a:round/>
                      <a:headEnd type="none" w="med" len="med"/>
                      <a:tailEnd type="none" w="med" len="med"/>
                    </a:lnT>
                    <a:lnB w="6350" cap="flat" cmpd="sng" algn="ctr">
                      <a:solidFill>
                        <a:srgbClr val="D7DDD9"/>
                      </a:solidFill>
                      <a:prstDash val="solid"/>
                      <a:round/>
                      <a:headEnd type="none" w="med" len="med"/>
                      <a:tailEnd type="none" w="med" len="med"/>
                    </a:lnB>
                    <a:solidFill>
                      <a:srgbClr val="E9F1EB"/>
                    </a:solidFill>
                  </a:tcPr>
                </a:tc>
                <a:tc>
                  <a:txBody>
                    <a:bodyPr/>
                    <a:lstStyle/>
                    <a:p>
                      <a:pPr indent="0" marL="0">
                        <a:buNone/>
                      </a:pPr>
                      <a:r>
                        <a:rPr lang="en-US" sz="1150" dirty="0">
                          <a:solidFill>
                            <a:srgbClr val="1F2328"/>
                          </a:solidFill>
                          <a:latin typeface="Calibri" pitchFamily="34" charset="0"/>
                          <a:ea typeface="Calibri" pitchFamily="34" charset="-122"/>
                          <a:cs typeface="Calibri" pitchFamily="34" charset="-120"/>
                        </a:rPr>
                        <a:t>77%</a:t>
                      </a:r>
                      <a:endParaRPr lang="en-US" sz="1150" dirty="0">
                        <a:latin typeface="Calibri" charset="0"/>
                        <a:ea typeface="Calibri" charset="0"/>
                        <a:cs typeface="Calibri" charset="0"/>
                      </a:endParaRPr>
                    </a:p>
                  </a:txBody>
                  <a:tcPr marL="76200" marR="76200" marT="38100" marB="38100" anchor="ctr">
                    <a:lnL w="6350" cap="flat" cmpd="sng" algn="ctr">
                      <a:solidFill>
                        <a:srgbClr val="D7DDD9"/>
                      </a:solidFill>
                      <a:prstDash val="solid"/>
                      <a:round/>
                      <a:headEnd type="none" w="med" len="med"/>
                      <a:tailEnd type="none" w="med" len="med"/>
                    </a:lnL>
                    <a:lnR w="6350" cap="flat" cmpd="sng" algn="ctr">
                      <a:solidFill>
                        <a:srgbClr val="D7DDD9"/>
                      </a:solidFill>
                      <a:prstDash val="solid"/>
                      <a:round/>
                      <a:headEnd type="none" w="med" len="med"/>
                      <a:tailEnd type="none" w="med" len="med"/>
                    </a:lnR>
                    <a:lnT w="6350" cap="flat" cmpd="sng" algn="ctr">
                      <a:solidFill>
                        <a:srgbClr val="D7DDD9"/>
                      </a:solidFill>
                      <a:prstDash val="solid"/>
                      <a:round/>
                      <a:headEnd type="none" w="med" len="med"/>
                      <a:tailEnd type="none" w="med" len="med"/>
                    </a:lnT>
                    <a:lnB w="6350" cap="flat" cmpd="sng" algn="ctr">
                      <a:solidFill>
                        <a:srgbClr val="D7DDD9"/>
                      </a:solidFill>
                      <a:prstDash val="solid"/>
                      <a:round/>
                      <a:headEnd type="none" w="med" len="med"/>
                      <a:tailEnd type="none" w="med" len="med"/>
                    </a:lnB>
                    <a:solidFill>
                      <a:srgbClr val="E9F1EB"/>
                    </a:solidFill>
                  </a:tcPr>
                </a:tc>
                <a:tc>
                  <a:txBody>
                    <a:bodyPr/>
                    <a:lstStyle/>
                    <a:p>
                      <a:pPr indent="0" marL="0">
                        <a:buNone/>
                      </a:pPr>
                      <a:r>
                        <a:rPr lang="en-US" sz="1150" dirty="0">
                          <a:solidFill>
                            <a:srgbClr val="1F2328"/>
                          </a:solidFill>
                          <a:latin typeface="Calibri" pitchFamily="34" charset="0"/>
                          <a:ea typeface="Calibri" pitchFamily="34" charset="-122"/>
                          <a:cs typeface="Calibri" pitchFamily="34" charset="-120"/>
                        </a:rPr>
                        <a:t>0%</a:t>
                      </a:r>
                      <a:endParaRPr lang="en-US" sz="1150" dirty="0">
                        <a:latin typeface="Calibri" charset="0"/>
                        <a:ea typeface="Calibri" charset="0"/>
                        <a:cs typeface="Calibri" charset="0"/>
                      </a:endParaRPr>
                    </a:p>
                  </a:txBody>
                  <a:tcPr marL="76200" marR="76200" marT="38100" marB="38100" anchor="ctr">
                    <a:lnL w="6350" cap="flat" cmpd="sng" algn="ctr">
                      <a:solidFill>
                        <a:srgbClr val="D7DDD9"/>
                      </a:solidFill>
                      <a:prstDash val="solid"/>
                      <a:round/>
                      <a:headEnd type="none" w="med" len="med"/>
                      <a:tailEnd type="none" w="med" len="med"/>
                    </a:lnL>
                    <a:lnR w="6350" cap="flat" cmpd="sng" algn="ctr">
                      <a:solidFill>
                        <a:srgbClr val="D7DDD9"/>
                      </a:solidFill>
                      <a:prstDash val="solid"/>
                      <a:round/>
                      <a:headEnd type="none" w="med" len="med"/>
                      <a:tailEnd type="none" w="med" len="med"/>
                    </a:lnR>
                    <a:lnT w="6350" cap="flat" cmpd="sng" algn="ctr">
                      <a:solidFill>
                        <a:srgbClr val="D7DDD9"/>
                      </a:solidFill>
                      <a:prstDash val="solid"/>
                      <a:round/>
                      <a:headEnd type="none" w="med" len="med"/>
                      <a:tailEnd type="none" w="med" len="med"/>
                    </a:lnT>
                    <a:lnB w="6350" cap="flat" cmpd="sng" algn="ctr">
                      <a:solidFill>
                        <a:srgbClr val="D7DDD9"/>
                      </a:solidFill>
                      <a:prstDash val="solid"/>
                      <a:round/>
                      <a:headEnd type="none" w="med" len="med"/>
                      <a:tailEnd type="none" w="med" len="med"/>
                    </a:lnB>
                    <a:solidFill>
                      <a:srgbClr val="E9F1EB"/>
                    </a:solidFill>
                  </a:tcPr>
                </a:tc>
              </a:tr>
              <a:tr h="0">
                <a:tc>
                  <a:txBody>
                    <a:bodyPr/>
                    <a:lstStyle/>
                    <a:p>
                      <a:pPr indent="0" marL="0">
                        <a:buNone/>
                      </a:pPr>
                      <a:r>
                        <a:rPr lang="en-US" sz="1150" dirty="0">
                          <a:solidFill>
                            <a:srgbClr val="1F2328"/>
                          </a:solidFill>
                          <a:latin typeface="Calibri" pitchFamily="34" charset="0"/>
                          <a:ea typeface="Calibri" pitchFamily="34" charset="-122"/>
                          <a:cs typeface="Calibri" pitchFamily="34" charset="-120"/>
                        </a:rPr>
                        <a:t>Day, ≥ 1,000 mm</a:t>
                      </a:r>
                      <a:endParaRPr lang="en-US" sz="1150" dirty="0">
                        <a:latin typeface="Calibri" charset="0"/>
                        <a:ea typeface="Calibri" charset="0"/>
                        <a:cs typeface="Calibri" charset="0"/>
                      </a:endParaRPr>
                    </a:p>
                  </a:txBody>
                  <a:tcPr marL="76200" marR="76200" marT="38100" marB="38100" anchor="ctr">
                    <a:lnL w="6350" cap="flat" cmpd="sng" algn="ctr">
                      <a:solidFill>
                        <a:srgbClr val="D7DDD9"/>
                      </a:solidFill>
                      <a:prstDash val="solid"/>
                      <a:round/>
                      <a:headEnd type="none" w="med" len="med"/>
                      <a:tailEnd type="none" w="med" len="med"/>
                    </a:lnL>
                    <a:lnR w="6350" cap="flat" cmpd="sng" algn="ctr">
                      <a:solidFill>
                        <a:srgbClr val="D7DDD9"/>
                      </a:solidFill>
                      <a:prstDash val="solid"/>
                      <a:round/>
                      <a:headEnd type="none" w="med" len="med"/>
                      <a:tailEnd type="none" w="med" len="med"/>
                    </a:lnR>
                    <a:lnT w="6350" cap="flat" cmpd="sng" algn="ctr">
                      <a:solidFill>
                        <a:srgbClr val="D7DDD9"/>
                      </a:solidFill>
                      <a:prstDash val="solid"/>
                      <a:round/>
                      <a:headEnd type="none" w="med" len="med"/>
                      <a:tailEnd type="none" w="med" len="med"/>
                    </a:lnT>
                    <a:lnB w="6350" cap="flat" cmpd="sng" algn="ctr">
                      <a:solidFill>
                        <a:srgbClr val="D7DDD9"/>
                      </a:solidFill>
                      <a:prstDash val="solid"/>
                      <a:round/>
                      <a:headEnd type="none" w="med" len="med"/>
                      <a:tailEnd type="none" w="med" len="med"/>
                    </a:lnB>
                    <a:solidFill>
                      <a:srgbClr val="FFFFFF"/>
                    </a:solidFill>
                  </a:tcPr>
                </a:tc>
                <a:tc>
                  <a:txBody>
                    <a:bodyPr/>
                    <a:lstStyle/>
                    <a:p>
                      <a:pPr indent="0" marL="0">
                        <a:buNone/>
                      </a:pPr>
                      <a:r>
                        <a:rPr lang="en-US" sz="1150" dirty="0">
                          <a:solidFill>
                            <a:srgbClr val="1F2328"/>
                          </a:solidFill>
                          <a:latin typeface="Calibri" pitchFamily="34" charset="0"/>
                          <a:ea typeface="Calibri" pitchFamily="34" charset="-122"/>
                          <a:cs typeface="Calibri" pitchFamily="34" charset="-120"/>
                        </a:rPr>
                        <a:t>146</a:t>
                      </a:r>
                      <a:endParaRPr lang="en-US" sz="1150" dirty="0">
                        <a:latin typeface="Calibri" charset="0"/>
                        <a:ea typeface="Calibri" charset="0"/>
                        <a:cs typeface="Calibri" charset="0"/>
                      </a:endParaRPr>
                    </a:p>
                  </a:txBody>
                  <a:tcPr marL="76200" marR="76200" marT="38100" marB="38100" anchor="ctr">
                    <a:lnL w="6350" cap="flat" cmpd="sng" algn="ctr">
                      <a:solidFill>
                        <a:srgbClr val="D7DDD9"/>
                      </a:solidFill>
                      <a:prstDash val="solid"/>
                      <a:round/>
                      <a:headEnd type="none" w="med" len="med"/>
                      <a:tailEnd type="none" w="med" len="med"/>
                    </a:lnL>
                    <a:lnR w="6350" cap="flat" cmpd="sng" algn="ctr">
                      <a:solidFill>
                        <a:srgbClr val="D7DDD9"/>
                      </a:solidFill>
                      <a:prstDash val="solid"/>
                      <a:round/>
                      <a:headEnd type="none" w="med" len="med"/>
                      <a:tailEnd type="none" w="med" len="med"/>
                    </a:lnR>
                    <a:lnT w="6350" cap="flat" cmpd="sng" algn="ctr">
                      <a:solidFill>
                        <a:srgbClr val="D7DDD9"/>
                      </a:solidFill>
                      <a:prstDash val="solid"/>
                      <a:round/>
                      <a:headEnd type="none" w="med" len="med"/>
                      <a:tailEnd type="none" w="med" len="med"/>
                    </a:lnT>
                    <a:lnB w="6350" cap="flat" cmpd="sng" algn="ctr">
                      <a:solidFill>
                        <a:srgbClr val="D7DDD9"/>
                      </a:solidFill>
                      <a:prstDash val="solid"/>
                      <a:round/>
                      <a:headEnd type="none" w="med" len="med"/>
                      <a:tailEnd type="none" w="med" len="med"/>
                    </a:lnB>
                    <a:solidFill>
                      <a:srgbClr val="FFFFFF"/>
                    </a:solidFill>
                  </a:tcPr>
                </a:tc>
                <a:tc>
                  <a:txBody>
                    <a:bodyPr/>
                    <a:lstStyle/>
                    <a:p>
                      <a:pPr indent="0" marL="0">
                        <a:buNone/>
                      </a:pPr>
                      <a:r>
                        <a:rPr lang="en-US" sz="1150" dirty="0">
                          <a:solidFill>
                            <a:srgbClr val="1F2328"/>
                          </a:solidFill>
                          <a:latin typeface="Calibri" pitchFamily="34" charset="0"/>
                          <a:ea typeface="Calibri" pitchFamily="34" charset="-122"/>
                          <a:cs typeface="Calibri" pitchFamily="34" charset="-120"/>
                        </a:rPr>
                        <a:t>−1.18</a:t>
                      </a:r>
                      <a:endParaRPr lang="en-US" sz="1150" dirty="0">
                        <a:latin typeface="Calibri" charset="0"/>
                        <a:ea typeface="Calibri" charset="0"/>
                        <a:cs typeface="Calibri" charset="0"/>
                      </a:endParaRPr>
                    </a:p>
                  </a:txBody>
                  <a:tcPr marL="76200" marR="76200" marT="38100" marB="38100" anchor="ctr">
                    <a:lnL w="6350" cap="flat" cmpd="sng" algn="ctr">
                      <a:solidFill>
                        <a:srgbClr val="D7DDD9"/>
                      </a:solidFill>
                      <a:prstDash val="solid"/>
                      <a:round/>
                      <a:headEnd type="none" w="med" len="med"/>
                      <a:tailEnd type="none" w="med" len="med"/>
                    </a:lnL>
                    <a:lnR w="6350" cap="flat" cmpd="sng" algn="ctr">
                      <a:solidFill>
                        <a:srgbClr val="D7DDD9"/>
                      </a:solidFill>
                      <a:prstDash val="solid"/>
                      <a:round/>
                      <a:headEnd type="none" w="med" len="med"/>
                      <a:tailEnd type="none" w="med" len="med"/>
                    </a:lnR>
                    <a:lnT w="6350" cap="flat" cmpd="sng" algn="ctr">
                      <a:solidFill>
                        <a:srgbClr val="D7DDD9"/>
                      </a:solidFill>
                      <a:prstDash val="solid"/>
                      <a:round/>
                      <a:headEnd type="none" w="med" len="med"/>
                      <a:tailEnd type="none" w="med" len="med"/>
                    </a:lnT>
                    <a:lnB w="6350" cap="flat" cmpd="sng" algn="ctr">
                      <a:solidFill>
                        <a:srgbClr val="D7DDD9"/>
                      </a:solidFill>
                      <a:prstDash val="solid"/>
                      <a:round/>
                      <a:headEnd type="none" w="med" len="med"/>
                      <a:tailEnd type="none" w="med" len="med"/>
                    </a:lnB>
                    <a:solidFill>
                      <a:srgbClr val="FFFFFF"/>
                    </a:solidFill>
                  </a:tcPr>
                </a:tc>
                <a:tc>
                  <a:txBody>
                    <a:bodyPr/>
                    <a:lstStyle/>
                    <a:p>
                      <a:pPr indent="0" marL="0">
                        <a:buNone/>
                      </a:pPr>
                      <a:r>
                        <a:rPr lang="en-US" sz="1150" dirty="0">
                          <a:solidFill>
                            <a:srgbClr val="1F2328"/>
                          </a:solidFill>
                          <a:latin typeface="Calibri" pitchFamily="34" charset="0"/>
                          <a:ea typeface="Calibri" pitchFamily="34" charset="-122"/>
                          <a:cs typeface="Calibri" pitchFamily="34" charset="-120"/>
                        </a:rPr>
                        <a:t>74%</a:t>
                      </a:r>
                      <a:endParaRPr lang="en-US" sz="1150" dirty="0">
                        <a:latin typeface="Calibri" charset="0"/>
                        <a:ea typeface="Calibri" charset="0"/>
                        <a:cs typeface="Calibri" charset="0"/>
                      </a:endParaRPr>
                    </a:p>
                  </a:txBody>
                  <a:tcPr marL="76200" marR="76200" marT="38100" marB="38100" anchor="ctr">
                    <a:lnL w="6350" cap="flat" cmpd="sng" algn="ctr">
                      <a:solidFill>
                        <a:srgbClr val="D7DDD9"/>
                      </a:solidFill>
                      <a:prstDash val="solid"/>
                      <a:round/>
                      <a:headEnd type="none" w="med" len="med"/>
                      <a:tailEnd type="none" w="med" len="med"/>
                    </a:lnL>
                    <a:lnR w="6350" cap="flat" cmpd="sng" algn="ctr">
                      <a:solidFill>
                        <a:srgbClr val="D7DDD9"/>
                      </a:solidFill>
                      <a:prstDash val="solid"/>
                      <a:round/>
                      <a:headEnd type="none" w="med" len="med"/>
                      <a:tailEnd type="none" w="med" len="med"/>
                    </a:lnR>
                    <a:lnT w="6350" cap="flat" cmpd="sng" algn="ctr">
                      <a:solidFill>
                        <a:srgbClr val="D7DDD9"/>
                      </a:solidFill>
                      <a:prstDash val="solid"/>
                      <a:round/>
                      <a:headEnd type="none" w="med" len="med"/>
                      <a:tailEnd type="none" w="med" len="med"/>
                    </a:lnT>
                    <a:lnB w="6350" cap="flat" cmpd="sng" algn="ctr">
                      <a:solidFill>
                        <a:srgbClr val="D7DDD9"/>
                      </a:solidFill>
                      <a:prstDash val="solid"/>
                      <a:round/>
                      <a:headEnd type="none" w="med" len="med"/>
                      <a:tailEnd type="none" w="med" len="med"/>
                    </a:lnB>
                    <a:solidFill>
                      <a:srgbClr val="FFFFFF"/>
                    </a:solidFill>
                  </a:tcPr>
                </a:tc>
                <a:tc>
                  <a:txBody>
                    <a:bodyPr/>
                    <a:lstStyle/>
                    <a:p>
                      <a:pPr indent="0" marL="0">
                        <a:buNone/>
                      </a:pPr>
                      <a:r>
                        <a:rPr lang="en-US" sz="1150" dirty="0">
                          <a:solidFill>
                            <a:srgbClr val="1F2328"/>
                          </a:solidFill>
                          <a:latin typeface="Calibri" pitchFamily="34" charset="0"/>
                          <a:ea typeface="Calibri" pitchFamily="34" charset="-122"/>
                          <a:cs typeface="Calibri" pitchFamily="34" charset="-120"/>
                        </a:rPr>
                        <a:t>3%</a:t>
                      </a:r>
                      <a:endParaRPr lang="en-US" sz="1150" dirty="0">
                        <a:latin typeface="Calibri" charset="0"/>
                        <a:ea typeface="Calibri" charset="0"/>
                        <a:cs typeface="Calibri" charset="0"/>
                      </a:endParaRPr>
                    </a:p>
                  </a:txBody>
                  <a:tcPr marL="76200" marR="76200" marT="38100" marB="38100" anchor="ctr">
                    <a:lnL w="6350" cap="flat" cmpd="sng" algn="ctr">
                      <a:solidFill>
                        <a:srgbClr val="D7DDD9"/>
                      </a:solidFill>
                      <a:prstDash val="solid"/>
                      <a:round/>
                      <a:headEnd type="none" w="med" len="med"/>
                      <a:tailEnd type="none" w="med" len="med"/>
                    </a:lnL>
                    <a:lnR w="6350" cap="flat" cmpd="sng" algn="ctr">
                      <a:solidFill>
                        <a:srgbClr val="D7DDD9"/>
                      </a:solidFill>
                      <a:prstDash val="solid"/>
                      <a:round/>
                      <a:headEnd type="none" w="med" len="med"/>
                      <a:tailEnd type="none" w="med" len="med"/>
                    </a:lnR>
                    <a:lnT w="6350" cap="flat" cmpd="sng" algn="ctr">
                      <a:solidFill>
                        <a:srgbClr val="D7DDD9"/>
                      </a:solidFill>
                      <a:prstDash val="solid"/>
                      <a:round/>
                      <a:headEnd type="none" w="med" len="med"/>
                      <a:tailEnd type="none" w="med" len="med"/>
                    </a:lnT>
                    <a:lnB w="6350" cap="flat" cmpd="sng" algn="ctr">
                      <a:solidFill>
                        <a:srgbClr val="D7DDD9"/>
                      </a:solidFill>
                      <a:prstDash val="solid"/>
                      <a:round/>
                      <a:headEnd type="none" w="med" len="med"/>
                      <a:tailEnd type="none" w="med" len="med"/>
                    </a:lnB>
                    <a:solidFill>
                      <a:srgbClr val="FFFFFF"/>
                    </a:solidFill>
                  </a:tcPr>
                </a:tc>
              </a:tr>
              <a:tr h="0">
                <a:tc>
                  <a:txBody>
                    <a:bodyPr/>
                    <a:lstStyle/>
                    <a:p>
                      <a:pPr indent="0" marL="0">
                        <a:buNone/>
                      </a:pPr>
                      <a:r>
                        <a:rPr lang="en-US" sz="1150" dirty="0">
                          <a:solidFill>
                            <a:srgbClr val="1F2328"/>
                          </a:solidFill>
                          <a:latin typeface="Calibri" pitchFamily="34" charset="0"/>
                          <a:ea typeface="Calibri" pitchFamily="34" charset="-122"/>
                          <a:cs typeface="Calibri" pitchFamily="34" charset="-120"/>
                        </a:rPr>
                        <a:t>Night, &lt; 1,000 mm</a:t>
                      </a:r>
                      <a:endParaRPr lang="en-US" sz="1150" dirty="0">
                        <a:latin typeface="Calibri" charset="0"/>
                        <a:ea typeface="Calibri" charset="0"/>
                        <a:cs typeface="Calibri" charset="0"/>
                      </a:endParaRPr>
                    </a:p>
                  </a:txBody>
                  <a:tcPr marL="76200" marR="76200" marT="38100" marB="38100" anchor="ctr">
                    <a:lnL w="6350" cap="flat" cmpd="sng" algn="ctr">
                      <a:solidFill>
                        <a:srgbClr val="D7DDD9"/>
                      </a:solidFill>
                      <a:prstDash val="solid"/>
                      <a:round/>
                      <a:headEnd type="none" w="med" len="med"/>
                      <a:tailEnd type="none" w="med" len="med"/>
                    </a:lnL>
                    <a:lnR w="6350" cap="flat" cmpd="sng" algn="ctr">
                      <a:solidFill>
                        <a:srgbClr val="D7DDD9"/>
                      </a:solidFill>
                      <a:prstDash val="solid"/>
                      <a:round/>
                      <a:headEnd type="none" w="med" len="med"/>
                      <a:tailEnd type="none" w="med" len="med"/>
                    </a:lnR>
                    <a:lnT w="6350" cap="flat" cmpd="sng" algn="ctr">
                      <a:solidFill>
                        <a:srgbClr val="D7DDD9"/>
                      </a:solidFill>
                      <a:prstDash val="solid"/>
                      <a:round/>
                      <a:headEnd type="none" w="med" len="med"/>
                      <a:tailEnd type="none" w="med" len="med"/>
                    </a:lnT>
                    <a:lnB w="6350" cap="flat" cmpd="sng" algn="ctr">
                      <a:solidFill>
                        <a:srgbClr val="D7DDD9"/>
                      </a:solidFill>
                      <a:prstDash val="solid"/>
                      <a:round/>
                      <a:headEnd type="none" w="med" len="med"/>
                      <a:tailEnd type="none" w="med" len="med"/>
                    </a:lnB>
                    <a:solidFill>
                      <a:srgbClr val="E9F1EB"/>
                    </a:solidFill>
                  </a:tcPr>
                </a:tc>
                <a:tc>
                  <a:txBody>
                    <a:bodyPr/>
                    <a:lstStyle/>
                    <a:p>
                      <a:pPr indent="0" marL="0">
                        <a:buNone/>
                      </a:pPr>
                      <a:r>
                        <a:rPr lang="en-US" sz="1150" dirty="0">
                          <a:solidFill>
                            <a:srgbClr val="1F2328"/>
                          </a:solidFill>
                          <a:latin typeface="Calibri" pitchFamily="34" charset="0"/>
                          <a:ea typeface="Calibri" pitchFamily="34" charset="-122"/>
                          <a:cs typeface="Calibri" pitchFamily="34" charset="-120"/>
                        </a:rPr>
                        <a:t>39</a:t>
                      </a:r>
                      <a:endParaRPr lang="en-US" sz="1150" dirty="0">
                        <a:latin typeface="Calibri" charset="0"/>
                        <a:ea typeface="Calibri" charset="0"/>
                        <a:cs typeface="Calibri" charset="0"/>
                      </a:endParaRPr>
                    </a:p>
                  </a:txBody>
                  <a:tcPr marL="76200" marR="76200" marT="38100" marB="38100" anchor="ctr">
                    <a:lnL w="6350" cap="flat" cmpd="sng" algn="ctr">
                      <a:solidFill>
                        <a:srgbClr val="D7DDD9"/>
                      </a:solidFill>
                      <a:prstDash val="solid"/>
                      <a:round/>
                      <a:headEnd type="none" w="med" len="med"/>
                      <a:tailEnd type="none" w="med" len="med"/>
                    </a:lnL>
                    <a:lnR w="6350" cap="flat" cmpd="sng" algn="ctr">
                      <a:solidFill>
                        <a:srgbClr val="D7DDD9"/>
                      </a:solidFill>
                      <a:prstDash val="solid"/>
                      <a:round/>
                      <a:headEnd type="none" w="med" len="med"/>
                      <a:tailEnd type="none" w="med" len="med"/>
                    </a:lnR>
                    <a:lnT w="6350" cap="flat" cmpd="sng" algn="ctr">
                      <a:solidFill>
                        <a:srgbClr val="D7DDD9"/>
                      </a:solidFill>
                      <a:prstDash val="solid"/>
                      <a:round/>
                      <a:headEnd type="none" w="med" len="med"/>
                      <a:tailEnd type="none" w="med" len="med"/>
                    </a:lnT>
                    <a:lnB w="6350" cap="flat" cmpd="sng" algn="ctr">
                      <a:solidFill>
                        <a:srgbClr val="D7DDD9"/>
                      </a:solidFill>
                      <a:prstDash val="solid"/>
                      <a:round/>
                      <a:headEnd type="none" w="med" len="med"/>
                      <a:tailEnd type="none" w="med" len="med"/>
                    </a:lnB>
                    <a:solidFill>
                      <a:srgbClr val="E9F1EB"/>
                    </a:solidFill>
                  </a:tcPr>
                </a:tc>
                <a:tc>
                  <a:txBody>
                    <a:bodyPr/>
                    <a:lstStyle/>
                    <a:p>
                      <a:pPr indent="0" marL="0">
                        <a:buNone/>
                      </a:pPr>
                      <a:r>
                        <a:rPr lang="en-US" sz="1150" dirty="0">
                          <a:solidFill>
                            <a:srgbClr val="1F2328"/>
                          </a:solidFill>
                          <a:latin typeface="Calibri" pitchFamily="34" charset="0"/>
                          <a:ea typeface="Calibri" pitchFamily="34" charset="-122"/>
                          <a:cs typeface="Calibri" pitchFamily="34" charset="-120"/>
                        </a:rPr>
                        <a:t>+0.46</a:t>
                      </a:r>
                      <a:endParaRPr lang="en-US" sz="1150" dirty="0">
                        <a:latin typeface="Calibri" charset="0"/>
                        <a:ea typeface="Calibri" charset="0"/>
                        <a:cs typeface="Calibri" charset="0"/>
                      </a:endParaRPr>
                    </a:p>
                  </a:txBody>
                  <a:tcPr marL="76200" marR="76200" marT="38100" marB="38100" anchor="ctr">
                    <a:lnL w="6350" cap="flat" cmpd="sng" algn="ctr">
                      <a:solidFill>
                        <a:srgbClr val="D7DDD9"/>
                      </a:solidFill>
                      <a:prstDash val="solid"/>
                      <a:round/>
                      <a:headEnd type="none" w="med" len="med"/>
                      <a:tailEnd type="none" w="med" len="med"/>
                    </a:lnL>
                    <a:lnR w="6350" cap="flat" cmpd="sng" algn="ctr">
                      <a:solidFill>
                        <a:srgbClr val="D7DDD9"/>
                      </a:solidFill>
                      <a:prstDash val="solid"/>
                      <a:round/>
                      <a:headEnd type="none" w="med" len="med"/>
                      <a:tailEnd type="none" w="med" len="med"/>
                    </a:lnR>
                    <a:lnT w="6350" cap="flat" cmpd="sng" algn="ctr">
                      <a:solidFill>
                        <a:srgbClr val="D7DDD9"/>
                      </a:solidFill>
                      <a:prstDash val="solid"/>
                      <a:round/>
                      <a:headEnd type="none" w="med" len="med"/>
                      <a:tailEnd type="none" w="med" len="med"/>
                    </a:lnT>
                    <a:lnB w="6350" cap="flat" cmpd="sng" algn="ctr">
                      <a:solidFill>
                        <a:srgbClr val="D7DDD9"/>
                      </a:solidFill>
                      <a:prstDash val="solid"/>
                      <a:round/>
                      <a:headEnd type="none" w="med" len="med"/>
                      <a:tailEnd type="none" w="med" len="med"/>
                    </a:lnB>
                    <a:solidFill>
                      <a:srgbClr val="E9F1EB"/>
                    </a:solidFill>
                  </a:tcPr>
                </a:tc>
                <a:tc>
                  <a:txBody>
                    <a:bodyPr/>
                    <a:lstStyle/>
                    <a:p>
                      <a:pPr indent="0" marL="0">
                        <a:buNone/>
                      </a:pPr>
                      <a:r>
                        <a:rPr lang="en-US" sz="1150" dirty="0">
                          <a:solidFill>
                            <a:srgbClr val="1F2328"/>
                          </a:solidFill>
                          <a:latin typeface="Calibri" pitchFamily="34" charset="0"/>
                          <a:ea typeface="Calibri" pitchFamily="34" charset="-122"/>
                          <a:cs typeface="Calibri" pitchFamily="34" charset="-120"/>
                        </a:rPr>
                        <a:t>5%</a:t>
                      </a:r>
                      <a:endParaRPr lang="en-US" sz="1150" dirty="0">
                        <a:latin typeface="Calibri" charset="0"/>
                        <a:ea typeface="Calibri" charset="0"/>
                        <a:cs typeface="Calibri" charset="0"/>
                      </a:endParaRPr>
                    </a:p>
                  </a:txBody>
                  <a:tcPr marL="76200" marR="76200" marT="38100" marB="38100" anchor="ctr">
                    <a:lnL w="6350" cap="flat" cmpd="sng" algn="ctr">
                      <a:solidFill>
                        <a:srgbClr val="D7DDD9"/>
                      </a:solidFill>
                      <a:prstDash val="solid"/>
                      <a:round/>
                      <a:headEnd type="none" w="med" len="med"/>
                      <a:tailEnd type="none" w="med" len="med"/>
                    </a:lnL>
                    <a:lnR w="6350" cap="flat" cmpd="sng" algn="ctr">
                      <a:solidFill>
                        <a:srgbClr val="D7DDD9"/>
                      </a:solidFill>
                      <a:prstDash val="solid"/>
                      <a:round/>
                      <a:headEnd type="none" w="med" len="med"/>
                      <a:tailEnd type="none" w="med" len="med"/>
                    </a:lnR>
                    <a:lnT w="6350" cap="flat" cmpd="sng" algn="ctr">
                      <a:solidFill>
                        <a:srgbClr val="D7DDD9"/>
                      </a:solidFill>
                      <a:prstDash val="solid"/>
                      <a:round/>
                      <a:headEnd type="none" w="med" len="med"/>
                      <a:tailEnd type="none" w="med" len="med"/>
                    </a:lnT>
                    <a:lnB w="6350" cap="flat" cmpd="sng" algn="ctr">
                      <a:solidFill>
                        <a:srgbClr val="D7DDD9"/>
                      </a:solidFill>
                      <a:prstDash val="solid"/>
                      <a:round/>
                      <a:headEnd type="none" w="med" len="med"/>
                      <a:tailEnd type="none" w="med" len="med"/>
                    </a:lnB>
                    <a:solidFill>
                      <a:srgbClr val="E9F1EB"/>
                    </a:solidFill>
                  </a:tcPr>
                </a:tc>
                <a:tc>
                  <a:txBody>
                    <a:bodyPr/>
                    <a:lstStyle/>
                    <a:p>
                      <a:pPr indent="0" marL="0">
                        <a:buNone/>
                      </a:pPr>
                      <a:r>
                        <a:rPr lang="en-US" sz="1150" dirty="0">
                          <a:solidFill>
                            <a:srgbClr val="1F2328"/>
                          </a:solidFill>
                          <a:latin typeface="Calibri" pitchFamily="34" charset="0"/>
                          <a:ea typeface="Calibri" pitchFamily="34" charset="-122"/>
                          <a:cs typeface="Calibri" pitchFamily="34" charset="-120"/>
                        </a:rPr>
                        <a:t>38%</a:t>
                      </a:r>
                      <a:endParaRPr lang="en-US" sz="1150" dirty="0">
                        <a:latin typeface="Calibri" charset="0"/>
                        <a:ea typeface="Calibri" charset="0"/>
                        <a:cs typeface="Calibri" charset="0"/>
                      </a:endParaRPr>
                    </a:p>
                  </a:txBody>
                  <a:tcPr marL="76200" marR="76200" marT="38100" marB="38100" anchor="ctr">
                    <a:lnL w="6350" cap="flat" cmpd="sng" algn="ctr">
                      <a:solidFill>
                        <a:srgbClr val="D7DDD9"/>
                      </a:solidFill>
                      <a:prstDash val="solid"/>
                      <a:round/>
                      <a:headEnd type="none" w="med" len="med"/>
                      <a:tailEnd type="none" w="med" len="med"/>
                    </a:lnL>
                    <a:lnR w="6350" cap="flat" cmpd="sng" algn="ctr">
                      <a:solidFill>
                        <a:srgbClr val="D7DDD9"/>
                      </a:solidFill>
                      <a:prstDash val="solid"/>
                      <a:round/>
                      <a:headEnd type="none" w="med" len="med"/>
                      <a:tailEnd type="none" w="med" len="med"/>
                    </a:lnR>
                    <a:lnT w="6350" cap="flat" cmpd="sng" algn="ctr">
                      <a:solidFill>
                        <a:srgbClr val="D7DDD9"/>
                      </a:solidFill>
                      <a:prstDash val="solid"/>
                      <a:round/>
                      <a:headEnd type="none" w="med" len="med"/>
                      <a:tailEnd type="none" w="med" len="med"/>
                    </a:lnT>
                    <a:lnB w="6350" cap="flat" cmpd="sng" algn="ctr">
                      <a:solidFill>
                        <a:srgbClr val="D7DDD9"/>
                      </a:solidFill>
                      <a:prstDash val="solid"/>
                      <a:round/>
                      <a:headEnd type="none" w="med" len="med"/>
                      <a:tailEnd type="none" w="med" len="med"/>
                    </a:lnB>
                    <a:solidFill>
                      <a:srgbClr val="E9F1EB"/>
                    </a:solidFill>
                  </a:tcPr>
                </a:tc>
              </a:tr>
              <a:tr h="0">
                <a:tc>
                  <a:txBody>
                    <a:bodyPr/>
                    <a:lstStyle/>
                    <a:p>
                      <a:pPr indent="0" marL="0">
                        <a:buNone/>
                      </a:pPr>
                      <a:r>
                        <a:rPr lang="en-US" sz="1150" dirty="0">
                          <a:solidFill>
                            <a:srgbClr val="1F2328"/>
                          </a:solidFill>
                          <a:latin typeface="Calibri" pitchFamily="34" charset="0"/>
                          <a:ea typeface="Calibri" pitchFamily="34" charset="-122"/>
                          <a:cs typeface="Calibri" pitchFamily="34" charset="-120"/>
                        </a:rPr>
                        <a:t>Night, ≥ 1,000 mm</a:t>
                      </a:r>
                      <a:endParaRPr lang="en-US" sz="1150" dirty="0">
                        <a:latin typeface="Calibri" charset="0"/>
                        <a:ea typeface="Calibri" charset="0"/>
                        <a:cs typeface="Calibri" charset="0"/>
                      </a:endParaRPr>
                    </a:p>
                  </a:txBody>
                  <a:tcPr marL="76200" marR="76200" marT="38100" marB="38100" anchor="ctr">
                    <a:lnL w="6350" cap="flat" cmpd="sng" algn="ctr">
                      <a:solidFill>
                        <a:srgbClr val="D7DDD9"/>
                      </a:solidFill>
                      <a:prstDash val="solid"/>
                      <a:round/>
                      <a:headEnd type="none" w="med" len="med"/>
                      <a:tailEnd type="none" w="med" len="med"/>
                    </a:lnL>
                    <a:lnR w="6350" cap="flat" cmpd="sng" algn="ctr">
                      <a:solidFill>
                        <a:srgbClr val="D7DDD9"/>
                      </a:solidFill>
                      <a:prstDash val="solid"/>
                      <a:round/>
                      <a:headEnd type="none" w="med" len="med"/>
                      <a:tailEnd type="none" w="med" len="med"/>
                    </a:lnR>
                    <a:lnT w="6350" cap="flat" cmpd="sng" algn="ctr">
                      <a:solidFill>
                        <a:srgbClr val="D7DDD9"/>
                      </a:solidFill>
                      <a:prstDash val="solid"/>
                      <a:round/>
                      <a:headEnd type="none" w="med" len="med"/>
                      <a:tailEnd type="none" w="med" len="med"/>
                    </a:lnT>
                    <a:lnB w="6350" cap="flat" cmpd="sng" algn="ctr">
                      <a:solidFill>
                        <a:srgbClr val="D7DDD9"/>
                      </a:solidFill>
                      <a:prstDash val="solid"/>
                      <a:round/>
                      <a:headEnd type="none" w="med" len="med"/>
                      <a:tailEnd type="none" w="med" len="med"/>
                    </a:lnB>
                    <a:solidFill>
                      <a:srgbClr val="FFFFFF"/>
                    </a:solidFill>
                  </a:tcPr>
                </a:tc>
                <a:tc>
                  <a:txBody>
                    <a:bodyPr/>
                    <a:lstStyle/>
                    <a:p>
                      <a:pPr indent="0" marL="0">
                        <a:buNone/>
                      </a:pPr>
                      <a:r>
                        <a:rPr lang="en-US" sz="1150" dirty="0">
                          <a:solidFill>
                            <a:srgbClr val="1F2328"/>
                          </a:solidFill>
                          <a:latin typeface="Calibri" pitchFamily="34" charset="0"/>
                          <a:ea typeface="Calibri" pitchFamily="34" charset="-122"/>
                          <a:cs typeface="Calibri" pitchFamily="34" charset="-120"/>
                        </a:rPr>
                        <a:t>96</a:t>
                      </a:r>
                      <a:endParaRPr lang="en-US" sz="1150" dirty="0">
                        <a:latin typeface="Calibri" charset="0"/>
                        <a:ea typeface="Calibri" charset="0"/>
                        <a:cs typeface="Calibri" charset="0"/>
                      </a:endParaRPr>
                    </a:p>
                  </a:txBody>
                  <a:tcPr marL="76200" marR="76200" marT="38100" marB="38100" anchor="ctr">
                    <a:lnL w="6350" cap="flat" cmpd="sng" algn="ctr">
                      <a:solidFill>
                        <a:srgbClr val="D7DDD9"/>
                      </a:solidFill>
                      <a:prstDash val="solid"/>
                      <a:round/>
                      <a:headEnd type="none" w="med" len="med"/>
                      <a:tailEnd type="none" w="med" len="med"/>
                    </a:lnL>
                    <a:lnR w="6350" cap="flat" cmpd="sng" algn="ctr">
                      <a:solidFill>
                        <a:srgbClr val="D7DDD9"/>
                      </a:solidFill>
                      <a:prstDash val="solid"/>
                      <a:round/>
                      <a:headEnd type="none" w="med" len="med"/>
                      <a:tailEnd type="none" w="med" len="med"/>
                    </a:lnR>
                    <a:lnT w="6350" cap="flat" cmpd="sng" algn="ctr">
                      <a:solidFill>
                        <a:srgbClr val="D7DDD9"/>
                      </a:solidFill>
                      <a:prstDash val="solid"/>
                      <a:round/>
                      <a:headEnd type="none" w="med" len="med"/>
                      <a:tailEnd type="none" w="med" len="med"/>
                    </a:lnT>
                    <a:lnB w="6350" cap="flat" cmpd="sng" algn="ctr">
                      <a:solidFill>
                        <a:srgbClr val="D7DDD9"/>
                      </a:solidFill>
                      <a:prstDash val="solid"/>
                      <a:round/>
                      <a:headEnd type="none" w="med" len="med"/>
                      <a:tailEnd type="none" w="med" len="med"/>
                    </a:lnB>
                    <a:solidFill>
                      <a:srgbClr val="FFFFFF"/>
                    </a:solidFill>
                  </a:tcPr>
                </a:tc>
                <a:tc>
                  <a:txBody>
                    <a:bodyPr/>
                    <a:lstStyle/>
                    <a:p>
                      <a:pPr indent="0" marL="0">
                        <a:buNone/>
                      </a:pPr>
                      <a:r>
                        <a:rPr lang="en-US" sz="1150" dirty="0">
                          <a:solidFill>
                            <a:srgbClr val="1F2328"/>
                          </a:solidFill>
                          <a:latin typeface="Calibri" pitchFamily="34" charset="0"/>
                          <a:ea typeface="Calibri" pitchFamily="34" charset="-122"/>
                          <a:cs typeface="Calibri" pitchFamily="34" charset="-120"/>
                        </a:rPr>
                        <a:t>−0.03</a:t>
                      </a:r>
                      <a:endParaRPr lang="en-US" sz="1150" dirty="0">
                        <a:latin typeface="Calibri" charset="0"/>
                        <a:ea typeface="Calibri" charset="0"/>
                        <a:cs typeface="Calibri" charset="0"/>
                      </a:endParaRPr>
                    </a:p>
                  </a:txBody>
                  <a:tcPr marL="76200" marR="76200" marT="38100" marB="38100" anchor="ctr">
                    <a:lnL w="6350" cap="flat" cmpd="sng" algn="ctr">
                      <a:solidFill>
                        <a:srgbClr val="D7DDD9"/>
                      </a:solidFill>
                      <a:prstDash val="solid"/>
                      <a:round/>
                      <a:headEnd type="none" w="med" len="med"/>
                      <a:tailEnd type="none" w="med" len="med"/>
                    </a:lnL>
                    <a:lnR w="6350" cap="flat" cmpd="sng" algn="ctr">
                      <a:solidFill>
                        <a:srgbClr val="D7DDD9"/>
                      </a:solidFill>
                      <a:prstDash val="solid"/>
                      <a:round/>
                      <a:headEnd type="none" w="med" len="med"/>
                      <a:tailEnd type="none" w="med" len="med"/>
                    </a:lnR>
                    <a:lnT w="6350" cap="flat" cmpd="sng" algn="ctr">
                      <a:solidFill>
                        <a:srgbClr val="D7DDD9"/>
                      </a:solidFill>
                      <a:prstDash val="solid"/>
                      <a:round/>
                      <a:headEnd type="none" w="med" len="med"/>
                      <a:tailEnd type="none" w="med" len="med"/>
                    </a:lnT>
                    <a:lnB w="6350" cap="flat" cmpd="sng" algn="ctr">
                      <a:solidFill>
                        <a:srgbClr val="D7DDD9"/>
                      </a:solidFill>
                      <a:prstDash val="solid"/>
                      <a:round/>
                      <a:headEnd type="none" w="med" len="med"/>
                      <a:tailEnd type="none" w="med" len="med"/>
                    </a:lnB>
                    <a:solidFill>
                      <a:srgbClr val="FFFFFF"/>
                    </a:solidFill>
                  </a:tcPr>
                </a:tc>
                <a:tc>
                  <a:txBody>
                    <a:bodyPr/>
                    <a:lstStyle/>
                    <a:p>
                      <a:pPr indent="0" marL="0">
                        <a:buNone/>
                      </a:pPr>
                      <a:r>
                        <a:rPr lang="en-US" sz="1150" dirty="0">
                          <a:solidFill>
                            <a:srgbClr val="1F2328"/>
                          </a:solidFill>
                          <a:latin typeface="Calibri" pitchFamily="34" charset="0"/>
                          <a:ea typeface="Calibri" pitchFamily="34" charset="-122"/>
                          <a:cs typeface="Calibri" pitchFamily="34" charset="-120"/>
                        </a:rPr>
                        <a:t>24%</a:t>
                      </a:r>
                      <a:endParaRPr lang="en-US" sz="1150" dirty="0">
                        <a:latin typeface="Calibri" charset="0"/>
                        <a:ea typeface="Calibri" charset="0"/>
                        <a:cs typeface="Calibri" charset="0"/>
                      </a:endParaRPr>
                    </a:p>
                  </a:txBody>
                  <a:tcPr marL="76200" marR="76200" marT="38100" marB="38100" anchor="ctr">
                    <a:lnL w="6350" cap="flat" cmpd="sng" algn="ctr">
                      <a:solidFill>
                        <a:srgbClr val="D7DDD9"/>
                      </a:solidFill>
                      <a:prstDash val="solid"/>
                      <a:round/>
                      <a:headEnd type="none" w="med" len="med"/>
                      <a:tailEnd type="none" w="med" len="med"/>
                    </a:lnL>
                    <a:lnR w="6350" cap="flat" cmpd="sng" algn="ctr">
                      <a:solidFill>
                        <a:srgbClr val="D7DDD9"/>
                      </a:solidFill>
                      <a:prstDash val="solid"/>
                      <a:round/>
                      <a:headEnd type="none" w="med" len="med"/>
                      <a:tailEnd type="none" w="med" len="med"/>
                    </a:lnR>
                    <a:lnT w="6350" cap="flat" cmpd="sng" algn="ctr">
                      <a:solidFill>
                        <a:srgbClr val="D7DDD9"/>
                      </a:solidFill>
                      <a:prstDash val="solid"/>
                      <a:round/>
                      <a:headEnd type="none" w="med" len="med"/>
                      <a:tailEnd type="none" w="med" len="med"/>
                    </a:lnT>
                    <a:lnB w="6350" cap="flat" cmpd="sng" algn="ctr">
                      <a:solidFill>
                        <a:srgbClr val="D7DDD9"/>
                      </a:solidFill>
                      <a:prstDash val="solid"/>
                      <a:round/>
                      <a:headEnd type="none" w="med" len="med"/>
                      <a:tailEnd type="none" w="med" len="med"/>
                    </a:lnB>
                    <a:solidFill>
                      <a:srgbClr val="FFFFFF"/>
                    </a:solidFill>
                  </a:tcPr>
                </a:tc>
                <a:tc>
                  <a:txBody>
                    <a:bodyPr/>
                    <a:lstStyle/>
                    <a:p>
                      <a:pPr indent="0" marL="0">
                        <a:buNone/>
                      </a:pPr>
                      <a:r>
                        <a:rPr lang="en-US" sz="1150" dirty="0">
                          <a:solidFill>
                            <a:srgbClr val="1F2328"/>
                          </a:solidFill>
                          <a:latin typeface="Calibri" pitchFamily="34" charset="0"/>
                          <a:ea typeface="Calibri" pitchFamily="34" charset="-122"/>
                          <a:cs typeface="Calibri" pitchFamily="34" charset="-120"/>
                        </a:rPr>
                        <a:t>18%</a:t>
                      </a:r>
                      <a:endParaRPr lang="en-US" sz="1150" dirty="0">
                        <a:latin typeface="Calibri" charset="0"/>
                        <a:ea typeface="Calibri" charset="0"/>
                        <a:cs typeface="Calibri" charset="0"/>
                      </a:endParaRPr>
                    </a:p>
                  </a:txBody>
                  <a:tcPr marL="76200" marR="76200" marT="38100" marB="38100" anchor="ctr">
                    <a:lnL w="6350" cap="flat" cmpd="sng" algn="ctr">
                      <a:solidFill>
                        <a:srgbClr val="D7DDD9"/>
                      </a:solidFill>
                      <a:prstDash val="solid"/>
                      <a:round/>
                      <a:headEnd type="none" w="med" len="med"/>
                      <a:tailEnd type="none" w="med" len="med"/>
                    </a:lnL>
                    <a:lnR w="6350" cap="flat" cmpd="sng" algn="ctr">
                      <a:solidFill>
                        <a:srgbClr val="D7DDD9"/>
                      </a:solidFill>
                      <a:prstDash val="solid"/>
                      <a:round/>
                      <a:headEnd type="none" w="med" len="med"/>
                      <a:tailEnd type="none" w="med" len="med"/>
                    </a:lnR>
                    <a:lnT w="6350" cap="flat" cmpd="sng" algn="ctr">
                      <a:solidFill>
                        <a:srgbClr val="D7DDD9"/>
                      </a:solidFill>
                      <a:prstDash val="solid"/>
                      <a:round/>
                      <a:headEnd type="none" w="med" len="med"/>
                      <a:tailEnd type="none" w="med" len="med"/>
                    </a:lnT>
                    <a:lnB w="6350" cap="flat" cmpd="sng" algn="ctr">
                      <a:solidFill>
                        <a:srgbClr val="D7DDD9"/>
                      </a:solidFill>
                      <a:prstDash val="solid"/>
                      <a:round/>
                      <a:headEnd type="none" w="med" len="med"/>
                      <a:tailEnd type="none" w="med" len="med"/>
                    </a:lnB>
                    <a:solidFill>
                      <a:srgbClr val="FFFFFF"/>
                    </a:solidFill>
                  </a:tcPr>
                </a:tc>
              </a:tr>
            </a:tbl>
          </a:graphicData>
        </a:graphic>
      </p:graphicFrame>
      <p:sp>
        <p:nvSpPr>
          <p:cNvPr id="6" name="Shape 3"/>
          <p:cNvSpPr/>
          <p:nvPr/>
        </p:nvSpPr>
        <p:spPr>
          <a:xfrm>
            <a:off x="5897880" y="1325880"/>
            <a:ext cx="2788920" cy="2103120"/>
          </a:xfrm>
          <a:prstGeom prst="roundRect">
            <a:avLst>
              <a:gd name="adj" fmla="val 3478"/>
            </a:avLst>
          </a:prstGeom>
          <a:solidFill>
            <a:srgbClr val="FBEBDD"/>
          </a:solidFill>
          <a:ln w="12700">
            <a:solidFill>
              <a:srgbClr val="FBEBDD"/>
            </a:solidFill>
            <a:prstDash val="solid"/>
          </a:ln>
        </p:spPr>
      </p:sp>
      <p:sp>
        <p:nvSpPr>
          <p:cNvPr id="7" name="Text 4"/>
          <p:cNvSpPr txBox="1"/>
          <p:nvPr/>
        </p:nvSpPr>
        <p:spPr>
          <a:xfrm>
            <a:off x="6062472" y="1453896"/>
            <a:ext cx="2459736" cy="1847088"/>
          </a:xfrm>
          <a:prstGeom prst="rect">
            <a:avLst/>
          </a:prstGeom>
          <a:noFill/>
          <a:ln/>
        </p:spPr>
        <p:txBody>
          <a:bodyPr wrap="square" lIns="0" tIns="0" rIns="0" bIns="0" rtlCol="0" anchor="t">
            <a:normAutofit/>
          </a:bodyPr>
          <a:lstStyle/>
          <a:p>
            <a:pPr indent="0" marL="0">
              <a:spcAft>
                <a:spcPts val="400"/>
              </a:spcAft>
              <a:buNone/>
            </a:pPr>
            <a:r>
              <a:rPr lang="en-US" sz="1250" b="1" dirty="0">
                <a:solidFill>
                  <a:srgbClr val="C8640A"/>
                </a:solidFill>
                <a:latin typeface="Calibri" pitchFamily="34" charset="0"/>
                <a:ea typeface="Calibri" pitchFamily="34" charset="-122"/>
                <a:cs typeface="Calibri" pitchFamily="34" charset="-120"/>
              </a:rPr>
              <a:t>Against Guo et al. 2026</a:t>
            </a:r>
            <a:endParaRPr lang="en-US" sz="1250" dirty="0"/>
          </a:p>
          <a:p>
            <a:pPr indent="0" marL="0">
              <a:buNone/>
            </a:pPr>
            <a:r>
              <a:rPr lang="en-US" sz="1100" dirty="0">
                <a:solidFill>
                  <a:srgbClr val="1F2328"/>
                </a:solidFill>
                <a:latin typeface="Calibri" pitchFamily="34" charset="0"/>
                <a:ea typeface="Calibri" pitchFamily="34" charset="-122"/>
                <a:cs typeface="Calibri" pitchFamily="34" charset="-120"/>
              </a:rPr>
              <a:t>Guo found 22% net warming under 1,000 mm. By day we find none (0 of 56 dry cities). At night, 38% of dry cities have warmer green squares, twice the wet share (18%).</a:t>
            </a:r>
            <a:endParaRPr lang="en-US" sz="1250" dirty="0"/>
          </a:p>
        </p:txBody>
      </p:sp>
      <p:sp>
        <p:nvSpPr>
          <p:cNvPr id="8" name="Text 5"/>
          <p:cNvSpPr txBox="1"/>
          <p:nvPr/>
        </p:nvSpPr>
        <p:spPr>
          <a:xfrm>
            <a:off x="457200" y="3611880"/>
            <a:ext cx="8229600" cy="1005840"/>
          </a:xfrm>
          <a:prstGeom prst="rect">
            <a:avLst/>
          </a:prstGeom>
          <a:noFill/>
          <a:ln/>
        </p:spPr>
        <p:txBody>
          <a:bodyPr wrap="square" lIns="0" tIns="0" rIns="0" bIns="0" rtlCol="0" anchor="t">
            <a:normAutofit/>
          </a:bodyPr>
          <a:lstStyle/>
          <a:p>
            <a:pPr marL="177800" indent="-177800">
              <a:spcAft>
                <a:spcPts val="500"/>
              </a:spcAft>
              <a:buSzPct val="100000"/>
              <a:buChar char="•"/>
            </a:pPr>
            <a:r>
              <a:rPr lang="en-US" sz="1200" dirty="0">
                <a:solidFill>
                  <a:srgbClr val="1F2328"/>
                </a:solidFill>
                <a:latin typeface="Calibri" pitchFamily="34" charset="0"/>
                <a:ea typeface="Calibri" pitchFamily="34" charset="-122"/>
                <a:cs typeface="Calibri" pitchFamily="34" charset="-120"/>
              </a:rPr>
              <a:t>Warm green nights fall steadily with rainfall: 50% under 750 mm, 28% at 750–1,500 mm, 3% over 1,500 mm.</a:t>
            </a:r>
            <a:endParaRPr lang="en-US" sz="1200" dirty="0"/>
          </a:p>
          <a:p>
            <a:pPr marL="177800" indent="-177800">
              <a:spcAft>
                <a:spcPts val="500"/>
              </a:spcAft>
              <a:buSzPct val="100000"/>
              <a:buChar char="•"/>
            </a:pPr>
            <a:r>
              <a:rPr lang="en-US" sz="1200" dirty="0">
                <a:solidFill>
                  <a:srgbClr val="1F2328"/>
                </a:solidFill>
                <a:latin typeface="Calibri" pitchFamily="34" charset="0"/>
                <a:ea typeface="Calibri" pitchFamily="34" charset="-122"/>
                <a:cs typeface="Calibri" pitchFamily="34" charset="-120"/>
              </a:rPr>
              <a:t>With a 6-night cut-off (48 dry cities) the night result is stronger: 54% vs 18%.</a:t>
            </a:r>
            <a:endParaRPr lang="en-US" sz="1200" dirty="0"/>
          </a:p>
        </p:txBody>
      </p:sp>
      <p:sp>
        <p:nvSpPr>
          <p:cNvPr id="9" name="Text 6"/>
          <p:cNvSpPr txBox="1"/>
          <p:nvPr/>
        </p:nvSpPr>
        <p:spPr>
          <a:xfrm>
            <a:off x="457200" y="4796028"/>
            <a:ext cx="8229600" cy="219456"/>
          </a:xfrm>
          <a:prstGeom prst="rect">
            <a:avLst/>
          </a:prstGeom>
          <a:noFill/>
          <a:ln/>
        </p:spPr>
        <p:txBody>
          <a:bodyPr wrap="square" lIns="0" tIns="0" rIns="0" bIns="0" rtlCol="0" anchor="ctr"/>
          <a:lstStyle/>
          <a:p>
            <a:pPr indent="0" marL="0">
              <a:buNone/>
            </a:pPr>
            <a:r>
              <a:rPr lang="en-US" sz="850" i="1" dirty="0">
                <a:solidFill>
                  <a:srgbClr val="5F6670"/>
                </a:solidFill>
                <a:latin typeface="Calibri" pitchFamily="34" charset="0"/>
                <a:ea typeface="Calibri" pitchFamily="34" charset="-122"/>
                <a:cs typeface="Calibri" pitchFamily="34" charset="-120"/>
              </a:rPr>
              <a:t>Slopes in °C per 0.1 NDVI; negative = greener is cooler. main_result_bins.csv</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2011680" cy="237744"/>
          </a:xfrm>
          <a:prstGeom prst="rect">
            <a:avLst/>
          </a:prstGeom>
          <a:noFill/>
          <a:ln/>
        </p:spPr>
        <p:txBody>
          <a:bodyPr wrap="square" lIns="0" tIns="0" rIns="0" bIns="0" rtlCol="0" anchor="ctr"/>
          <a:lstStyle/>
          <a:p>
            <a:pPr indent="0" marL="0">
              <a:buNone/>
            </a:pPr>
            <a:r>
              <a:rPr lang="en-US" sz="900" b="1" spc="200" kern="0" dirty="0">
                <a:solidFill>
                  <a:srgbClr val="1F4D3A"/>
                </a:solidFill>
                <a:latin typeface="Calibri" pitchFamily="34" charset="0"/>
                <a:ea typeface="Calibri" pitchFamily="34" charset="-122"/>
                <a:cs typeface="Calibri" pitchFamily="34" charset="-120"/>
              </a:rPr>
              <a:t>RESULTS</a:t>
            </a:r>
            <a:endParaRPr lang="en-US" sz="900" dirty="0"/>
          </a:p>
        </p:txBody>
      </p:sp>
      <p:sp>
        <p:nvSpPr>
          <p:cNvPr id="3" name="Text 1"/>
          <p:cNvSpPr txBox="1"/>
          <p:nvPr/>
        </p:nvSpPr>
        <p:spPr>
          <a:xfrm>
            <a:off x="5943600" y="256032"/>
            <a:ext cx="2743200" cy="237744"/>
          </a:xfrm>
          <a:prstGeom prst="rect">
            <a:avLst/>
          </a:prstGeom>
          <a:noFill/>
          <a:ln/>
        </p:spPr>
        <p:txBody>
          <a:bodyPr wrap="square" lIns="0" tIns="0" rIns="0" bIns="0" rtlCol="0" anchor="ctr"/>
          <a:lstStyle/>
          <a:p>
            <a:pPr algn="r" indent="0" marL="0">
              <a:buNone/>
            </a:pPr>
            <a:r>
              <a:rPr lang="en-US" sz="900" dirty="0">
                <a:solidFill>
                  <a:srgbClr val="5F6670"/>
                </a:solidFill>
                <a:latin typeface="Calibri" pitchFamily="34" charset="0"/>
                <a:ea typeface="Calibri" pitchFamily="34" charset="-122"/>
                <a:cs typeface="Calibri" pitchFamily="34" charset="-120"/>
              </a:rPr>
              <a:t>Presenter: Role 3</a:t>
            </a:r>
            <a:endParaRPr lang="en-US" sz="900" dirty="0"/>
          </a:p>
        </p:txBody>
      </p:sp>
      <p:sp>
        <p:nvSpPr>
          <p:cNvPr id="4" name="Text 2"/>
          <p:cNvSpPr txBox="1"/>
          <p:nvPr/>
        </p:nvSpPr>
        <p:spPr>
          <a:xfrm>
            <a:off x="457200" y="502920"/>
            <a:ext cx="8229600" cy="685800"/>
          </a:xfrm>
          <a:prstGeom prst="rect">
            <a:avLst/>
          </a:prstGeom>
          <a:noFill/>
          <a:ln/>
        </p:spPr>
        <p:txBody>
          <a:bodyPr wrap="square" lIns="0" tIns="0" rIns="0" bIns="0" rtlCol="0" anchor="t">
            <a:normAutofit/>
          </a:bodyPr>
          <a:lstStyle/>
          <a:p>
            <a:pPr indent="0" marL="0">
              <a:buNone/>
            </a:pPr>
            <a:r>
              <a:rPr lang="en-US" sz="2000" b="1" dirty="0">
                <a:solidFill>
                  <a:srgbClr val="1F2328"/>
                </a:solidFill>
                <a:latin typeface="Cambria" pitchFamily="34" charset="0"/>
                <a:ea typeface="Cambria" pitchFamily="34" charset="-122"/>
                <a:cs typeface="Cambria" pitchFamily="34" charset="-120"/>
              </a:rPr>
              <a:t>In the same city, daytime cooling weakens after the monsoon; night cooling strengthens</a:t>
            </a:r>
            <a:endParaRPr lang="en-US" sz="2000" dirty="0"/>
          </a:p>
        </p:txBody>
      </p:sp>
      <p:pic>
        <p:nvPicPr>
          <p:cNvPr id="5" name="Image 0" descr="S_season_paired.png">    </p:cNvPr>
          <p:cNvPicPr>
            <a:picLocks noChangeAspect="1"/>
          </p:cNvPicPr>
          <p:nvPr/>
        </p:nvPicPr>
        <p:blipFill>
          <a:blip r:embed="rId1"/>
          <a:stretch>
            <a:fillRect/>
          </a:stretch>
        </p:blipFill>
        <p:spPr>
          <a:xfrm>
            <a:off x="457200" y="1280160"/>
            <a:ext cx="5577840" cy="2667226"/>
          </a:xfrm>
          <a:prstGeom prst="rect">
            <a:avLst/>
          </a:prstGeom>
        </p:spPr>
      </p:pic>
      <p:sp>
        <p:nvSpPr>
          <p:cNvPr id="6" name="Text 3"/>
          <p:cNvSpPr txBox="1"/>
          <p:nvPr/>
        </p:nvSpPr>
        <p:spPr>
          <a:xfrm>
            <a:off x="6263640" y="1325880"/>
            <a:ext cx="2423160" cy="502920"/>
          </a:xfrm>
          <a:prstGeom prst="rect">
            <a:avLst/>
          </a:prstGeom>
          <a:noFill/>
          <a:ln/>
        </p:spPr>
        <p:txBody>
          <a:bodyPr wrap="square" lIns="0" tIns="0" rIns="0" bIns="0" rtlCol="0" anchor="b"/>
          <a:lstStyle/>
          <a:p>
            <a:pPr indent="0" marL="0">
              <a:buNone/>
            </a:pPr>
            <a:r>
              <a:rPr lang="en-US" sz="2600" b="1" dirty="0">
                <a:solidFill>
                  <a:srgbClr val="C8640A"/>
                </a:solidFill>
                <a:latin typeface="Cambria" pitchFamily="34" charset="0"/>
                <a:ea typeface="Cambria" pitchFamily="34" charset="-122"/>
                <a:cs typeface="Cambria" pitchFamily="34" charset="-120"/>
              </a:rPr>
              <a:t>81%</a:t>
            </a:r>
            <a:endParaRPr lang="en-US" sz="2600" dirty="0"/>
          </a:p>
        </p:txBody>
      </p:sp>
      <p:sp>
        <p:nvSpPr>
          <p:cNvPr id="7" name="Text 4"/>
          <p:cNvSpPr txBox="1"/>
          <p:nvPr/>
        </p:nvSpPr>
        <p:spPr>
          <a:xfrm>
            <a:off x="6263640" y="1847088"/>
            <a:ext cx="2423160" cy="548640"/>
          </a:xfrm>
          <a:prstGeom prst="rect">
            <a:avLst/>
          </a:prstGeom>
          <a:noFill/>
          <a:ln/>
        </p:spPr>
        <p:txBody>
          <a:bodyPr wrap="square" lIns="0" tIns="0" rIns="0" bIns="0" rtlCol="0" anchor="t">
            <a:normAutofit/>
          </a:bodyPr>
          <a:lstStyle/>
          <a:p>
            <a:pPr indent="0" marL="0">
              <a:buNone/>
            </a:pPr>
            <a:r>
              <a:rPr lang="en-US" sz="1050" dirty="0">
                <a:solidFill>
                  <a:srgbClr val="5F6670"/>
                </a:solidFill>
                <a:latin typeface="Calibri" pitchFamily="34" charset="0"/>
                <a:ea typeface="Calibri" pitchFamily="34" charset="-122"/>
                <a:cs typeface="Calibri" pitchFamily="34" charset="-120"/>
              </a:rPr>
              <a:t>of 202 cities cool less by day after the monsoon (median +0.43; Wilcoxon p ≈ 7e-19)</a:t>
            </a:r>
            <a:endParaRPr lang="en-US" sz="1050" dirty="0"/>
          </a:p>
        </p:txBody>
      </p:sp>
      <p:sp>
        <p:nvSpPr>
          <p:cNvPr id="8" name="Text 5"/>
          <p:cNvSpPr txBox="1"/>
          <p:nvPr/>
        </p:nvSpPr>
        <p:spPr>
          <a:xfrm>
            <a:off x="6263640" y="2377440"/>
            <a:ext cx="2423160" cy="502920"/>
          </a:xfrm>
          <a:prstGeom prst="rect">
            <a:avLst/>
          </a:prstGeom>
          <a:noFill/>
          <a:ln/>
        </p:spPr>
        <p:txBody>
          <a:bodyPr wrap="square" lIns="0" tIns="0" rIns="0" bIns="0" rtlCol="0" anchor="b"/>
          <a:lstStyle/>
          <a:p>
            <a:pPr indent="0" marL="0">
              <a:buNone/>
            </a:pPr>
            <a:r>
              <a:rPr lang="en-US" sz="2600" b="1" dirty="0">
                <a:solidFill>
                  <a:srgbClr val="1F4D3A"/>
                </a:solidFill>
                <a:latin typeface="Cambria" pitchFamily="34" charset="0"/>
                <a:ea typeface="Cambria" pitchFamily="34" charset="-122"/>
                <a:cs typeface="Cambria" pitchFamily="34" charset="-120"/>
              </a:rPr>
              <a:t>69%</a:t>
            </a:r>
            <a:endParaRPr lang="en-US" sz="2600" dirty="0"/>
          </a:p>
        </p:txBody>
      </p:sp>
      <p:sp>
        <p:nvSpPr>
          <p:cNvPr id="9" name="Text 6"/>
          <p:cNvSpPr txBox="1"/>
          <p:nvPr/>
        </p:nvSpPr>
        <p:spPr>
          <a:xfrm>
            <a:off x="6263640" y="2898648"/>
            <a:ext cx="2423160" cy="548640"/>
          </a:xfrm>
          <a:prstGeom prst="rect">
            <a:avLst/>
          </a:prstGeom>
          <a:noFill/>
          <a:ln/>
        </p:spPr>
        <p:txBody>
          <a:bodyPr wrap="square" lIns="0" tIns="0" rIns="0" bIns="0" rtlCol="0" anchor="t">
            <a:normAutofit/>
          </a:bodyPr>
          <a:lstStyle/>
          <a:p>
            <a:pPr indent="0" marL="0">
              <a:buNone/>
            </a:pPr>
            <a:r>
              <a:rPr lang="en-US" sz="1050" dirty="0">
                <a:solidFill>
                  <a:srgbClr val="5F6670"/>
                </a:solidFill>
                <a:latin typeface="Calibri" pitchFamily="34" charset="0"/>
                <a:ea typeface="Calibri" pitchFamily="34" charset="-122"/>
                <a:cs typeface="Calibri" pitchFamily="34" charset="-120"/>
              </a:rPr>
              <a:t>of 127 cities cool more at night after the monsoon (median −0.16)</a:t>
            </a:r>
            <a:endParaRPr lang="en-US" sz="1050" dirty="0"/>
          </a:p>
        </p:txBody>
      </p:sp>
      <p:sp>
        <p:nvSpPr>
          <p:cNvPr id="10" name="Text 7"/>
          <p:cNvSpPr txBox="1"/>
          <p:nvPr/>
        </p:nvSpPr>
        <p:spPr>
          <a:xfrm>
            <a:off x="457200" y="3977640"/>
            <a:ext cx="8229600" cy="731520"/>
          </a:xfrm>
          <a:prstGeom prst="rect">
            <a:avLst/>
          </a:prstGeom>
          <a:noFill/>
          <a:ln/>
        </p:spPr>
        <p:txBody>
          <a:bodyPr wrap="square" lIns="0" tIns="0" rIns="0" bIns="0" rtlCol="0" anchor="t">
            <a:normAutofit/>
          </a:bodyPr>
          <a:lstStyle/>
          <a:p>
            <a:pPr marL="177800" indent="-177800">
              <a:spcAft>
                <a:spcPts val="500"/>
              </a:spcAft>
              <a:buSzPct val="100000"/>
              <a:buChar char="•"/>
            </a:pPr>
            <a:r>
              <a:rPr lang="en-US" sz="1150" dirty="0">
                <a:solidFill>
                  <a:srgbClr val="1F2328"/>
                </a:solidFill>
                <a:latin typeface="Calibri" pitchFamily="34" charset="0"/>
                <a:ea typeface="Calibri" pitchFamily="34" charset="-122"/>
                <a:cs typeface="Calibri" pitchFamily="34" charset="-120"/>
              </a:rPr>
              <a:t>Same city, same squares, different season: everything fixed about the city cancels out.</a:t>
            </a:r>
            <a:endParaRPr lang="en-US" sz="1150" dirty="0"/>
          </a:p>
          <a:p>
            <a:pPr marL="177800" indent="-177800">
              <a:spcAft>
                <a:spcPts val="500"/>
              </a:spcAft>
              <a:buSzPct val="100000"/>
              <a:buChar char="•"/>
            </a:pPr>
            <a:r>
              <a:rPr lang="en-US" sz="1150" dirty="0">
                <a:solidFill>
                  <a:srgbClr val="1F2328"/>
                </a:solidFill>
                <a:latin typeface="Calibri" pitchFamily="34" charset="0"/>
                <a:ea typeface="Calibri" pitchFamily="34" charset="-122"/>
                <a:cs typeface="Calibri" pitchFamily="34" charset="-120"/>
              </a:rPr>
              <a:t>Soil wetting does not clearly explain the change (−1.71 per m³/m³, 95% CI −3.65 to +0.24, p = 0.09).</a:t>
            </a:r>
            <a:endParaRPr lang="en-US" sz="1150" dirty="0"/>
          </a:p>
        </p:txBody>
      </p:sp>
      <p:sp>
        <p:nvSpPr>
          <p:cNvPr id="11" name="Text 8"/>
          <p:cNvSpPr txBox="1"/>
          <p:nvPr/>
        </p:nvSpPr>
        <p:spPr>
          <a:xfrm>
            <a:off x="457200" y="4796028"/>
            <a:ext cx="8229600" cy="219456"/>
          </a:xfrm>
          <a:prstGeom prst="rect">
            <a:avLst/>
          </a:prstGeom>
          <a:noFill/>
          <a:ln/>
        </p:spPr>
        <p:txBody>
          <a:bodyPr wrap="square" lIns="0" tIns="0" rIns="0" bIns="0" rtlCol="0" anchor="ctr"/>
          <a:lstStyle/>
          <a:p>
            <a:pPr indent="0" marL="0">
              <a:buNone/>
            </a:pPr>
            <a:r>
              <a:rPr lang="en-US" sz="850" i="1" dirty="0">
                <a:solidFill>
                  <a:srgbClr val="5F6670"/>
                </a:solidFill>
                <a:latin typeface="Calibri" pitchFamily="34" charset="0"/>
                <a:ea typeface="Calibri" pitchFamily="34" charset="-122"/>
                <a:cs typeface="Calibri" pitchFamily="34" charset="-120"/>
              </a:rPr>
              <a:t>Backup figure: S_dce_vs_dsoil.png. seasons.csv, seasons_summary.csv</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2011680" cy="237744"/>
          </a:xfrm>
          <a:prstGeom prst="rect">
            <a:avLst/>
          </a:prstGeom>
          <a:noFill/>
          <a:ln/>
        </p:spPr>
        <p:txBody>
          <a:bodyPr wrap="square" lIns="0" tIns="0" rIns="0" bIns="0" rtlCol="0" anchor="ctr"/>
          <a:lstStyle/>
          <a:p>
            <a:pPr indent="0" marL="0">
              <a:buNone/>
            </a:pPr>
            <a:r>
              <a:rPr lang="en-US" sz="900" b="1" spc="200" kern="0" dirty="0">
                <a:solidFill>
                  <a:srgbClr val="1F4D3A"/>
                </a:solidFill>
                <a:latin typeface="Calibri" pitchFamily="34" charset="0"/>
                <a:ea typeface="Calibri" pitchFamily="34" charset="-122"/>
                <a:cs typeface="Calibri" pitchFamily="34" charset="-120"/>
              </a:rPr>
              <a:t>RESULTS</a:t>
            </a:r>
            <a:endParaRPr lang="en-US" sz="900" dirty="0"/>
          </a:p>
        </p:txBody>
      </p:sp>
      <p:sp>
        <p:nvSpPr>
          <p:cNvPr id="3" name="Text 1"/>
          <p:cNvSpPr txBox="1"/>
          <p:nvPr/>
        </p:nvSpPr>
        <p:spPr>
          <a:xfrm>
            <a:off x="5943600" y="256032"/>
            <a:ext cx="2743200" cy="237744"/>
          </a:xfrm>
          <a:prstGeom prst="rect">
            <a:avLst/>
          </a:prstGeom>
          <a:noFill/>
          <a:ln/>
        </p:spPr>
        <p:txBody>
          <a:bodyPr wrap="square" lIns="0" tIns="0" rIns="0" bIns="0" rtlCol="0" anchor="ctr"/>
          <a:lstStyle/>
          <a:p>
            <a:pPr algn="r" indent="0" marL="0">
              <a:buNone/>
            </a:pPr>
            <a:r>
              <a:rPr lang="en-US" sz="900" dirty="0">
                <a:solidFill>
                  <a:srgbClr val="5F6670"/>
                </a:solidFill>
                <a:latin typeface="Calibri" pitchFamily="34" charset="0"/>
                <a:ea typeface="Calibri" pitchFamily="34" charset="-122"/>
                <a:cs typeface="Calibri" pitchFamily="34" charset="-120"/>
              </a:rPr>
              <a:t>Presenter: Role 4</a:t>
            </a:r>
            <a:endParaRPr lang="en-US" sz="900" dirty="0"/>
          </a:p>
        </p:txBody>
      </p:sp>
      <p:sp>
        <p:nvSpPr>
          <p:cNvPr id="4" name="Text 2"/>
          <p:cNvSpPr txBox="1"/>
          <p:nvPr/>
        </p:nvSpPr>
        <p:spPr>
          <a:xfrm>
            <a:off x="457200" y="502920"/>
            <a:ext cx="8229600" cy="685800"/>
          </a:xfrm>
          <a:prstGeom prst="rect">
            <a:avLst/>
          </a:prstGeom>
          <a:noFill/>
          <a:ln/>
        </p:spPr>
        <p:txBody>
          <a:bodyPr wrap="square" lIns="0" tIns="0" rIns="0" bIns="0" rtlCol="0" anchor="t">
            <a:normAutofit/>
          </a:bodyPr>
          <a:lstStyle/>
          <a:p>
            <a:pPr indent="0" marL="0">
              <a:buNone/>
            </a:pPr>
            <a:r>
              <a:rPr lang="en-US" sz="2000" b="1" dirty="0">
                <a:solidFill>
                  <a:srgbClr val="1F2328"/>
                </a:solidFill>
                <a:latin typeface="Cambria" pitchFamily="34" charset="0"/>
                <a:ea typeface="Cambria" pitchFamily="34" charset="-122"/>
                <a:cs typeface="Cambria" pitchFamily="34" charset="-120"/>
              </a:rPr>
              <a:t>Crowded squares are less green, and the less green they are, the hotter</a:t>
            </a:r>
            <a:endParaRPr lang="en-US" sz="2000" dirty="0"/>
          </a:p>
        </p:txBody>
      </p:sp>
      <p:pic>
        <p:nvPicPr>
          <p:cNvPr id="5" name="Image 0" descr="F_exposure_by_season.png">    </p:cNvPr>
          <p:cNvPicPr>
            <a:picLocks noChangeAspect="1"/>
          </p:cNvPicPr>
          <p:nvPr/>
        </p:nvPicPr>
        <p:blipFill>
          <a:blip r:embed="rId1"/>
          <a:stretch>
            <a:fillRect/>
          </a:stretch>
        </p:blipFill>
        <p:spPr>
          <a:xfrm>
            <a:off x="569044" y="1188720"/>
            <a:ext cx="4073992" cy="2880360"/>
          </a:xfrm>
          <a:prstGeom prst="rect">
            <a:avLst/>
          </a:prstGeom>
        </p:spPr>
      </p:pic>
      <p:pic>
        <p:nvPicPr>
          <p:cNvPr id="6" name="Image 1" descr="F_crowded_vs_green.png">    </p:cNvPr>
          <p:cNvPicPr>
            <a:picLocks noChangeAspect="1"/>
          </p:cNvPicPr>
          <p:nvPr/>
        </p:nvPicPr>
        <p:blipFill>
          <a:blip r:embed="rId2"/>
          <a:stretch>
            <a:fillRect/>
          </a:stretch>
        </p:blipFill>
        <p:spPr>
          <a:xfrm>
            <a:off x="4933402" y="1188720"/>
            <a:ext cx="3712036" cy="2880360"/>
          </a:xfrm>
          <a:prstGeom prst="rect">
            <a:avLst/>
          </a:prstGeom>
        </p:spPr>
      </p:pic>
      <p:sp>
        <p:nvSpPr>
          <p:cNvPr id="7" name="Text 3"/>
          <p:cNvSpPr txBox="1"/>
          <p:nvPr/>
        </p:nvSpPr>
        <p:spPr>
          <a:xfrm>
            <a:off x="457200" y="4114800"/>
            <a:ext cx="1920240" cy="713232"/>
          </a:xfrm>
          <a:prstGeom prst="rect">
            <a:avLst/>
          </a:prstGeom>
          <a:noFill/>
          <a:ln/>
        </p:spPr>
        <p:txBody>
          <a:bodyPr wrap="square" lIns="0" tIns="0" rIns="0" bIns="0" rtlCol="0" anchor="t">
            <a:normAutofit/>
          </a:bodyPr>
          <a:lstStyle/>
          <a:p>
            <a:pPr indent="0" marL="0">
              <a:buNone/>
            </a:pPr>
            <a:r>
              <a:rPr lang="en-US" sz="1500" b="1" dirty="0">
                <a:solidFill>
                  <a:srgbClr val="1F4D3A"/>
                </a:solidFill>
                <a:latin typeface="Cambria" pitchFamily="34" charset="0"/>
                <a:ea typeface="Cambria" pitchFamily="34" charset="-122"/>
                <a:cs typeface="Cambria" pitchFamily="34" charset="-120"/>
              </a:rPr>
              <a:t>90–96%</a:t>
            </a:r>
            <a:endParaRPr lang="en-US" sz="1500" dirty="0"/>
          </a:p>
          <a:p>
            <a:pPr indent="0" marL="0">
              <a:buNone/>
            </a:pPr>
            <a:r>
              <a:rPr lang="en-US" sz="950" dirty="0">
                <a:solidFill>
                  <a:srgbClr val="5F6670"/>
                </a:solidFill>
                <a:latin typeface="Calibri" pitchFamily="34" charset="0"/>
                <a:ea typeface="Calibri" pitchFamily="34" charset="-122"/>
                <a:cs typeface="Calibri" pitchFamily="34" charset="-120"/>
              </a:rPr>
              <a:t>cities where crowded squares are less green</a:t>
            </a:r>
            <a:endParaRPr lang="en-US" sz="1500" dirty="0"/>
          </a:p>
        </p:txBody>
      </p:sp>
      <p:sp>
        <p:nvSpPr>
          <p:cNvPr id="8" name="Text 4"/>
          <p:cNvSpPr txBox="1"/>
          <p:nvPr/>
        </p:nvSpPr>
        <p:spPr>
          <a:xfrm>
            <a:off x="2560320" y="4114800"/>
            <a:ext cx="1920240" cy="713232"/>
          </a:xfrm>
          <a:prstGeom prst="rect">
            <a:avLst/>
          </a:prstGeom>
          <a:noFill/>
          <a:ln/>
        </p:spPr>
        <p:txBody>
          <a:bodyPr wrap="square" lIns="0" tIns="0" rIns="0" bIns="0" rtlCol="0" anchor="t">
            <a:normAutofit/>
          </a:bodyPr>
          <a:lstStyle/>
          <a:p>
            <a:pPr indent="0" marL="0">
              <a:buNone/>
            </a:pPr>
            <a:r>
              <a:rPr lang="en-US" sz="1500" b="1" dirty="0">
                <a:solidFill>
                  <a:srgbClr val="1F4D3A"/>
                </a:solidFill>
                <a:latin typeface="Cambria" pitchFamily="34" charset="0"/>
                <a:ea typeface="Cambria" pitchFamily="34" charset="-122"/>
                <a:cs typeface="Cambria" pitchFamily="34" charset="-120"/>
              </a:rPr>
              <a:t>96–97%</a:t>
            </a:r>
            <a:endParaRPr lang="en-US" sz="1500" dirty="0"/>
          </a:p>
          <a:p>
            <a:pPr indent="0" marL="0">
              <a:buNone/>
            </a:pPr>
            <a:r>
              <a:rPr lang="en-US" sz="950" dirty="0">
                <a:solidFill>
                  <a:srgbClr val="5F6670"/>
                </a:solidFill>
                <a:latin typeface="Calibri" pitchFamily="34" charset="0"/>
                <a:ea typeface="Calibri" pitchFamily="34" charset="-122"/>
                <a:cs typeface="Calibri" pitchFamily="34" charset="-120"/>
              </a:rPr>
              <a:t>people live in hotter squares at night</a:t>
            </a:r>
            <a:endParaRPr lang="en-US" sz="1500" dirty="0"/>
          </a:p>
        </p:txBody>
      </p:sp>
      <p:sp>
        <p:nvSpPr>
          <p:cNvPr id="9" name="Text 5"/>
          <p:cNvSpPr txBox="1"/>
          <p:nvPr/>
        </p:nvSpPr>
        <p:spPr>
          <a:xfrm>
            <a:off x="4663440" y="4114800"/>
            <a:ext cx="1920240" cy="713232"/>
          </a:xfrm>
          <a:prstGeom prst="rect">
            <a:avLst/>
          </a:prstGeom>
          <a:noFill/>
          <a:ln/>
        </p:spPr>
        <p:txBody>
          <a:bodyPr wrap="square" lIns="0" tIns="0" rIns="0" bIns="0" rtlCol="0" anchor="t">
            <a:normAutofit/>
          </a:bodyPr>
          <a:lstStyle/>
          <a:p>
            <a:pPr indent="0" marL="0">
              <a:buNone/>
            </a:pPr>
            <a:r>
              <a:rPr lang="en-US" sz="1500" b="1" dirty="0">
                <a:solidFill>
                  <a:srgbClr val="1F4D3A"/>
                </a:solidFill>
                <a:latin typeface="Cambria" pitchFamily="34" charset="0"/>
                <a:ea typeface="Cambria" pitchFamily="34" charset="-122"/>
                <a:cs typeface="Cambria" pitchFamily="34" charset="-120"/>
              </a:rPr>
              <a:t>ρ ≈ −0.73</a:t>
            </a:r>
            <a:endParaRPr lang="en-US" sz="1500" dirty="0"/>
          </a:p>
          <a:p>
            <a:pPr indent="0" marL="0">
              <a:buNone/>
            </a:pPr>
            <a:r>
              <a:rPr lang="en-US" sz="950" dirty="0">
                <a:solidFill>
                  <a:srgbClr val="5F6670"/>
                </a:solidFill>
                <a:latin typeface="Calibri" pitchFamily="34" charset="0"/>
                <a:ea typeface="Calibri" pitchFamily="34" charset="-122"/>
                <a:cs typeface="Calibri" pitchFamily="34" charset="-120"/>
              </a:rPr>
              <a:t>less green crowded squares → bigger heat gap</a:t>
            </a:r>
            <a:endParaRPr lang="en-US" sz="1500" dirty="0"/>
          </a:p>
        </p:txBody>
      </p:sp>
      <p:sp>
        <p:nvSpPr>
          <p:cNvPr id="10" name="Text 6"/>
          <p:cNvSpPr txBox="1"/>
          <p:nvPr/>
        </p:nvSpPr>
        <p:spPr>
          <a:xfrm>
            <a:off x="6766560" y="4114800"/>
            <a:ext cx="1920240" cy="713232"/>
          </a:xfrm>
          <a:prstGeom prst="rect">
            <a:avLst/>
          </a:prstGeom>
          <a:noFill/>
          <a:ln/>
        </p:spPr>
        <p:txBody>
          <a:bodyPr wrap="square" lIns="0" tIns="0" rIns="0" bIns="0" rtlCol="0" anchor="t">
            <a:normAutofit/>
          </a:bodyPr>
          <a:lstStyle/>
          <a:p>
            <a:pPr indent="0" marL="0">
              <a:buNone/>
            </a:pPr>
            <a:r>
              <a:rPr lang="en-US" sz="1500" b="1" dirty="0">
                <a:solidFill>
                  <a:srgbClr val="C8640A"/>
                </a:solidFill>
                <a:latin typeface="Cambria" pitchFamily="34" charset="0"/>
                <a:ea typeface="Cambria" pitchFamily="34" charset="-122"/>
                <a:cs typeface="Cambria" pitchFamily="34" charset="-120"/>
              </a:rPr>
              <a:t>+1.08 °C</a:t>
            </a:r>
            <a:endParaRPr lang="en-US" sz="1500" dirty="0"/>
          </a:p>
          <a:p>
            <a:pPr indent="0" marL="0">
              <a:buNone/>
            </a:pPr>
            <a:r>
              <a:rPr lang="en-US" sz="950" dirty="0">
                <a:solidFill>
                  <a:srgbClr val="5F6670"/>
                </a:solidFill>
                <a:latin typeface="Calibri" pitchFamily="34" charset="0"/>
                <a:ea typeface="Calibri" pitchFamily="34" charset="-122"/>
                <a:cs typeface="Calibri" pitchFamily="34" charset="-120"/>
              </a:rPr>
              <a:t>largest gap, Kolkata (median +0.1 to +0.2)</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2011680" cy="237744"/>
          </a:xfrm>
          <a:prstGeom prst="rect">
            <a:avLst/>
          </a:prstGeom>
          <a:noFill/>
          <a:ln/>
        </p:spPr>
        <p:txBody>
          <a:bodyPr wrap="square" lIns="0" tIns="0" rIns="0" bIns="0" rtlCol="0" anchor="ctr"/>
          <a:lstStyle/>
          <a:p>
            <a:pPr indent="0" marL="0">
              <a:buNone/>
            </a:pPr>
            <a:r>
              <a:rPr lang="en-US" sz="900" b="1" spc="200" kern="0" dirty="0">
                <a:solidFill>
                  <a:srgbClr val="1F4D3A"/>
                </a:solidFill>
                <a:latin typeface="Calibri" pitchFamily="34" charset="0"/>
                <a:ea typeface="Calibri" pitchFamily="34" charset="-122"/>
                <a:cs typeface="Calibri" pitchFamily="34" charset="-120"/>
              </a:rPr>
              <a:t>RESULTS</a:t>
            </a:r>
            <a:endParaRPr lang="en-US" sz="900" dirty="0"/>
          </a:p>
        </p:txBody>
      </p:sp>
      <p:sp>
        <p:nvSpPr>
          <p:cNvPr id="3" name="Text 1"/>
          <p:cNvSpPr txBox="1"/>
          <p:nvPr/>
        </p:nvSpPr>
        <p:spPr>
          <a:xfrm>
            <a:off x="5943600" y="256032"/>
            <a:ext cx="2743200" cy="237744"/>
          </a:xfrm>
          <a:prstGeom prst="rect">
            <a:avLst/>
          </a:prstGeom>
          <a:noFill/>
          <a:ln/>
        </p:spPr>
        <p:txBody>
          <a:bodyPr wrap="square" lIns="0" tIns="0" rIns="0" bIns="0" rtlCol="0" anchor="ctr"/>
          <a:lstStyle/>
          <a:p>
            <a:pPr algn="r" indent="0" marL="0">
              <a:buNone/>
            </a:pPr>
            <a:r>
              <a:rPr lang="en-US" sz="900" dirty="0">
                <a:solidFill>
                  <a:srgbClr val="5F6670"/>
                </a:solidFill>
                <a:latin typeface="Calibri" pitchFamily="34" charset="0"/>
                <a:ea typeface="Calibri" pitchFamily="34" charset="-122"/>
                <a:cs typeface="Calibri" pitchFamily="34" charset="-120"/>
              </a:rPr>
              <a:t>Presenter: Role 5</a:t>
            </a:r>
            <a:endParaRPr lang="en-US" sz="900" dirty="0"/>
          </a:p>
        </p:txBody>
      </p:sp>
      <p:sp>
        <p:nvSpPr>
          <p:cNvPr id="4" name="Text 2"/>
          <p:cNvSpPr txBox="1"/>
          <p:nvPr/>
        </p:nvSpPr>
        <p:spPr>
          <a:xfrm>
            <a:off x="457200" y="502920"/>
            <a:ext cx="8229600" cy="685800"/>
          </a:xfrm>
          <a:prstGeom prst="rect">
            <a:avLst/>
          </a:prstGeom>
          <a:noFill/>
          <a:ln/>
        </p:spPr>
        <p:txBody>
          <a:bodyPr wrap="square" lIns="0" tIns="0" rIns="0" bIns="0" rtlCol="0" anchor="t">
            <a:normAutofit/>
          </a:bodyPr>
          <a:lstStyle/>
          <a:p>
            <a:pPr indent="0" marL="0">
              <a:buNone/>
            </a:pPr>
            <a:r>
              <a:rPr lang="en-US" sz="2000" b="1" dirty="0">
                <a:solidFill>
                  <a:srgbClr val="1F2328"/>
                </a:solidFill>
                <a:latin typeface="Cambria" pitchFamily="34" charset="0"/>
                <a:ea typeface="Cambria" pitchFamily="34" charset="-122"/>
                <a:cs typeface="Cambria" pitchFamily="34" charset="-120"/>
              </a:rPr>
              <a:t>Water does not explain away the vegetation effect</a:t>
            </a:r>
            <a:endParaRPr lang="en-US" sz="2000" dirty="0"/>
          </a:p>
        </p:txBody>
      </p:sp>
      <p:pic>
        <p:nvPicPr>
          <p:cNvPr id="5" name="Image 0" descr="G_water_effect.png">    </p:cNvPr>
          <p:cNvPicPr>
            <a:picLocks noChangeAspect="1"/>
          </p:cNvPicPr>
          <p:nvPr/>
        </p:nvPicPr>
        <p:blipFill>
          <a:blip r:embed="rId1"/>
          <a:stretch>
            <a:fillRect/>
          </a:stretch>
        </p:blipFill>
        <p:spPr>
          <a:xfrm>
            <a:off x="457200" y="1234440"/>
            <a:ext cx="5760720" cy="2801600"/>
          </a:xfrm>
          <a:prstGeom prst="rect">
            <a:avLst/>
          </a:prstGeom>
        </p:spPr>
      </p:pic>
      <p:sp>
        <p:nvSpPr>
          <p:cNvPr id="6" name="Text 3"/>
          <p:cNvSpPr txBox="1"/>
          <p:nvPr/>
        </p:nvSpPr>
        <p:spPr>
          <a:xfrm>
            <a:off x="6446520" y="1325880"/>
            <a:ext cx="2240280" cy="502920"/>
          </a:xfrm>
          <a:prstGeom prst="rect">
            <a:avLst/>
          </a:prstGeom>
          <a:noFill/>
          <a:ln/>
        </p:spPr>
        <p:txBody>
          <a:bodyPr wrap="square" lIns="0" tIns="0" rIns="0" bIns="0" rtlCol="0" anchor="b"/>
          <a:lstStyle/>
          <a:p>
            <a:pPr indent="0" marL="0">
              <a:buNone/>
            </a:pPr>
            <a:r>
              <a:rPr lang="en-US" sz="2000" b="1" dirty="0">
                <a:solidFill>
                  <a:srgbClr val="1F4D3A"/>
                </a:solidFill>
                <a:latin typeface="Cambria" pitchFamily="34" charset="0"/>
                <a:ea typeface="Cambria" pitchFamily="34" charset="-122"/>
                <a:cs typeface="Cambria" pitchFamily="34" charset="-120"/>
              </a:rPr>
              <a:t>−1.05 → −1.13</a:t>
            </a:r>
            <a:endParaRPr lang="en-US" sz="2000" dirty="0"/>
          </a:p>
        </p:txBody>
      </p:sp>
      <p:sp>
        <p:nvSpPr>
          <p:cNvPr id="7" name="Text 4"/>
          <p:cNvSpPr txBox="1"/>
          <p:nvPr/>
        </p:nvSpPr>
        <p:spPr>
          <a:xfrm>
            <a:off x="6446520" y="1847088"/>
            <a:ext cx="2240280" cy="548640"/>
          </a:xfrm>
          <a:prstGeom prst="rect">
            <a:avLst/>
          </a:prstGeom>
          <a:noFill/>
          <a:ln/>
        </p:spPr>
        <p:txBody>
          <a:bodyPr wrap="square" lIns="0" tIns="0" rIns="0" bIns="0" rtlCol="0" anchor="t">
            <a:normAutofit/>
          </a:bodyPr>
          <a:lstStyle/>
          <a:p>
            <a:pPr indent="0" marL="0">
              <a:buNone/>
            </a:pPr>
            <a:r>
              <a:rPr lang="en-US" sz="1050" dirty="0">
                <a:solidFill>
                  <a:srgbClr val="5F6670"/>
                </a:solidFill>
                <a:latin typeface="Calibri" pitchFamily="34" charset="0"/>
                <a:ea typeface="Calibri" pitchFamily="34" charset="-122"/>
                <a:cs typeface="Calibri" pitchFamily="34" charset="-120"/>
              </a:rPr>
              <a:t>median pre-monsoon day slope, without → with the water control (202 cities)</a:t>
            </a:r>
            <a:endParaRPr lang="en-US" sz="1050" dirty="0"/>
          </a:p>
        </p:txBody>
      </p:sp>
      <p:sp>
        <p:nvSpPr>
          <p:cNvPr id="8" name="Text 5"/>
          <p:cNvSpPr txBox="1"/>
          <p:nvPr/>
        </p:nvSpPr>
        <p:spPr>
          <a:xfrm>
            <a:off x="6446520" y="2377440"/>
            <a:ext cx="2240280" cy="502920"/>
          </a:xfrm>
          <a:prstGeom prst="rect">
            <a:avLst/>
          </a:prstGeom>
          <a:noFill/>
          <a:ln/>
        </p:spPr>
        <p:txBody>
          <a:bodyPr wrap="square" lIns="0" tIns="0" rIns="0" bIns="0" rtlCol="0" anchor="b"/>
          <a:lstStyle/>
          <a:p>
            <a:pPr indent="0" marL="0">
              <a:buNone/>
            </a:pPr>
            <a:r>
              <a:rPr lang="en-US" sz="2000" b="1" dirty="0">
                <a:solidFill>
                  <a:srgbClr val="C8640A"/>
                </a:solidFill>
                <a:latin typeface="Cambria" pitchFamily="34" charset="0"/>
                <a:ea typeface="Cambria" pitchFamily="34" charset="-122"/>
                <a:cs typeface="Cambria" pitchFamily="34" charset="-120"/>
              </a:rPr>
              <a:t>+0.94 → +0.94</a:t>
            </a:r>
            <a:endParaRPr lang="en-US" sz="2000" dirty="0"/>
          </a:p>
        </p:txBody>
      </p:sp>
      <p:sp>
        <p:nvSpPr>
          <p:cNvPr id="9" name="Text 6"/>
          <p:cNvSpPr txBox="1"/>
          <p:nvPr/>
        </p:nvSpPr>
        <p:spPr>
          <a:xfrm>
            <a:off x="6446520" y="2898648"/>
            <a:ext cx="2240280" cy="548640"/>
          </a:xfrm>
          <a:prstGeom prst="rect">
            <a:avLst/>
          </a:prstGeom>
          <a:noFill/>
          <a:ln/>
        </p:spPr>
        <p:txBody>
          <a:bodyPr wrap="square" lIns="0" tIns="0" rIns="0" bIns="0" rtlCol="0" anchor="t">
            <a:normAutofit/>
          </a:bodyPr>
          <a:lstStyle/>
          <a:p>
            <a:pPr indent="0" marL="0">
              <a:buNone/>
            </a:pPr>
            <a:r>
              <a:rPr lang="en-US" sz="1050" dirty="0">
                <a:solidFill>
                  <a:srgbClr val="5F6670"/>
                </a:solidFill>
                <a:latin typeface="Calibri" pitchFamily="34" charset="0"/>
                <a:ea typeface="Calibri" pitchFamily="34" charset="-122"/>
                <a:cs typeface="Calibri" pitchFamily="34" charset="-120"/>
              </a:rPr>
              <a:t>Jodhpur at night: warm green nights are not caused by water</a:t>
            </a:r>
            <a:endParaRPr lang="en-US" sz="1050" dirty="0"/>
          </a:p>
        </p:txBody>
      </p:sp>
      <p:sp>
        <p:nvSpPr>
          <p:cNvPr id="10" name="Text 7"/>
          <p:cNvSpPr txBox="1"/>
          <p:nvPr/>
        </p:nvSpPr>
        <p:spPr>
          <a:xfrm>
            <a:off x="457200" y="4069080"/>
            <a:ext cx="8229600" cy="640080"/>
          </a:xfrm>
          <a:prstGeom prst="rect">
            <a:avLst/>
          </a:prstGeom>
          <a:noFill/>
          <a:ln/>
        </p:spPr>
        <p:txBody>
          <a:bodyPr wrap="square" lIns="0" tIns="0" rIns="0" bIns="0" rtlCol="0" anchor="t">
            <a:normAutofit/>
          </a:bodyPr>
          <a:lstStyle/>
          <a:p>
            <a:pPr marL="177800" indent="-177800">
              <a:spcAft>
                <a:spcPts val="500"/>
              </a:spcAft>
              <a:buSzPct val="100000"/>
              <a:buChar char="•"/>
            </a:pPr>
            <a:r>
              <a:rPr lang="en-US" sz="1150" dirty="0">
                <a:solidFill>
                  <a:srgbClr val="1F2328"/>
                </a:solidFill>
                <a:latin typeface="Calibri" pitchFamily="34" charset="0"/>
                <a:ea typeface="Calibri" pitchFamily="34" charset="-122"/>
                <a:cs typeface="Calibri" pitchFamily="34" charset="-120"/>
              </a:rPr>
              <a:t>Water share = fraction of each MODIS square covered by OpenStreetMap water polygons.</a:t>
            </a:r>
            <a:endParaRPr lang="en-US" sz="1150" dirty="0"/>
          </a:p>
          <a:p>
            <a:pPr marL="177800" indent="-177800">
              <a:spcAft>
                <a:spcPts val="500"/>
              </a:spcAft>
              <a:buSzPct val="100000"/>
              <a:buChar char="•"/>
            </a:pPr>
            <a:r>
              <a:rPr lang="en-US" sz="1150" dirty="0">
                <a:solidFill>
                  <a:srgbClr val="1F2328"/>
                </a:solidFill>
                <a:latin typeface="Calibri" pitchFamily="34" charset="0"/>
                <a:ea typeface="Calibri" pitchFamily="34" charset="-122"/>
                <a:cs typeface="Calibri" pitchFamily="34" charset="-120"/>
              </a:rPr>
              <a:t>Known gap: OSM maps the sea as a coastline, not a polygon.</a:t>
            </a:r>
            <a:endParaRPr lang="en-US" sz="1150" dirty="0"/>
          </a:p>
        </p:txBody>
      </p:sp>
      <p:sp>
        <p:nvSpPr>
          <p:cNvPr id="11" name="Text 8"/>
          <p:cNvSpPr txBox="1"/>
          <p:nvPr/>
        </p:nvSpPr>
        <p:spPr>
          <a:xfrm>
            <a:off x="457200" y="4796028"/>
            <a:ext cx="8229600" cy="219456"/>
          </a:xfrm>
          <a:prstGeom prst="rect">
            <a:avLst/>
          </a:prstGeom>
          <a:noFill/>
          <a:ln/>
        </p:spPr>
        <p:txBody>
          <a:bodyPr wrap="square" lIns="0" tIns="0" rIns="0" bIns="0" rtlCol="0" anchor="ctr"/>
          <a:lstStyle/>
          <a:p>
            <a:pPr indent="0" marL="0">
              <a:buNone/>
            </a:pPr>
            <a:r>
              <a:rPr lang="en-US" sz="850" i="1" dirty="0">
                <a:solidFill>
                  <a:srgbClr val="5F6670"/>
                </a:solidFill>
                <a:latin typeface="Calibri" pitchFamily="34" charset="0"/>
                <a:ea typeface="Calibri" pitchFamily="34" charset="-122"/>
                <a:cs typeface="Calibri" pitchFamily="34" charset="-120"/>
              </a:rPr>
              <a:t>Same regression with built-up + elevation, with and without water share. cooling_efficiency.csv</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2011680" cy="237744"/>
          </a:xfrm>
          <a:prstGeom prst="rect">
            <a:avLst/>
          </a:prstGeom>
          <a:noFill/>
          <a:ln/>
        </p:spPr>
        <p:txBody>
          <a:bodyPr wrap="square" lIns="0" tIns="0" rIns="0" bIns="0" rtlCol="0" anchor="ctr"/>
          <a:lstStyle/>
          <a:p>
            <a:pPr indent="0" marL="0">
              <a:buNone/>
            </a:pPr>
            <a:r>
              <a:rPr lang="en-US" sz="900" b="1" spc="200" kern="0" dirty="0">
                <a:solidFill>
                  <a:srgbClr val="1F4D3A"/>
                </a:solidFill>
                <a:latin typeface="Calibri" pitchFamily="34" charset="0"/>
                <a:ea typeface="Calibri" pitchFamily="34" charset="-122"/>
                <a:cs typeface="Calibri" pitchFamily="34" charset="-120"/>
              </a:rPr>
              <a:t>RESULTS</a:t>
            </a:r>
            <a:endParaRPr lang="en-US" sz="900" dirty="0"/>
          </a:p>
        </p:txBody>
      </p:sp>
      <p:sp>
        <p:nvSpPr>
          <p:cNvPr id="3" name="Text 1"/>
          <p:cNvSpPr txBox="1"/>
          <p:nvPr/>
        </p:nvSpPr>
        <p:spPr>
          <a:xfrm>
            <a:off x="5943600" y="256032"/>
            <a:ext cx="2743200" cy="237744"/>
          </a:xfrm>
          <a:prstGeom prst="rect">
            <a:avLst/>
          </a:prstGeom>
          <a:noFill/>
          <a:ln/>
        </p:spPr>
        <p:txBody>
          <a:bodyPr wrap="square" lIns="0" tIns="0" rIns="0" bIns="0" rtlCol="0" anchor="ctr"/>
          <a:lstStyle/>
          <a:p>
            <a:pPr algn="r" indent="0" marL="0">
              <a:buNone/>
            </a:pPr>
            <a:r>
              <a:rPr lang="en-US" sz="900" dirty="0">
                <a:solidFill>
                  <a:srgbClr val="5F6670"/>
                </a:solidFill>
                <a:latin typeface="Calibri" pitchFamily="34" charset="0"/>
                <a:ea typeface="Calibri" pitchFamily="34" charset="-122"/>
                <a:cs typeface="Calibri" pitchFamily="34" charset="-120"/>
              </a:rPr>
              <a:t>Presenter: Role 3</a:t>
            </a:r>
            <a:endParaRPr lang="en-US" sz="900" dirty="0"/>
          </a:p>
        </p:txBody>
      </p:sp>
      <p:sp>
        <p:nvSpPr>
          <p:cNvPr id="4" name="Text 2"/>
          <p:cNvSpPr txBox="1"/>
          <p:nvPr/>
        </p:nvSpPr>
        <p:spPr>
          <a:xfrm>
            <a:off x="457200" y="502920"/>
            <a:ext cx="8229600" cy="685800"/>
          </a:xfrm>
          <a:prstGeom prst="rect">
            <a:avLst/>
          </a:prstGeom>
          <a:noFill/>
          <a:ln/>
        </p:spPr>
        <p:txBody>
          <a:bodyPr wrap="square" lIns="0" tIns="0" rIns="0" bIns="0" rtlCol="0" anchor="t">
            <a:normAutofit/>
          </a:bodyPr>
          <a:lstStyle/>
          <a:p>
            <a:pPr indent="0" marL="0">
              <a:buNone/>
            </a:pPr>
            <a:r>
              <a:rPr lang="en-US" sz="2000" b="1" dirty="0">
                <a:solidFill>
                  <a:srgbClr val="1F2328"/>
                </a:solidFill>
                <a:latin typeface="Cambria" pitchFamily="34" charset="0"/>
                <a:ea typeface="Cambria" pitchFamily="34" charset="-122"/>
                <a:cs typeface="Cambria" pitchFamily="34" charset="-120"/>
              </a:rPr>
              <a:t>Daytime cooling survives every check; the controls are what matter</a:t>
            </a:r>
            <a:endParaRPr lang="en-US" sz="2000" dirty="0"/>
          </a:p>
        </p:txBody>
      </p:sp>
      <p:pic>
        <p:nvPicPr>
          <p:cNvPr id="5" name="Image 0" descr="H_robustness_table.png">    </p:cNvPr>
          <p:cNvPicPr>
            <a:picLocks noChangeAspect="1"/>
          </p:cNvPicPr>
          <p:nvPr/>
        </p:nvPicPr>
        <p:blipFill>
          <a:blip r:embed="rId1"/>
          <a:stretch>
            <a:fillRect/>
          </a:stretch>
        </p:blipFill>
        <p:spPr>
          <a:xfrm>
            <a:off x="1073001" y="1188720"/>
            <a:ext cx="6997998" cy="2468880"/>
          </a:xfrm>
          <a:prstGeom prst="rect">
            <a:avLst/>
          </a:prstGeom>
        </p:spPr>
      </p:pic>
      <p:sp>
        <p:nvSpPr>
          <p:cNvPr id="6" name="Text 3"/>
          <p:cNvSpPr txBox="1"/>
          <p:nvPr/>
        </p:nvSpPr>
        <p:spPr>
          <a:xfrm>
            <a:off x="457200" y="3749040"/>
            <a:ext cx="2621280" cy="502920"/>
          </a:xfrm>
          <a:prstGeom prst="rect">
            <a:avLst/>
          </a:prstGeom>
          <a:noFill/>
          <a:ln/>
        </p:spPr>
        <p:txBody>
          <a:bodyPr wrap="square" lIns="0" tIns="0" rIns="0" bIns="0" rtlCol="0" anchor="b"/>
          <a:lstStyle/>
          <a:p>
            <a:pPr indent="0" marL="0">
              <a:buNone/>
            </a:pPr>
            <a:r>
              <a:rPr lang="en-US" sz="2000" b="1" dirty="0">
                <a:solidFill>
                  <a:srgbClr val="1F4D3A"/>
                </a:solidFill>
                <a:latin typeface="Cambria" pitchFamily="34" charset="0"/>
                <a:ea typeface="Cambria" pitchFamily="34" charset="-122"/>
                <a:cs typeface="Cambria" pitchFamily="34" charset="-120"/>
              </a:rPr>
              <a:t>70–77%</a:t>
            </a:r>
            <a:endParaRPr lang="en-US" sz="2000" dirty="0"/>
          </a:p>
        </p:txBody>
      </p:sp>
      <p:sp>
        <p:nvSpPr>
          <p:cNvPr id="7" name="Text 4"/>
          <p:cNvSpPr txBox="1"/>
          <p:nvPr/>
        </p:nvSpPr>
        <p:spPr>
          <a:xfrm>
            <a:off x="457200" y="4270248"/>
            <a:ext cx="2621280" cy="548640"/>
          </a:xfrm>
          <a:prstGeom prst="rect">
            <a:avLst/>
          </a:prstGeom>
          <a:noFill/>
          <a:ln/>
        </p:spPr>
        <p:txBody>
          <a:bodyPr wrap="square" lIns="0" tIns="0" rIns="0" bIns="0" rtlCol="0" anchor="t">
            <a:normAutofit/>
          </a:bodyPr>
          <a:lstStyle/>
          <a:p>
            <a:pPr indent="0" marL="0">
              <a:buNone/>
            </a:pPr>
            <a:r>
              <a:rPr lang="en-US" sz="1050" dirty="0">
                <a:solidFill>
                  <a:srgbClr val="5F6670"/>
                </a:solidFill>
                <a:latin typeface="Calibri" pitchFamily="34" charset="0"/>
                <a:ea typeface="Calibri" pitchFamily="34" charset="-122"/>
                <a:cs typeface="Calibri" pitchFamily="34" charset="-120"/>
              </a:rPr>
              <a:t>cities cool significantly by day under every variant</a:t>
            </a:r>
            <a:endParaRPr lang="en-US" sz="1050" dirty="0"/>
          </a:p>
        </p:txBody>
      </p:sp>
      <p:sp>
        <p:nvSpPr>
          <p:cNvPr id="8" name="Text 5"/>
          <p:cNvSpPr txBox="1"/>
          <p:nvPr/>
        </p:nvSpPr>
        <p:spPr>
          <a:xfrm>
            <a:off x="3261360" y="3749040"/>
            <a:ext cx="2621280" cy="502920"/>
          </a:xfrm>
          <a:prstGeom prst="rect">
            <a:avLst/>
          </a:prstGeom>
          <a:noFill/>
          <a:ln/>
        </p:spPr>
        <p:txBody>
          <a:bodyPr wrap="square" lIns="0" tIns="0" rIns="0" bIns="0" rtlCol="0" anchor="b"/>
          <a:lstStyle/>
          <a:p>
            <a:pPr indent="0" marL="0">
              <a:buNone/>
            </a:pPr>
            <a:r>
              <a:rPr lang="en-US" sz="2000" b="1" dirty="0">
                <a:solidFill>
                  <a:srgbClr val="C8640A"/>
                </a:solidFill>
                <a:latin typeface="Cambria" pitchFamily="34" charset="0"/>
                <a:ea typeface="Cambria" pitchFamily="34" charset="-122"/>
                <a:cs typeface="Cambria" pitchFamily="34" charset="-120"/>
              </a:rPr>
              <a:t>ρ = 0.56</a:t>
            </a:r>
            <a:endParaRPr lang="en-US" sz="2000" dirty="0"/>
          </a:p>
        </p:txBody>
      </p:sp>
      <p:sp>
        <p:nvSpPr>
          <p:cNvPr id="9" name="Text 6"/>
          <p:cNvSpPr txBox="1"/>
          <p:nvPr/>
        </p:nvSpPr>
        <p:spPr>
          <a:xfrm>
            <a:off x="3261360" y="4270248"/>
            <a:ext cx="2621280" cy="548640"/>
          </a:xfrm>
          <a:prstGeom prst="rect">
            <a:avLst/>
          </a:prstGeom>
          <a:noFill/>
          <a:ln/>
        </p:spPr>
        <p:txBody>
          <a:bodyPr wrap="square" lIns="0" tIns="0" rIns="0" bIns="0" rtlCol="0" anchor="t">
            <a:normAutofit/>
          </a:bodyPr>
          <a:lstStyle/>
          <a:p>
            <a:pPr indent="0" marL="0">
              <a:buNone/>
            </a:pPr>
            <a:r>
              <a:rPr lang="en-US" sz="1050" dirty="0">
                <a:solidFill>
                  <a:srgbClr val="5F6670"/>
                </a:solidFill>
                <a:latin typeface="Calibri" pitchFamily="34" charset="0"/>
                <a:ea typeface="Calibri" pitchFamily="34" charset="-122"/>
                <a:cs typeface="Calibri" pitchFamily="34" charset="-120"/>
              </a:rPr>
              <a:t>city ranking without controls: the variant that matters most</a:t>
            </a:r>
            <a:endParaRPr lang="en-US" sz="1050" dirty="0"/>
          </a:p>
        </p:txBody>
      </p:sp>
      <p:sp>
        <p:nvSpPr>
          <p:cNvPr id="10" name="Text 7"/>
          <p:cNvSpPr txBox="1"/>
          <p:nvPr/>
        </p:nvSpPr>
        <p:spPr>
          <a:xfrm>
            <a:off x="6065520" y="3749040"/>
            <a:ext cx="2621280" cy="502920"/>
          </a:xfrm>
          <a:prstGeom prst="rect">
            <a:avLst/>
          </a:prstGeom>
          <a:noFill/>
          <a:ln/>
        </p:spPr>
        <p:txBody>
          <a:bodyPr wrap="square" lIns="0" tIns="0" rIns="0" bIns="0" rtlCol="0" anchor="b"/>
          <a:lstStyle/>
          <a:p>
            <a:pPr indent="0" marL="0">
              <a:buNone/>
            </a:pPr>
            <a:r>
              <a:rPr lang="en-US" sz="2000" b="1" dirty="0">
                <a:solidFill>
                  <a:srgbClr val="1F4D3A"/>
                </a:solidFill>
                <a:latin typeface="Cambria" pitchFamily="34" charset="0"/>
                <a:ea typeface="Cambria" pitchFamily="34" charset="-122"/>
                <a:cs typeface="Cambria" pitchFamily="34" charset="-120"/>
              </a:rPr>
              <a:t>ρ = 0.91</a:t>
            </a:r>
            <a:endParaRPr lang="en-US" sz="2000" dirty="0"/>
          </a:p>
        </p:txBody>
      </p:sp>
      <p:sp>
        <p:nvSpPr>
          <p:cNvPr id="11" name="Text 8"/>
          <p:cNvSpPr txBox="1"/>
          <p:nvPr/>
        </p:nvSpPr>
        <p:spPr>
          <a:xfrm>
            <a:off x="6065520" y="4270248"/>
            <a:ext cx="2621280" cy="548640"/>
          </a:xfrm>
          <a:prstGeom prst="rect">
            <a:avLst/>
          </a:prstGeom>
          <a:noFill/>
          <a:ln/>
        </p:spPr>
        <p:txBody>
          <a:bodyPr wrap="square" lIns="0" tIns="0" rIns="0" bIns="0" rtlCol="0" anchor="t">
            <a:normAutofit/>
          </a:bodyPr>
          <a:lstStyle/>
          <a:p>
            <a:pPr indent="0" marL="0">
              <a:buNone/>
            </a:pPr>
            <a:r>
              <a:rPr lang="en-US" sz="1050" dirty="0">
                <a:solidFill>
                  <a:srgbClr val="5F6670"/>
                </a:solidFill>
                <a:latin typeface="Calibri" pitchFamily="34" charset="0"/>
                <a:ea typeface="Calibri" pitchFamily="34" charset="-122"/>
                <a:cs typeface="Calibri" pitchFamily="34" charset="-120"/>
              </a:rPr>
              <a:t>without the water control: changes little</a:t>
            </a:r>
            <a:endParaRPr lang="en-US" sz="10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256032"/>
            <a:ext cx="2011680" cy="237744"/>
          </a:xfrm>
          <a:prstGeom prst="rect">
            <a:avLst/>
          </a:prstGeom>
          <a:noFill/>
          <a:ln/>
        </p:spPr>
        <p:txBody>
          <a:bodyPr wrap="square" lIns="0" tIns="0" rIns="0" bIns="0" rtlCol="0" anchor="ctr"/>
          <a:lstStyle/>
          <a:p>
            <a:pPr indent="0" marL="0">
              <a:buNone/>
            </a:pPr>
            <a:r>
              <a:rPr lang="en-US" sz="900" b="1" spc="200" kern="0" dirty="0">
                <a:solidFill>
                  <a:srgbClr val="1F4D3A"/>
                </a:solidFill>
                <a:latin typeface="Calibri" pitchFamily="34" charset="0"/>
                <a:ea typeface="Calibri" pitchFamily="34" charset="-122"/>
                <a:cs typeface="Calibri" pitchFamily="34" charset="-120"/>
              </a:rPr>
              <a:t>OBSERVATIONS</a:t>
            </a:r>
            <a:endParaRPr lang="en-US" sz="900" dirty="0"/>
          </a:p>
        </p:txBody>
      </p:sp>
      <p:sp>
        <p:nvSpPr>
          <p:cNvPr id="3" name="Text 1"/>
          <p:cNvSpPr txBox="1"/>
          <p:nvPr/>
        </p:nvSpPr>
        <p:spPr>
          <a:xfrm>
            <a:off x="5943600" y="256032"/>
            <a:ext cx="2743200" cy="237744"/>
          </a:xfrm>
          <a:prstGeom prst="rect">
            <a:avLst/>
          </a:prstGeom>
          <a:noFill/>
          <a:ln/>
        </p:spPr>
        <p:txBody>
          <a:bodyPr wrap="square" lIns="0" tIns="0" rIns="0" bIns="0" rtlCol="0" anchor="ctr"/>
          <a:lstStyle/>
          <a:p>
            <a:pPr algn="r" indent="0" marL="0">
              <a:buNone/>
            </a:pPr>
            <a:r>
              <a:rPr lang="en-US" sz="900" dirty="0">
                <a:solidFill>
                  <a:srgbClr val="5F6670"/>
                </a:solidFill>
                <a:latin typeface="Calibri" pitchFamily="34" charset="0"/>
                <a:ea typeface="Calibri" pitchFamily="34" charset="-122"/>
                <a:cs typeface="Calibri" pitchFamily="34" charset="-120"/>
              </a:rPr>
              <a:t>Each presenter reads their own line</a:t>
            </a:r>
            <a:endParaRPr lang="en-US" sz="900" dirty="0"/>
          </a:p>
        </p:txBody>
      </p:sp>
      <p:sp>
        <p:nvSpPr>
          <p:cNvPr id="4" name="Text 2"/>
          <p:cNvSpPr txBox="1"/>
          <p:nvPr/>
        </p:nvSpPr>
        <p:spPr>
          <a:xfrm>
            <a:off x="457200" y="502920"/>
            <a:ext cx="8229600" cy="685800"/>
          </a:xfrm>
          <a:prstGeom prst="rect">
            <a:avLst/>
          </a:prstGeom>
          <a:noFill/>
          <a:ln/>
        </p:spPr>
        <p:txBody>
          <a:bodyPr wrap="square" lIns="0" tIns="0" rIns="0" bIns="0" rtlCol="0" anchor="t">
            <a:normAutofit/>
          </a:bodyPr>
          <a:lstStyle/>
          <a:p>
            <a:pPr indent="0" marL="0">
              <a:buNone/>
            </a:pPr>
            <a:r>
              <a:rPr lang="en-US" sz="2000" b="1" dirty="0">
                <a:solidFill>
                  <a:srgbClr val="1F2328"/>
                </a:solidFill>
                <a:latin typeface="Cambria" pitchFamily="34" charset="0"/>
                <a:ea typeface="Cambria" pitchFamily="34" charset="-122"/>
                <a:cs typeface="Cambria" pitchFamily="34" charset="-120"/>
              </a:rPr>
              <a:t>What we observe so far</a:t>
            </a:r>
            <a:endParaRPr lang="en-US" sz="2000" dirty="0"/>
          </a:p>
        </p:txBody>
      </p:sp>
      <p:sp>
        <p:nvSpPr>
          <p:cNvPr id="5" name="Shape 3"/>
          <p:cNvSpPr/>
          <p:nvPr/>
        </p:nvSpPr>
        <p:spPr>
          <a:xfrm>
            <a:off x="457200" y="1234440"/>
            <a:ext cx="4000500" cy="1024128"/>
          </a:xfrm>
          <a:prstGeom prst="roundRect">
            <a:avLst>
              <a:gd name="adj" fmla="val 7143"/>
            </a:avLst>
          </a:prstGeom>
          <a:solidFill>
            <a:srgbClr val="E9F1EB"/>
          </a:solidFill>
          <a:ln w="12700">
            <a:solidFill>
              <a:srgbClr val="E9F1EB"/>
            </a:solidFill>
            <a:prstDash val="solid"/>
          </a:ln>
        </p:spPr>
      </p:sp>
      <p:sp>
        <p:nvSpPr>
          <p:cNvPr id="6" name="Text 4"/>
          <p:cNvSpPr txBox="1"/>
          <p:nvPr/>
        </p:nvSpPr>
        <p:spPr>
          <a:xfrm>
            <a:off x="594360" y="1344168"/>
            <a:ext cx="640080" cy="320040"/>
          </a:xfrm>
          <a:prstGeom prst="rect">
            <a:avLst/>
          </a:prstGeom>
          <a:noFill/>
          <a:ln/>
        </p:spPr>
        <p:txBody>
          <a:bodyPr wrap="square" lIns="0" tIns="0" rIns="0" bIns="0" rtlCol="0" anchor="ctr"/>
          <a:lstStyle/>
          <a:p>
            <a:pPr indent="0" marL="0">
              <a:buNone/>
            </a:pPr>
            <a:r>
              <a:rPr lang="en-US" sz="1500" b="1" dirty="0">
                <a:solidFill>
                  <a:srgbClr val="1F4D3A"/>
                </a:solidFill>
                <a:latin typeface="Cambria" pitchFamily="34" charset="0"/>
                <a:ea typeface="Cambria" pitchFamily="34" charset="-122"/>
                <a:cs typeface="Cambria" pitchFamily="34" charset="-120"/>
              </a:rPr>
              <a:t>H1</a:t>
            </a:r>
            <a:endParaRPr lang="en-US" sz="1500" dirty="0"/>
          </a:p>
        </p:txBody>
      </p:sp>
      <p:sp>
        <p:nvSpPr>
          <p:cNvPr id="7" name="Text 5"/>
          <p:cNvSpPr txBox="1"/>
          <p:nvPr/>
        </p:nvSpPr>
        <p:spPr>
          <a:xfrm>
            <a:off x="1234440" y="1325880"/>
            <a:ext cx="3086100" cy="841248"/>
          </a:xfrm>
          <a:prstGeom prst="rect">
            <a:avLst/>
          </a:prstGeom>
          <a:noFill/>
          <a:ln/>
        </p:spPr>
        <p:txBody>
          <a:bodyPr wrap="square" lIns="0" tIns="0" rIns="0" bIns="0" rtlCol="0" anchor="t">
            <a:normAutofit/>
          </a:bodyPr>
          <a:lstStyle/>
          <a:p>
            <a:pPr indent="0" marL="0">
              <a:buNone/>
            </a:pPr>
            <a:r>
              <a:rPr lang="en-US" sz="1050" dirty="0">
                <a:solidFill>
                  <a:srgbClr val="1F2328"/>
                </a:solidFill>
                <a:latin typeface="Calibri" pitchFamily="34" charset="0"/>
                <a:ea typeface="Calibri" pitchFamily="34" charset="-122"/>
                <a:cs typeface="Calibri" pitchFamily="34" charset="-120"/>
              </a:rPr>
              <a:t>Greener is cooler by day almost everywhere: 75% of 202 cities pre-monsoon (median −1.13 °C per 0.1 NDVI); 70–74% in other seasons.</a:t>
            </a:r>
            <a:endParaRPr lang="en-US" sz="1050" dirty="0"/>
          </a:p>
        </p:txBody>
      </p:sp>
      <p:sp>
        <p:nvSpPr>
          <p:cNvPr id="8" name="Shape 6"/>
          <p:cNvSpPr/>
          <p:nvPr/>
        </p:nvSpPr>
        <p:spPr>
          <a:xfrm>
            <a:off x="4686300" y="1234440"/>
            <a:ext cx="4000500" cy="1024128"/>
          </a:xfrm>
          <a:prstGeom prst="roundRect">
            <a:avLst>
              <a:gd name="adj" fmla="val 7143"/>
            </a:avLst>
          </a:prstGeom>
          <a:solidFill>
            <a:srgbClr val="E9F1EB"/>
          </a:solidFill>
          <a:ln w="12700">
            <a:solidFill>
              <a:srgbClr val="E9F1EB"/>
            </a:solidFill>
            <a:prstDash val="solid"/>
          </a:ln>
        </p:spPr>
      </p:sp>
      <p:sp>
        <p:nvSpPr>
          <p:cNvPr id="9" name="Text 7"/>
          <p:cNvSpPr txBox="1"/>
          <p:nvPr/>
        </p:nvSpPr>
        <p:spPr>
          <a:xfrm>
            <a:off x="4823460" y="1344168"/>
            <a:ext cx="640080" cy="320040"/>
          </a:xfrm>
          <a:prstGeom prst="rect">
            <a:avLst/>
          </a:prstGeom>
          <a:noFill/>
          <a:ln/>
        </p:spPr>
        <p:txBody>
          <a:bodyPr wrap="square" lIns="0" tIns="0" rIns="0" bIns="0" rtlCol="0" anchor="ctr"/>
          <a:lstStyle/>
          <a:p>
            <a:pPr indent="0" marL="0">
              <a:buNone/>
            </a:pPr>
            <a:r>
              <a:rPr lang="en-US" sz="1500" b="1" dirty="0">
                <a:solidFill>
                  <a:srgbClr val="1F4D3A"/>
                </a:solidFill>
                <a:latin typeface="Cambria" pitchFamily="34" charset="0"/>
                <a:ea typeface="Cambria" pitchFamily="34" charset="-122"/>
                <a:cs typeface="Cambria" pitchFamily="34" charset="-120"/>
              </a:rPr>
              <a:t>H2</a:t>
            </a:r>
            <a:endParaRPr lang="en-US" sz="1500" dirty="0"/>
          </a:p>
        </p:txBody>
      </p:sp>
      <p:sp>
        <p:nvSpPr>
          <p:cNvPr id="10" name="Text 8"/>
          <p:cNvSpPr txBox="1"/>
          <p:nvPr/>
        </p:nvSpPr>
        <p:spPr>
          <a:xfrm>
            <a:off x="5463540" y="1325880"/>
            <a:ext cx="3086100" cy="841248"/>
          </a:xfrm>
          <a:prstGeom prst="rect">
            <a:avLst/>
          </a:prstGeom>
          <a:noFill/>
          <a:ln/>
        </p:spPr>
        <p:txBody>
          <a:bodyPr wrap="square" lIns="0" tIns="0" rIns="0" bIns="0" rtlCol="0" anchor="t">
            <a:normAutofit/>
          </a:bodyPr>
          <a:lstStyle/>
          <a:p>
            <a:pPr indent="0" marL="0">
              <a:buNone/>
            </a:pPr>
            <a:r>
              <a:rPr lang="en-US" sz="1050" dirty="0">
                <a:solidFill>
                  <a:srgbClr val="1F2328"/>
                </a:solidFill>
                <a:latin typeface="Calibri" pitchFamily="34" charset="0"/>
                <a:ea typeface="Calibri" pitchFamily="34" charset="-122"/>
                <a:cs typeface="Calibri" pitchFamily="34" charset="-120"/>
              </a:rPr>
              <a:t>Not by day: no clear trend with rainfall (+0.17 per 10× rain, CI −0.73 to +1.07), and no dry city warms by day (0 of 56 vs Guo's 22%).</a:t>
            </a:r>
            <a:endParaRPr lang="en-US" sz="1050" dirty="0"/>
          </a:p>
        </p:txBody>
      </p:sp>
      <p:sp>
        <p:nvSpPr>
          <p:cNvPr id="11" name="Shape 9"/>
          <p:cNvSpPr/>
          <p:nvPr/>
        </p:nvSpPr>
        <p:spPr>
          <a:xfrm>
            <a:off x="457200" y="2368296"/>
            <a:ext cx="4000500" cy="1024128"/>
          </a:xfrm>
          <a:prstGeom prst="roundRect">
            <a:avLst>
              <a:gd name="adj" fmla="val 7143"/>
            </a:avLst>
          </a:prstGeom>
          <a:solidFill>
            <a:srgbClr val="E9F1EB"/>
          </a:solidFill>
          <a:ln w="12700">
            <a:solidFill>
              <a:srgbClr val="E9F1EB"/>
            </a:solidFill>
            <a:prstDash val="solid"/>
          </a:ln>
        </p:spPr>
      </p:sp>
      <p:sp>
        <p:nvSpPr>
          <p:cNvPr id="12" name="Text 10"/>
          <p:cNvSpPr txBox="1"/>
          <p:nvPr/>
        </p:nvSpPr>
        <p:spPr>
          <a:xfrm>
            <a:off x="594360" y="2478024"/>
            <a:ext cx="640080" cy="320040"/>
          </a:xfrm>
          <a:prstGeom prst="rect">
            <a:avLst/>
          </a:prstGeom>
          <a:noFill/>
          <a:ln/>
        </p:spPr>
        <p:txBody>
          <a:bodyPr wrap="square" lIns="0" tIns="0" rIns="0" bIns="0" rtlCol="0" anchor="ctr"/>
          <a:lstStyle/>
          <a:p>
            <a:pPr indent="0" marL="0">
              <a:buNone/>
            </a:pPr>
            <a:r>
              <a:rPr lang="en-US" sz="1500" b="1" dirty="0">
                <a:solidFill>
                  <a:srgbClr val="1F4D3A"/>
                </a:solidFill>
                <a:latin typeface="Cambria" pitchFamily="34" charset="0"/>
                <a:ea typeface="Cambria" pitchFamily="34" charset="-122"/>
                <a:cs typeface="Cambria" pitchFamily="34" charset="-120"/>
              </a:rPr>
              <a:t>H3</a:t>
            </a:r>
            <a:endParaRPr lang="en-US" sz="1500" dirty="0"/>
          </a:p>
        </p:txBody>
      </p:sp>
      <p:sp>
        <p:nvSpPr>
          <p:cNvPr id="13" name="Text 11"/>
          <p:cNvSpPr txBox="1"/>
          <p:nvPr/>
        </p:nvSpPr>
        <p:spPr>
          <a:xfrm>
            <a:off x="1234440" y="2459736"/>
            <a:ext cx="3086100" cy="841248"/>
          </a:xfrm>
          <a:prstGeom prst="rect">
            <a:avLst/>
          </a:prstGeom>
          <a:noFill/>
          <a:ln/>
        </p:spPr>
        <p:txBody>
          <a:bodyPr wrap="square" lIns="0" tIns="0" rIns="0" bIns="0" rtlCol="0" anchor="t">
            <a:normAutofit/>
          </a:bodyPr>
          <a:lstStyle/>
          <a:p>
            <a:pPr indent="0" marL="0">
              <a:buNone/>
            </a:pPr>
            <a:r>
              <a:rPr lang="en-US" sz="1050" dirty="0">
                <a:solidFill>
                  <a:srgbClr val="1F2328"/>
                </a:solidFill>
                <a:latin typeface="Calibri" pitchFamily="34" charset="0"/>
                <a:ea typeface="Calibri" pitchFamily="34" charset="-122"/>
                <a:cs typeface="Calibri" pitchFamily="34" charset="-120"/>
              </a:rPr>
              <a:t>Nights centre on zero; wetter cities cool more (−1.16 per 10× rain). 38% of 39 dry vs 18% of 96 wet cities have warmer green nights.</a:t>
            </a:r>
            <a:endParaRPr lang="en-US" sz="1050" dirty="0"/>
          </a:p>
        </p:txBody>
      </p:sp>
      <p:sp>
        <p:nvSpPr>
          <p:cNvPr id="14" name="Shape 12"/>
          <p:cNvSpPr/>
          <p:nvPr/>
        </p:nvSpPr>
        <p:spPr>
          <a:xfrm>
            <a:off x="4686300" y="2368296"/>
            <a:ext cx="4000500" cy="1024128"/>
          </a:xfrm>
          <a:prstGeom prst="roundRect">
            <a:avLst>
              <a:gd name="adj" fmla="val 7143"/>
            </a:avLst>
          </a:prstGeom>
          <a:solidFill>
            <a:srgbClr val="E9F1EB"/>
          </a:solidFill>
          <a:ln w="12700">
            <a:solidFill>
              <a:srgbClr val="E9F1EB"/>
            </a:solidFill>
            <a:prstDash val="solid"/>
          </a:ln>
        </p:spPr>
      </p:sp>
      <p:sp>
        <p:nvSpPr>
          <p:cNvPr id="15" name="Text 13"/>
          <p:cNvSpPr txBox="1"/>
          <p:nvPr/>
        </p:nvSpPr>
        <p:spPr>
          <a:xfrm>
            <a:off x="4823460" y="2478024"/>
            <a:ext cx="640080" cy="320040"/>
          </a:xfrm>
          <a:prstGeom prst="rect">
            <a:avLst/>
          </a:prstGeom>
          <a:noFill/>
          <a:ln/>
        </p:spPr>
        <p:txBody>
          <a:bodyPr wrap="square" lIns="0" tIns="0" rIns="0" bIns="0" rtlCol="0" anchor="ctr"/>
          <a:lstStyle/>
          <a:p>
            <a:pPr indent="0" marL="0">
              <a:buNone/>
            </a:pPr>
            <a:r>
              <a:rPr lang="en-US" sz="1500" b="1" dirty="0">
                <a:solidFill>
                  <a:srgbClr val="1F4D3A"/>
                </a:solidFill>
                <a:latin typeface="Cambria" pitchFamily="34" charset="0"/>
                <a:ea typeface="Cambria" pitchFamily="34" charset="-122"/>
                <a:cs typeface="Cambria" pitchFamily="34" charset="-120"/>
              </a:rPr>
              <a:t>H4</a:t>
            </a:r>
            <a:endParaRPr lang="en-US" sz="1500" dirty="0"/>
          </a:p>
        </p:txBody>
      </p:sp>
      <p:sp>
        <p:nvSpPr>
          <p:cNvPr id="16" name="Text 14"/>
          <p:cNvSpPr txBox="1"/>
          <p:nvPr/>
        </p:nvSpPr>
        <p:spPr>
          <a:xfrm>
            <a:off x="5463540" y="2459736"/>
            <a:ext cx="3086100" cy="841248"/>
          </a:xfrm>
          <a:prstGeom prst="rect">
            <a:avLst/>
          </a:prstGeom>
          <a:noFill/>
          <a:ln/>
        </p:spPr>
        <p:txBody>
          <a:bodyPr wrap="square" lIns="0" tIns="0" rIns="0" bIns="0" rtlCol="0" anchor="t">
            <a:normAutofit/>
          </a:bodyPr>
          <a:lstStyle/>
          <a:p>
            <a:pPr indent="0" marL="0">
              <a:buNone/>
            </a:pPr>
            <a:r>
              <a:rPr lang="en-US" sz="1050" dirty="0">
                <a:solidFill>
                  <a:srgbClr val="1F2328"/>
                </a:solidFill>
                <a:latin typeface="Calibri" pitchFamily="34" charset="0"/>
                <a:ea typeface="Calibri" pitchFamily="34" charset="-122"/>
                <a:cs typeface="Calibri" pitchFamily="34" charset="-120"/>
              </a:rPr>
              <a:t>Same city: daytime cooling weaker after the monsoon in 81% of 202; night cooling stronger in 69% of 127. Soil wetting does not explain it.</a:t>
            </a:r>
            <a:endParaRPr lang="en-US" sz="1050" dirty="0"/>
          </a:p>
        </p:txBody>
      </p:sp>
      <p:sp>
        <p:nvSpPr>
          <p:cNvPr id="17" name="Shape 15"/>
          <p:cNvSpPr/>
          <p:nvPr/>
        </p:nvSpPr>
        <p:spPr>
          <a:xfrm>
            <a:off x="457200" y="3502152"/>
            <a:ext cx="4000500" cy="1024128"/>
          </a:xfrm>
          <a:prstGeom prst="roundRect">
            <a:avLst>
              <a:gd name="adj" fmla="val 7143"/>
            </a:avLst>
          </a:prstGeom>
          <a:solidFill>
            <a:srgbClr val="E9F1EB"/>
          </a:solidFill>
          <a:ln w="12700">
            <a:solidFill>
              <a:srgbClr val="E9F1EB"/>
            </a:solidFill>
            <a:prstDash val="solid"/>
          </a:ln>
        </p:spPr>
      </p:sp>
      <p:sp>
        <p:nvSpPr>
          <p:cNvPr id="18" name="Text 16"/>
          <p:cNvSpPr txBox="1"/>
          <p:nvPr/>
        </p:nvSpPr>
        <p:spPr>
          <a:xfrm>
            <a:off x="594360" y="3611880"/>
            <a:ext cx="640080" cy="320040"/>
          </a:xfrm>
          <a:prstGeom prst="rect">
            <a:avLst/>
          </a:prstGeom>
          <a:noFill/>
          <a:ln/>
        </p:spPr>
        <p:txBody>
          <a:bodyPr wrap="square" lIns="0" tIns="0" rIns="0" bIns="0" rtlCol="0" anchor="ctr"/>
          <a:lstStyle/>
          <a:p>
            <a:pPr indent="0" marL="0">
              <a:buNone/>
            </a:pPr>
            <a:r>
              <a:rPr lang="en-US" sz="1500" b="1" dirty="0">
                <a:solidFill>
                  <a:srgbClr val="1F4D3A"/>
                </a:solidFill>
                <a:latin typeface="Cambria" pitchFamily="34" charset="0"/>
                <a:ea typeface="Cambria" pitchFamily="34" charset="-122"/>
                <a:cs typeface="Cambria" pitchFamily="34" charset="-120"/>
              </a:rPr>
              <a:t>H5</a:t>
            </a:r>
            <a:endParaRPr lang="en-US" sz="1500" dirty="0"/>
          </a:p>
        </p:txBody>
      </p:sp>
      <p:sp>
        <p:nvSpPr>
          <p:cNvPr id="19" name="Text 17"/>
          <p:cNvSpPr txBox="1"/>
          <p:nvPr/>
        </p:nvSpPr>
        <p:spPr>
          <a:xfrm>
            <a:off x="1234440" y="3593592"/>
            <a:ext cx="3086100" cy="841248"/>
          </a:xfrm>
          <a:prstGeom prst="rect">
            <a:avLst/>
          </a:prstGeom>
          <a:noFill/>
          <a:ln/>
        </p:spPr>
        <p:txBody>
          <a:bodyPr wrap="square" lIns="0" tIns="0" rIns="0" bIns="0" rtlCol="0" anchor="t">
            <a:normAutofit/>
          </a:bodyPr>
          <a:lstStyle/>
          <a:p>
            <a:pPr indent="0" marL="0">
              <a:buNone/>
            </a:pPr>
            <a:r>
              <a:rPr lang="en-US" sz="1050" dirty="0">
                <a:solidFill>
                  <a:srgbClr val="1F2328"/>
                </a:solidFill>
                <a:latin typeface="Calibri" pitchFamily="34" charset="0"/>
                <a:ea typeface="Calibri" pitchFamily="34" charset="-122"/>
                <a:cs typeface="Calibri" pitchFamily="34" charset="-120"/>
              </a:rPr>
              <a:t>Crowded squares less green in 90–96% of cities; hotter at night in 96–97%, by day 63–87%; less green → hotter (ρ ≈ −0.73).</a:t>
            </a:r>
            <a:endParaRPr lang="en-US" sz="1050" dirty="0"/>
          </a:p>
        </p:txBody>
      </p:sp>
      <p:sp>
        <p:nvSpPr>
          <p:cNvPr id="20" name="Shape 18"/>
          <p:cNvSpPr/>
          <p:nvPr/>
        </p:nvSpPr>
        <p:spPr>
          <a:xfrm>
            <a:off x="4686300" y="3502152"/>
            <a:ext cx="4000500" cy="1024128"/>
          </a:xfrm>
          <a:prstGeom prst="roundRect">
            <a:avLst>
              <a:gd name="adj" fmla="val 7143"/>
            </a:avLst>
          </a:prstGeom>
          <a:solidFill>
            <a:srgbClr val="E9F1EB"/>
          </a:solidFill>
          <a:ln w="12700">
            <a:solidFill>
              <a:srgbClr val="E9F1EB"/>
            </a:solidFill>
            <a:prstDash val="solid"/>
          </a:ln>
        </p:spPr>
      </p:sp>
      <p:sp>
        <p:nvSpPr>
          <p:cNvPr id="21" name="Text 19"/>
          <p:cNvSpPr txBox="1"/>
          <p:nvPr/>
        </p:nvSpPr>
        <p:spPr>
          <a:xfrm>
            <a:off x="4823460" y="3611880"/>
            <a:ext cx="640080" cy="320040"/>
          </a:xfrm>
          <a:prstGeom prst="rect">
            <a:avLst/>
          </a:prstGeom>
          <a:noFill/>
          <a:ln/>
        </p:spPr>
        <p:txBody>
          <a:bodyPr wrap="square" lIns="0" tIns="0" rIns="0" bIns="0" rtlCol="0" anchor="ctr"/>
          <a:lstStyle/>
          <a:p>
            <a:pPr indent="0" marL="0">
              <a:buNone/>
            </a:pPr>
            <a:r>
              <a:rPr lang="en-US" sz="1500" b="1" dirty="0">
                <a:solidFill>
                  <a:srgbClr val="5F6670"/>
                </a:solidFill>
                <a:latin typeface="Cambria" pitchFamily="34" charset="0"/>
                <a:ea typeface="Cambria" pitchFamily="34" charset="-122"/>
                <a:cs typeface="Cambria" pitchFamily="34" charset="-120"/>
              </a:rPr>
              <a:t>Data</a:t>
            </a:r>
            <a:endParaRPr lang="en-US" sz="1500" dirty="0"/>
          </a:p>
        </p:txBody>
      </p:sp>
      <p:sp>
        <p:nvSpPr>
          <p:cNvPr id="22" name="Text 20"/>
          <p:cNvSpPr txBox="1"/>
          <p:nvPr/>
        </p:nvSpPr>
        <p:spPr>
          <a:xfrm>
            <a:off x="5463540" y="3593592"/>
            <a:ext cx="3086100" cy="841248"/>
          </a:xfrm>
          <a:prstGeom prst="rect">
            <a:avLst/>
          </a:prstGeom>
          <a:noFill/>
          <a:ln/>
        </p:spPr>
        <p:txBody>
          <a:bodyPr wrap="square" lIns="0" tIns="0" rIns="0" bIns="0" rtlCol="0" anchor="t">
            <a:normAutofit/>
          </a:bodyPr>
          <a:lstStyle/>
          <a:p>
            <a:pPr indent="0" marL="0">
              <a:buNone/>
            </a:pPr>
            <a:r>
              <a:rPr lang="en-US" sz="1050" dirty="0">
                <a:solidFill>
                  <a:srgbClr val="1F2328"/>
                </a:solidFill>
                <a:latin typeface="Calibri" pitchFamily="34" charset="0"/>
                <a:ea typeface="Calibri" pitchFamily="34" charset="-122"/>
                <a:cs typeface="Calibri" pitchFamily="34" charset="-120"/>
              </a:rPr>
              <a:t>Monsoon excluded (Mumbai 85% → 25% usable images); 101 of 303 cities too small; water control barely moves results.</a:t>
            </a:r>
            <a:endParaRPr lang="en-US" sz="1050" dirty="0"/>
          </a:p>
        </p:txBody>
      </p:sp>
      <p:sp>
        <p:nvSpPr>
          <p:cNvPr id="23" name="Text 21"/>
          <p:cNvSpPr txBox="1"/>
          <p:nvPr/>
        </p:nvSpPr>
        <p:spPr>
          <a:xfrm>
            <a:off x="457200" y="4796028"/>
            <a:ext cx="8229600" cy="219456"/>
          </a:xfrm>
          <a:prstGeom prst="rect">
            <a:avLst/>
          </a:prstGeom>
          <a:noFill/>
          <a:ln/>
        </p:spPr>
        <p:txBody>
          <a:bodyPr wrap="square" lIns="0" tIns="0" rIns="0" bIns="0" rtlCol="0" anchor="ctr"/>
          <a:lstStyle/>
          <a:p>
            <a:pPr indent="0" marL="0">
              <a:buNone/>
            </a:pPr>
            <a:r>
              <a:rPr lang="en-US" sz="850" i="1" dirty="0">
                <a:solidFill>
                  <a:srgbClr val="5F6670"/>
                </a:solidFill>
                <a:latin typeface="Calibri" pitchFamily="34" charset="0"/>
                <a:ea typeface="Calibri" pitchFamily="34" charset="-122"/>
                <a:cs typeface="Calibri" pitchFamily="34" charset="-120"/>
              </a:rPr>
              <a:t>All results are associations, not causes. Sources: docs/observations.md and data/results/.</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63A2B"/>
        </a:solidFill>
      </p:bgPr>
    </p:bg>
    <p:spTree>
      <p:nvGrpSpPr>
        <p:cNvPr id="1" name=""/>
        <p:cNvGrpSpPr/>
        <p:nvPr/>
      </p:nvGrpSpPr>
      <p:grpSpPr>
        <a:xfrm>
          <a:off x="0" y="0"/>
          <a:ext cx="0" cy="0"/>
          <a:chOff x="0" y="0"/>
          <a:chExt cx="0" cy="0"/>
        </a:xfrm>
      </p:grpSpPr>
      <p:sp>
        <p:nvSpPr>
          <p:cNvPr id="2" name="Text 0"/>
          <p:cNvSpPr txBox="1"/>
          <p:nvPr/>
        </p:nvSpPr>
        <p:spPr>
          <a:xfrm>
            <a:off x="457200" y="256032"/>
            <a:ext cx="1828800" cy="237744"/>
          </a:xfrm>
          <a:prstGeom prst="rect">
            <a:avLst/>
          </a:prstGeom>
          <a:noFill/>
          <a:ln/>
        </p:spPr>
        <p:txBody>
          <a:bodyPr wrap="square" lIns="0" tIns="0" rIns="0" bIns="0" rtlCol="0" anchor="ctr"/>
          <a:lstStyle/>
          <a:p>
            <a:pPr indent="0" marL="0">
              <a:buNone/>
            </a:pPr>
            <a:r>
              <a:rPr lang="en-US" sz="900" b="1" spc="200" kern="0" dirty="0">
                <a:solidFill>
                  <a:srgbClr val="C9DECF"/>
                </a:solidFill>
                <a:latin typeface="Calibri" pitchFamily="34" charset="0"/>
                <a:ea typeface="Calibri" pitchFamily="34" charset="-122"/>
                <a:cs typeface="Calibri" pitchFamily="34" charset="-120"/>
              </a:rPr>
              <a:t>NEXT</a:t>
            </a:r>
            <a:endParaRPr lang="en-US" sz="900" dirty="0"/>
          </a:p>
        </p:txBody>
      </p:sp>
      <p:sp>
        <p:nvSpPr>
          <p:cNvPr id="3" name="Text 1"/>
          <p:cNvSpPr txBox="1"/>
          <p:nvPr/>
        </p:nvSpPr>
        <p:spPr>
          <a:xfrm>
            <a:off x="5943600" y="256032"/>
            <a:ext cx="2743200" cy="237744"/>
          </a:xfrm>
          <a:prstGeom prst="rect">
            <a:avLst/>
          </a:prstGeom>
          <a:noFill/>
          <a:ln/>
        </p:spPr>
        <p:txBody>
          <a:bodyPr wrap="square" lIns="0" tIns="0" rIns="0" bIns="0" rtlCol="0" anchor="ctr"/>
          <a:lstStyle/>
          <a:p>
            <a:pPr algn="r" indent="0" marL="0">
              <a:buNone/>
            </a:pPr>
            <a:r>
              <a:rPr lang="en-US" sz="900" dirty="0">
                <a:solidFill>
                  <a:srgbClr val="C9DECF"/>
                </a:solidFill>
                <a:latin typeface="Calibri" pitchFamily="34" charset="0"/>
                <a:ea typeface="Calibri" pitchFamily="34" charset="-122"/>
                <a:cs typeface="Calibri" pitchFamily="34" charset="-120"/>
              </a:rPr>
              <a:t>Presenter: Role 4</a:t>
            </a:r>
            <a:endParaRPr lang="en-US" sz="900" dirty="0"/>
          </a:p>
        </p:txBody>
      </p:sp>
      <p:sp>
        <p:nvSpPr>
          <p:cNvPr id="4" name="Text 2"/>
          <p:cNvSpPr txBox="1"/>
          <p:nvPr/>
        </p:nvSpPr>
        <p:spPr>
          <a:xfrm>
            <a:off x="457200" y="502920"/>
            <a:ext cx="8229600" cy="548640"/>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About 50–60% done: the core results are in</a:t>
            </a:r>
            <a:endParaRPr lang="en-US" sz="2400" dirty="0"/>
          </a:p>
        </p:txBody>
      </p:sp>
      <p:sp>
        <p:nvSpPr>
          <p:cNvPr id="5" name="Text 3"/>
          <p:cNvSpPr txBox="1"/>
          <p:nvPr/>
        </p:nvSpPr>
        <p:spPr>
          <a:xfrm>
            <a:off x="457200" y="1325880"/>
            <a:ext cx="3977640" cy="320040"/>
          </a:xfrm>
          <a:prstGeom prst="rect">
            <a:avLst/>
          </a:prstGeom>
          <a:noFill/>
          <a:ln/>
        </p:spPr>
        <p:txBody>
          <a:bodyPr wrap="square" lIns="0" tIns="0" rIns="0" bIns="0" rtlCol="0" anchor="ctr"/>
          <a:lstStyle/>
          <a:p>
            <a:pPr indent="0" marL="0">
              <a:buNone/>
            </a:pPr>
            <a:r>
              <a:rPr lang="en-US" sz="1500" b="1" dirty="0">
                <a:solidFill>
                  <a:srgbClr val="F2B66D"/>
                </a:solidFill>
                <a:latin typeface="Cambria" pitchFamily="34" charset="0"/>
                <a:ea typeface="Cambria" pitchFamily="34" charset="-122"/>
                <a:cs typeface="Cambria" pitchFamily="34" charset="-120"/>
              </a:rPr>
              <a:t>Left for the final</a:t>
            </a:r>
            <a:endParaRPr lang="en-US" sz="1500" dirty="0"/>
          </a:p>
        </p:txBody>
      </p:sp>
      <p:sp>
        <p:nvSpPr>
          <p:cNvPr id="6" name="Text 4"/>
          <p:cNvSpPr txBox="1"/>
          <p:nvPr/>
        </p:nvSpPr>
        <p:spPr>
          <a:xfrm>
            <a:off x="457200" y="1737360"/>
            <a:ext cx="3977640" cy="2926080"/>
          </a:xfrm>
          <a:prstGeom prst="rect">
            <a:avLst/>
          </a:prstGeom>
          <a:noFill/>
          <a:ln/>
        </p:spPr>
        <p:txBody>
          <a:bodyPr wrap="square" lIns="0" tIns="0" rIns="0" bIns="0" rtlCol="0" anchor="t">
            <a:normAutofit/>
          </a:bodyPr>
          <a:lstStyle/>
          <a:p>
            <a:pPr marL="177800" indent="-177800">
              <a:spcAft>
                <a:spcPts val="500"/>
              </a:spcAft>
              <a:buSzPct val="100000"/>
              <a:buChar char="•"/>
            </a:pPr>
            <a:r>
              <a:rPr lang="en-US" sz="1250" dirty="0">
                <a:solidFill>
                  <a:srgbClr val="FFFFFF"/>
                </a:solidFill>
                <a:latin typeface="Calibri" pitchFamily="34" charset="0"/>
                <a:ea typeface="Calibri" pitchFamily="34" charset="-122"/>
                <a:cs typeface="Calibri" pitchFamily="34" charset="-120"/>
              </a:rPr>
              <a:t>H6: turn surface cooling into felt heat (Heat Index), using the surface-to-air ratios from Venter 2021 and Du 2024</a:t>
            </a:r>
            <a:endParaRPr lang="en-US" sz="1250" dirty="0"/>
          </a:p>
          <a:p>
            <a:pPr marL="177800" indent="-177800">
              <a:spcAft>
                <a:spcPts val="500"/>
              </a:spcAft>
              <a:buSzPct val="100000"/>
              <a:buChar char="•"/>
            </a:pPr>
            <a:r>
              <a:rPr lang="en-US" sz="1250" dirty="0">
                <a:solidFill>
                  <a:srgbClr val="FFFFFF"/>
                </a:solidFill>
                <a:latin typeface="Calibri" pitchFamily="34" charset="0"/>
                <a:ea typeface="Calibri" pitchFamily="34" charset="-122"/>
                <a:cs typeface="Calibri" pitchFamily="34" charset="-120"/>
              </a:rPr>
              <a:t>Who receives the cooling: a Lorenz curve</a:t>
            </a:r>
            <a:endParaRPr lang="en-US" sz="1250" dirty="0"/>
          </a:p>
          <a:p>
            <a:pPr marL="177800" indent="-177800">
              <a:spcAft>
                <a:spcPts val="500"/>
              </a:spcAft>
              <a:buSzPct val="100000"/>
              <a:buChar char="•"/>
            </a:pPr>
            <a:r>
              <a:rPr lang="en-US" sz="1250" dirty="0">
                <a:solidFill>
                  <a:srgbClr val="FFFFFF"/>
                </a:solidFill>
                <a:latin typeface="Calibri" pitchFamily="34" charset="0"/>
                <a:ea typeface="Calibri" pitchFamily="34" charset="-122"/>
                <a:cs typeface="Calibri" pitchFamily="34" charset="-120"/>
              </a:rPr>
              <a:t>Building height (GHSL 2018) as an urban-form control</a:t>
            </a:r>
            <a:endParaRPr lang="en-US" sz="1250" dirty="0"/>
          </a:p>
          <a:p>
            <a:pPr marL="177800" indent="-177800">
              <a:spcAft>
                <a:spcPts val="500"/>
              </a:spcAft>
              <a:buSzPct val="100000"/>
              <a:buChar char="•"/>
            </a:pPr>
            <a:r>
              <a:rPr lang="en-US" sz="1250" dirty="0">
                <a:solidFill>
                  <a:srgbClr val="FFFFFF"/>
                </a:solidFill>
                <a:latin typeface="Calibri" pitchFamily="34" charset="0"/>
                <a:ea typeface="Calibri" pitchFamily="34" charset="-122"/>
                <a:cs typeface="Calibri" pitchFamily="34" charset="-120"/>
              </a:rPr>
              <a:t>Optional: Hyderabad case study with Landsat at 30 m</a:t>
            </a:r>
            <a:endParaRPr lang="en-US" sz="1250" dirty="0"/>
          </a:p>
        </p:txBody>
      </p:sp>
      <p:sp>
        <p:nvSpPr>
          <p:cNvPr id="7" name="Text 5"/>
          <p:cNvSpPr txBox="1"/>
          <p:nvPr/>
        </p:nvSpPr>
        <p:spPr>
          <a:xfrm>
            <a:off x="4709160" y="1325880"/>
            <a:ext cx="3977640" cy="320040"/>
          </a:xfrm>
          <a:prstGeom prst="rect">
            <a:avLst/>
          </a:prstGeom>
          <a:noFill/>
          <a:ln/>
        </p:spPr>
        <p:txBody>
          <a:bodyPr wrap="square" lIns="0" tIns="0" rIns="0" bIns="0" rtlCol="0" anchor="ctr"/>
          <a:lstStyle/>
          <a:p>
            <a:pPr indent="0" marL="0">
              <a:buNone/>
            </a:pPr>
            <a:r>
              <a:rPr lang="en-US" sz="1500" b="1" dirty="0">
                <a:solidFill>
                  <a:srgbClr val="F2B66D"/>
                </a:solidFill>
                <a:latin typeface="Cambria" pitchFamily="34" charset="0"/>
                <a:ea typeface="Cambria" pitchFamily="34" charset="-122"/>
                <a:cs typeface="Cambria" pitchFamily="34" charset="-120"/>
              </a:rPr>
              <a:t>Limitations</a:t>
            </a:r>
            <a:endParaRPr lang="en-US" sz="1500" dirty="0"/>
          </a:p>
        </p:txBody>
      </p:sp>
      <p:sp>
        <p:nvSpPr>
          <p:cNvPr id="8" name="Text 6"/>
          <p:cNvSpPr txBox="1"/>
          <p:nvPr/>
        </p:nvSpPr>
        <p:spPr>
          <a:xfrm>
            <a:off x="4709160" y="1737360"/>
            <a:ext cx="3977640" cy="2926080"/>
          </a:xfrm>
          <a:prstGeom prst="rect">
            <a:avLst/>
          </a:prstGeom>
          <a:noFill/>
          <a:ln/>
        </p:spPr>
        <p:txBody>
          <a:bodyPr wrap="square" lIns="0" tIns="0" rIns="0" bIns="0" rtlCol="0" anchor="t">
            <a:normAutofit/>
          </a:bodyPr>
          <a:lstStyle/>
          <a:p>
            <a:pPr marL="177800" indent="-177800">
              <a:spcAft>
                <a:spcPts val="500"/>
              </a:spcAft>
              <a:buSzPct val="100000"/>
              <a:buChar char="•"/>
            </a:pPr>
            <a:r>
              <a:rPr lang="en-US" sz="1250" dirty="0">
                <a:solidFill>
                  <a:srgbClr val="FFFFFF"/>
                </a:solidFill>
                <a:latin typeface="Calibri" pitchFamily="34" charset="0"/>
                <a:ea typeface="Calibri" pitchFamily="34" charset="-122"/>
                <a:cs typeface="Calibri" pitchFamily="34" charset="-120"/>
              </a:rPr>
              <a:t>Surface temperature, not the heat people feel</a:t>
            </a:r>
            <a:endParaRPr lang="en-US" sz="1250" dirty="0"/>
          </a:p>
          <a:p>
            <a:pPr marL="177800" indent="-177800">
              <a:spcAft>
                <a:spcPts val="500"/>
              </a:spcAft>
              <a:buSzPct val="100000"/>
              <a:buChar char="•"/>
            </a:pPr>
            <a:r>
              <a:rPr lang="en-US" sz="1250" dirty="0">
                <a:solidFill>
                  <a:srgbClr val="FFFFFF"/>
                </a:solidFill>
                <a:latin typeface="Calibri" pitchFamily="34" charset="0"/>
                <a:ea typeface="Calibri" pitchFamily="34" charset="-122"/>
                <a:cs typeface="Calibri" pitchFamily="34" charset="-120"/>
              </a:rPr>
              <a:t>ERA5 gives city-level climate only (~9 km)</a:t>
            </a:r>
            <a:endParaRPr lang="en-US" sz="1250" dirty="0"/>
          </a:p>
          <a:p>
            <a:pPr marL="177800" indent="-177800">
              <a:spcAft>
                <a:spcPts val="500"/>
              </a:spcAft>
              <a:buSzPct val="100000"/>
              <a:buChar char="•"/>
            </a:pPr>
            <a:r>
              <a:rPr lang="en-US" sz="1250" dirty="0">
                <a:solidFill>
                  <a:srgbClr val="FFFFFF"/>
                </a:solidFill>
                <a:latin typeface="Calibri" pitchFamily="34" charset="0"/>
                <a:ea typeface="Calibri" pitchFamily="34" charset="-122"/>
                <a:cs typeface="Calibri" pitchFamily="34" charset="-120"/>
              </a:rPr>
              <a:t>Associations, not causes</a:t>
            </a:r>
            <a:endParaRPr lang="en-US" sz="1250" dirty="0"/>
          </a:p>
          <a:p>
            <a:pPr marL="177800" indent="-177800">
              <a:spcAft>
                <a:spcPts val="500"/>
              </a:spcAft>
              <a:buSzPct val="100000"/>
              <a:buChar char="•"/>
            </a:pPr>
            <a:r>
              <a:rPr lang="en-US" sz="1250" dirty="0">
                <a:solidFill>
                  <a:srgbClr val="FFFFFF"/>
                </a:solidFill>
                <a:latin typeface="Calibri" pitchFamily="34" charset="0"/>
                <a:ea typeface="Calibri" pitchFamily="34" charset="-122"/>
                <a:cs typeface="Calibri" pitchFamily="34" charset="-120"/>
              </a:rPr>
              <a:t>No monsoon season; humid cities thinner at night</a:t>
            </a:r>
            <a:endParaRPr lang="en-US" sz="1250" dirty="0"/>
          </a:p>
          <a:p>
            <a:pPr marL="177800" indent="-177800">
              <a:spcAft>
                <a:spcPts val="500"/>
              </a:spcAft>
              <a:buSzPct val="100000"/>
              <a:buChar char="•"/>
            </a:pPr>
            <a:r>
              <a:rPr lang="en-US" sz="1250" dirty="0">
                <a:solidFill>
                  <a:srgbClr val="FFFFFF"/>
                </a:solidFill>
                <a:latin typeface="Calibri" pitchFamily="34" charset="0"/>
                <a:ea typeface="Calibri" pitchFamily="34" charset="-122"/>
                <a:cs typeface="Calibri" pitchFamily="34" charset="-120"/>
              </a:rPr>
              <a:t>OSM misses the sea as water</a:t>
            </a:r>
            <a:endParaRPr lang="en-US" sz="1250" dirty="0"/>
          </a:p>
          <a:p>
            <a:pPr marL="177800" indent="-177800">
              <a:spcAft>
                <a:spcPts val="500"/>
              </a:spcAft>
              <a:buSzPct val="100000"/>
              <a:buChar char="•"/>
            </a:pPr>
            <a:r>
              <a:rPr lang="en-US" sz="1250" dirty="0">
                <a:solidFill>
                  <a:srgbClr val="FFFFFF"/>
                </a:solidFill>
                <a:latin typeface="Calibri" pitchFamily="34" charset="0"/>
                <a:ea typeface="Calibri" pitchFamily="34" charset="-122"/>
                <a:cs typeface="Calibri" pitchFamily="34" charset="-120"/>
              </a:rPr>
              <a:t>NDVI cannot separate trees from grass or crops</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GreenPulse: mid-semester evaluation</dc:title>
  <dc:subject>PptxGenJS Presentation</dc:subject>
  <dc:creator>PptxGenJS</dc:creator>
  <cp:lastModifiedBy>PptxGenJS</cp:lastModifiedBy>
  <cp:revision>1</cp:revision>
  <dcterms:created xsi:type="dcterms:W3CDTF">2026-10-06T06:23:06Z</dcterms:created>
  <dcterms:modified xsi:type="dcterms:W3CDTF">2026-10-06T06:23:06Z</dcterms:modified>
</cp:coreProperties>
</file>