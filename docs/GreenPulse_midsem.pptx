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76" r:id="rId31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y="10287000" cx="18288000"/>
  <p:notesSz cx="6858000" cy="9144000"/>
  <p:embeddedFontLst>
    <p:embeddedFont>
      <p:font typeface="Amatic SC"/>
      <p:regular r:id="rId27"/>
      <p:bold r:id="rId28"/>
    </p:embeddedFont>
    <p:embeddedFont>
      <p:font typeface="Assistant"/>
      <p:regular r:id="rId29"/>
      <p:bold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6E1D27E-B214-48A2-AC49-08C011D284FE}">
  <a:tblStyle styleId="{36E1D27E-B214-48A2-AC49-08C011D284F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font" Target="fonts/AmaticSC-regular.fntdata"/><Relationship Id="rId28" Type="http://schemas.openxmlformats.org/officeDocument/2006/relationships/font" Target="fonts/AmaticSC-bold.fntdata"/><Relationship Id="rId29" Type="http://schemas.openxmlformats.org/officeDocument/2006/relationships/font" Target="fonts/Assistant-regular.fntdata"/><Relationship Id="rId30" Type="http://schemas.openxmlformats.org/officeDocument/2006/relationships/font" Target="fonts/Assistant-bold.fntdata"/><Relationship Id="rId31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h2fc28b6b28dc1e04_1_0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h2fc28b6b28dc1e04_1_0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Role 4.</a:t>
            </a:r>
          </a:p>
          <a:p>
            <a:r>
              <a:t>We test whether existing greenery cools Indian cities, and under what conditions it cools most.</a:t>
            </a:r>
          </a:p>
        </p:txBody>
      </p:sp>
      <p:sp>
        <p:nvSpPr>
          <p:cNvPr id="84" name="Google Shape;84;h2fc28b6b28dc1e04_1_0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h2fc28b6b28dc1e04_1_1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h2fc28b6b28dc1e04_1_1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The question has two halves: does greenery cool at all, and where and when does it cool most?</a:t>
            </a:r>
          </a:p>
          <a:p>
            <a:r>
              <a:t>The second half is the interesting one, and it is where the studies disagree (next slide).</a:t>
            </a:r>
          </a:p>
          <a:p>
            <a:r>
              <a:t>Peng 2012 is satellite surface temperature; Bowler 2010 is air temperature in parks.</a:t>
            </a:r>
          </a:p>
        </p:txBody>
      </p:sp>
      <p:sp>
        <p:nvSpPr>
          <p:cNvPr id="93" name="Google Shape;93;h2fc28b6b28dc1e04_1_1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h2fc28b6b28dc1e04_1_26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h2fc28b6b28dc1e04_1_26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India spans every climate from Jodhpur (desert) to Kochi (very wet), so it is a natural place to test the dry-climate disagreement.</a:t>
            </a:r>
          </a:p>
          <a:p>
            <a:r>
              <a:t>Which paper does each step follow? Cooling slope: Yang 2022 and Schwaab 2021. Background climate: Zhao 2014, Manoli 2019 and Guo 2026. The 1,000 mm threshold: Guo and Manoli. Day vs night: Yang 2022, Du 2024 and Ibsen 2021. Heat Index: Borah 2026. People-weighting: Chakraborty 2019, Chen 2022 and Li 2024. No monsoon: Kumar 2017. Surface vs felt heat: Venter 2021 and Du 2024.</a:t>
            </a:r>
          </a:p>
        </p:txBody>
      </p:sp>
      <p:sp>
        <p:nvSpPr>
          <p:cNvPr id="107" name="Google Shape;107;h2fc28b6b28dc1e04_1_26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h2fc28b6b28dc1e04_1_40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h2fc28b6b28dc1e04_1_40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Each hypothesis has a results slide: H1 is the map, H2 and H3 are the rainfall slides, H4 is the seasons slide and H5 is the exposure slide.</a:t>
            </a:r>
          </a:p>
        </p:txBody>
      </p:sp>
      <p:sp>
        <p:nvSpPr>
          <p:cNvPr id="121" name="Google Shape;121;h2fc28b6b28dc1e04_1_40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h2fc28b6b28dc1e04_1_63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h2fc28b6b28dc1e04_1_63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All seven datasets are free and open. The professor assigned five; we added SRTM elevation as a control, and use OpenStreetMap only for water.</a:t>
            </a:r>
          </a:p>
          <a:p>
            <a:r>
              <a:t>We use the Aqua satellite rather than Terra because its 1:30 pm pass is closer to the hottest part of the day.</a:t>
            </a:r>
          </a:p>
          <a:p>
            <a:r>
              <a:t>LST is surface temperature (roofs, roads, leaves), not the air temperature people feel.</a:t>
            </a:r>
          </a:p>
          <a:p>
            <a:r>
              <a:t>If asked why 1 km when other layers are 100 m: 1 km is the native resolution of the temperature data. The finer layers are averaged up to it, never the other way round.</a:t>
            </a:r>
          </a:p>
        </p:txBody>
      </p:sp>
      <p:sp>
        <p:nvSpPr>
          <p:cNvPr id="144" name="Google Shape;144;h2fc28b6b28dc1e04_1_63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h2fc28b6b28dc1e04_1_7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h2fc28b6b28dc1e04_1_7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 city is a GHSL urban centre: connected 1 km cells with at least 1,500 people per km² and 50,000 people in total. The same rule applies in every state.</a:t>
            </a:r>
          </a:p>
          <a:p>
            <a:r>
              <a:t>In total: 53,614 squares and about 297 million people (WorldPop 2020).</a:t>
            </a:r>
          </a:p>
          <a:p>
            <a:r>
              <a:t>72 cities get under 1,000 mm of rain a year.</a:t>
            </a:r>
          </a:p>
          <a:p>
            <a:r>
              <a:t>If asked why Kochi is warmer in winter: Kerala is already wet in April-May (622 mm in Kochi), while its winter is dry and sunny.</a:t>
            </a:r>
          </a:p>
        </p:txBody>
      </p:sp>
      <p:sp>
        <p:nvSpPr>
          <p:cNvPr id="152" name="Google Shape;152;h2fc28b6b28dc1e04_1_7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h2fc28b6b28dc1e04_1_8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h2fc28b6b28dc1e04_1_8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We used the same quality filter as the main analysis and counted usable images month by month, 2019-2024, in six cities.</a:t>
            </a:r>
          </a:p>
          <a:p>
            <a:r>
              <a:t>The loss is large and uneven between cities, so monsoon results would rest on very different amounts of data.</a:t>
            </a:r>
          </a:p>
          <a:p>
            <a:r>
              <a:t>This measure counts every square in the outline, including water, so it reads lower than the land-only figure on the data slides. Compare months within this chart.</a:t>
            </a:r>
          </a:p>
        </p:txBody>
      </p:sp>
      <p:sp>
        <p:nvSpPr>
          <p:cNvPr id="161" name="Google Shape;161;h2fc28b6b28dc1e04_1_8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h2fc28b6b28dc1e04_1_96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h2fc28b6b28dc1e04_1_96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Quality filter: we keep "good" readings and "other quality" readings with an error of at most 2 K. Cloudy readings are dropped before averaging.</a:t>
            </a:r>
          </a:p>
          <a:p>
            <a:r>
              <a:t>What we drop: squares with no temperature are open water, because the same squares are missing in every season. Squares under 10% built-up are not urban. Cities with fewer than 30 urban squares get no estimate (101 of 303).</a:t>
            </a:r>
          </a:p>
        </p:txBody>
      </p:sp>
      <p:sp>
        <p:nvSpPr>
          <p:cNvPr id="174" name="Google Shape;174;h2fc28b6b28dc1e04_1_96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h2fc28b6b28dc1e04_1_12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h2fc28b6b28dc1e04_1_125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About 29,000 fits in all, including the robustness checks. Each fit uses all urban squares of one city.</a:t>
            </a:r>
          </a:p>
          <a:p>
            <a:r>
              <a:t>If asked whether this is causal: no. It is an association, with built-up share, elevation and water held fixed.</a:t>
            </a:r>
          </a:p>
        </p:txBody>
      </p:sp>
      <p:sp>
        <p:nvSpPr>
          <p:cNvPr id="203" name="Google Shape;203;h2fc28b6b28dc1e04_1_125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h2fc28b6b28dc1e04_1_136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3" name="Google Shape;213;h2fc28b6b28dc1e04_1_136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Role 2: one climate value per city per season. A Heat Index from monthly averages would understate hot afternoons, so we compute it each day.</a:t>
            </a:r>
          </a:p>
          <a:p>
            <a:r>
              <a:t>Neither rainfall nor soil moisture can see irrigation (Manoli 2019).</a:t>
            </a:r>
          </a:p>
          <a:p>
            <a:r>
              <a:t>Role 4: comparing the people-weighted average with the plain average shows whether the heat sits where people are.</a:t>
            </a:r>
          </a:p>
        </p:txBody>
      </p:sp>
      <p:sp>
        <p:nvSpPr>
          <p:cNvPr id="214" name="Google Shape;214;h2fc28b6b28dc1e04_1_136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h2fc28b6b28dc1e04_1_14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h2fc28b6b28dc1e04_1_147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Each dot is one square, with built-up share removed from both axes. The slope of the line equals the regression result exactly.</a:t>
            </a:r>
          </a:p>
          <a:p>
            <a:r>
              <a:t>In our final model (with elevation and water), Jodhpur is -1.45 and Kochi is -1.90. The sign never changes.</a:t>
            </a:r>
          </a:p>
          <a:p>
            <a:r>
              <a:t>Jodhpur's warm green nights are not unusual: before the monsoon, 24% of 135 cities show the same, mostly dry ones.</a:t>
            </a:r>
          </a:p>
        </p:txBody>
      </p:sp>
      <p:sp>
        <p:nvSpPr>
          <p:cNvPr id="225" name="Google Shape;225;h2fc28b6b28dc1e04_1_147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h2fc28b6b28dc1e04_1_16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8" name="Google Shape;238;h2fc28b6b28dc1e04_1_16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Each dot is one city's cooling slope. The line is a regression across cities that gives more weight to precise cities.</a:t>
            </a:r>
          </a:p>
          <a:p>
            <a:r>
              <a:t>A flat daytime line means greener squares are about as much cooler in Jodhpur's climate as in Kochi's.</a:t>
            </a:r>
          </a:p>
          <a:p>
            <a:r>
              <a:t>By day this supports neither side of the dry-climate debate. At night it sides with Guo and Schwaab (weaker cooling in dry places).</a:t>
            </a:r>
          </a:p>
          <a:p>
            <a:r>
              <a:t>The night trend holds with every model we tried, including adding city size, air temperature and density.</a:t>
            </a:r>
          </a:p>
        </p:txBody>
      </p:sp>
      <p:sp>
        <p:nvSpPr>
          <p:cNvPr id="239" name="Google Shape;239;h2fc28b6b28dc1e04_1_16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2fc28b6b28dc1e04_1_17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h2fc28b6b28dc1e04_1_177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Blue means greener squares are cooler, red means warmer, hollow means not significant, and size shows population.</a:t>
            </a:r>
          </a:p>
          <a:p>
            <a:r>
              <a:t>Hollow markers are mostly small cities: fewer squares give a wider range.</a:t>
            </a:r>
          </a:p>
          <a:p>
            <a:r>
              <a:t>If asked about a regional pattern: there is none by day; the rainfall slide tests this formally.</a:t>
            </a:r>
          </a:p>
        </p:txBody>
      </p:sp>
      <p:sp>
        <p:nvSpPr>
          <p:cNvPr id="253" name="Google Shape;253;h2fc28b6b28dc1e04_1_177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h2fc28b6b28dc1e04_1_19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6" name="Google Shape;266;h2fc28b6b28dc1e04_1_19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Why do we not see Guo's daytime warming? Guo's dry cities are arid worldwide; India's are semi-arid, and much urban greenery is watered, which rainfall cannot see. Different methods, so this is a contrast, not a replication.</a:t>
            </a:r>
          </a:p>
          <a:p>
            <a:r>
              <a:t>If asked whether the night numbers are reliable with only 39 dry cities: the result gets stronger with a 6-night cut-off.</a:t>
            </a:r>
          </a:p>
        </p:txBody>
      </p:sp>
      <p:sp>
        <p:nvSpPr>
          <p:cNvPr id="267" name="Google Shape;267;h2fc28b6b28dc1e04_1_19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h2fc28b6b28dc1e04_1_204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7" name="Google Shape;277;h2fc28b6b28dc1e04_1_204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This is our cleanest test of conditions (H4), because the city itself is held fixed.</a:t>
            </a:r>
          </a:p>
          <a:p>
            <a:r>
              <a:t>Daytime cooling is strongest before the monsoon (median -1.13, against -0.67 after it and -0.81 in winter). One untested idea: April-May has the most sun and the hottest surfaces, so there is more heat for vegetation to offset.</a:t>
            </a:r>
          </a:p>
          <a:p>
            <a:r>
              <a:t>If asked whether this is just noise: Wilcoxon p ≈ 7e-19 across 202 cities. Soil wetting: -1.71 per m³/m³, 95% range -3.65 to +0.24.</a:t>
            </a:r>
          </a:p>
        </p:txBody>
      </p:sp>
      <p:sp>
        <p:nvSpPr>
          <p:cNvPr id="278" name="Google Shape;278;h2fc28b6b28dc1e04_1_204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h2fc28b6b28dc1e04_1_218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0" name="Google Shape;290;h2fc28b6b28dc1e04_1_218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People-weighting: each square's temperature is weighted by the number of people living there, then compared with the plain average.</a:t>
            </a:r>
          </a:p>
          <a:p>
            <a:r>
              <a:t>Night is the clearest result (135-157 cities with night data; humid cities have less night data because of cloud). By day: 63% before the monsoon, 87% after it and 73% in winter.</a:t>
            </a:r>
          </a:p>
          <a:p>
            <a:r>
              <a:t>Before the monsoon, some large cities go the other way: Surat, Pune, Mumbai, Kozhikode, Indore, Nagpur and Jaipur. Most are wet, so it is not simply a dry-city effect.</a:t>
            </a:r>
          </a:p>
          <a:p>
            <a:r>
              <a:t>We use population density, not income, so say "crowded", never "poor". Chakraborty et al. 2019 found poorer neighbourhoods hotter in 72% of 25 cities.</a:t>
            </a:r>
          </a:p>
        </p:txBody>
      </p:sp>
      <p:sp>
        <p:nvSpPr>
          <p:cNvPr id="291" name="Google Shape;291;h2fc28b6b28dc1e04_1_218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h2fc28b6b28dc1e04_1_23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3" name="Google Shape;303;h2fc28b6b28dc1e04_1_231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Water can be cool and low in greenness, so it could be mistaken for a vegetation effect.</a:t>
            </a:r>
          </a:p>
          <a:p>
            <a:r>
              <a:t>The overall daytime slope changes only slightly, and Jodhpur's night slope does not change at all.</a:t>
            </a:r>
          </a:p>
          <a:p>
            <a:r>
              <a:t>If asked how water share was calculated: OpenStreetMap water polygons were overlaid on each satellite square.</a:t>
            </a:r>
          </a:p>
        </p:txBody>
      </p:sp>
      <p:sp>
        <p:nvSpPr>
          <p:cNvPr id="304" name="Google Shape;304;h2fc28b6b28dc1e04_1_231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2fc28b6b28dc1e04_1_24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h2fc28b6b28dc1e04_1_245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Variants: EVI instead of NDVI, a 20% built-up cut-off, each control removed, water squares dropped and a 6-night cut-off.</a:t>
            </a:r>
          </a:p>
          <a:p>
            <a:r>
              <a:t>The rainfall slope changes sign across variants and is never significant, so "no clear daytime rainfall pattern" is the safe reading.</a:t>
            </a:r>
          </a:p>
          <a:p>
            <a:r>
              <a:t>Without the built-up control, greener squares look cooler at night in 53-75% of cities, because built-up surfaces hold heat at night.</a:t>
            </a:r>
          </a:p>
          <a:p>
            <a:r>
              <a:t>If asked why NDVI and EVI disagree: they differ on significance in 14% of cities, and we have not explained it yet.</a:t>
            </a:r>
          </a:p>
        </p:txBody>
      </p:sp>
      <p:sp>
        <p:nvSpPr>
          <p:cNvPr id="317" name="Google Shape;317;h2fc28b6b28dc1e04_1_245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h2fc28b6b28dc1e04_1_25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0" name="Google Shape;330;h2fc28b6b28dc1e04_1_259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H1 Role 3, H2 Role 2, H3 Roles 2 and 3, H4 Role 3, H5 Role 4, data Roles 1 and 5.</a:t>
            </a:r>
          </a:p>
          <a:p>
            <a:r>
              <a:t>Keep each line to one breath. Every result here is an association, not a cause.</a:t>
            </a:r>
          </a:p>
        </p:txBody>
      </p:sp>
      <p:sp>
        <p:nvSpPr>
          <p:cNvPr id="331" name="Google Shape;331;h2fc28b6b28dc1e04_1_259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h2fc28b6b28dc1e04_1_28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5" name="Google Shape;355;h2fc28b6b28dc1e04_1_285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Done: the pipeline, 303 cities in three seasons, cooling slopes, climate, exposure and the main results.</a:t>
            </a:r>
          </a:p>
          <a:p>
            <a:r>
              <a:t>Close by restating the answer: greenery cools by day almost everywhere, and the conditions that matter show up at night and between seasons.</a:t>
            </a:r>
          </a:p>
        </p:txBody>
      </p:sp>
      <p:sp>
        <p:nvSpPr>
          <p:cNvPr id="356" name="Google Shape;356;h2fc28b6b28dc1e04_1_285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Jodhpur before the monsoon. Each coloured square is one 1 km satellite square inside the city outline.</a:t>
            </a:r>
          </a:p>
          <a:p>
            <a:r>
              <a:t>Left: daytime surface temperature. Right: greenness (NDVI).</a:t>
            </a:r>
          </a:p>
          <a:p>
            <a:r>
              <a:t>The greener band through the middle of the city is also the cooler band. The cooling slope measures exactly this relationship, square by square.</a:t>
            </a:r>
          </a:p>
          <a:p>
            <a:r>
              <a:t>Figure by Role 1 (B_grid_example.png).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4"/>
          <p:cNvSpPr txBox="1"/>
          <p:nvPr/>
        </p:nvSpPr>
        <p:spPr>
          <a:xfrm>
            <a:off x="914400" y="1088570"/>
            <a:ext cx="16459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ECF"/>
              </a:buClr>
              <a:buSzPts val="2000"/>
              <a:buFont typeface="Calibri"/>
              <a:buNone/>
            </a:pPr>
            <a:r>
              <a:rPr b="1" lang="en-US" spc="200" sz="3500" i="0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rPr>
              <a:t>GreenPulse: Nature-Based Solutions for Urban Heat</a:t>
            </a:r>
            <a:endParaRPr i="0" sz="3500" u="none" cap="none" strike="noStrike">
              <a:solidFill>
                <a:schemeClr val="lt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87" name="Google Shape;87;p14"/>
          <p:cNvSpPr txBox="1"/>
          <p:nvPr/>
        </p:nvSpPr>
        <p:spPr>
          <a:xfrm>
            <a:off x="914400" y="3152507"/>
            <a:ext cx="16459200" cy="269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ECF"/>
              </a:buClr>
              <a:buSzPts val="4800"/>
              <a:buFont typeface="Cambria"/>
              <a:buNone/>
            </a:pPr>
            <a:r>
              <a:rPr b="1" lang="en-US" sz="16000" u="none" cap="none" strike="noStrike" i="0">
                <a:solidFill>
                  <a:schemeClr val="lt2"/>
                </a:solidFill>
                <a:latin typeface="Amatic SC"/>
                <a:ea typeface="Amatic SC"/>
                <a:cs typeface="Amatic SC"/>
                <a:sym typeface="Amatic SC"/>
              </a:rPr>
              <a:t>Does urban vegetation cool Indian cities, and when?</a:t>
            </a:r>
            <a:endParaRPr b="1" sz="16000" u="none" cap="none" strike="noStrike" i="0">
              <a:solidFill>
                <a:schemeClr val="lt2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sp>
        <p:nvSpPr>
          <p:cNvPr id="88" name="Google Shape;88;p14"/>
          <p:cNvSpPr txBox="1"/>
          <p:nvPr/>
        </p:nvSpPr>
        <p:spPr>
          <a:xfrm>
            <a:off x="914400" y="6923365"/>
            <a:ext cx="164592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B66D"/>
              </a:buClr>
              <a:buSzPts val="2800"/>
              <a:buFont typeface="Calibri"/>
              <a:buNone/>
            </a:pPr>
            <a:r>
              <a:rPr b="1" i="0" lang="en-US" sz="5000" u="none" cap="none" strike="noStrike">
                <a:solidFill>
                  <a:schemeClr val="lt2"/>
                </a:solidFill>
                <a:latin typeface="Amatic SC"/>
                <a:ea typeface="Amatic SC"/>
                <a:cs typeface="Amatic SC"/>
                <a:sym typeface="Amatic SC"/>
              </a:rPr>
              <a:t>A case study of 303 Indian cities, 2019-2024</a:t>
            </a:r>
            <a:endParaRPr b="1" i="0" sz="5000" u="none" cap="none" strike="noStrike">
              <a:solidFill>
                <a:schemeClr val="lt2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sp>
        <p:nvSpPr>
          <p:cNvPr id="89" name="Google Shape;89;p14"/>
          <p:cNvSpPr txBox="1"/>
          <p:nvPr/>
        </p:nvSpPr>
        <p:spPr>
          <a:xfrm>
            <a:off x="914400" y="8321040"/>
            <a:ext cx="16459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Atharv Johar</a:t>
            </a:r>
            <a:r>
              <a:rPr b="1" lang="en-US" sz="3000" i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,</a:t>
            </a:r>
            <a:r>
              <a:rPr b="1" i="0" lang="en-US" sz="3000" u="none" cap="none" strike="noStrike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 Himani Das</a:t>
            </a:r>
            <a:r>
              <a:rPr b="1" lang="en-US" sz="3000" i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, </a:t>
            </a:r>
            <a:r>
              <a:rPr b="1" i="0" lang="en-US" sz="3000" u="none" cap="none" strike="noStrike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Ishaan Karan</a:t>
            </a:r>
            <a:r>
              <a:rPr b="1" lang="en-US" sz="3000" i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, </a:t>
            </a:r>
            <a:r>
              <a:rPr b="1" i="0" lang="en-US" sz="3000" u="none" cap="none" strike="noStrike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Nidhi Vaidya</a:t>
            </a:r>
            <a:r>
              <a:rPr b="1" lang="en-US" sz="3000" i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, </a:t>
            </a:r>
            <a:r>
              <a:rPr b="1" i="0" lang="en-US" sz="3000" u="none" cap="none" strike="noStrike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Prajna Penmetsa</a:t>
            </a:r>
            <a:endParaRPr b="1" i="0" sz="30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5"/>
          <p:cNvSpPr txBox="1"/>
          <p:nvPr/>
        </p:nvSpPr>
        <p:spPr>
          <a:xfrm>
            <a:off x="914400" y="512064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1800"/>
              <a:buFont typeface="Assistant"/>
              <a:buNone/>
            </a:pPr>
            <a:r>
              <a:rPr b="1" i="0" lang="en-US" spc="200" sz="18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PROBLEM</a:t>
            </a:r>
            <a:endParaRPr b="0" i="0" sz="1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96" name="Google Shape;96;p15"/>
          <p:cNvSpPr txBox="1"/>
          <p:nvPr/>
        </p:nvSpPr>
        <p:spPr>
          <a:xfrm>
            <a:off x="914400" y="100584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ssistant"/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matic SC"/>
                <a:ea typeface="Amatic SC"/>
                <a:cs typeface="Amatic SC"/>
                <a:sym typeface="Amatic SC"/>
              </a:rPr>
              <a:t>Cities are hotter than their surroundings, and greening is the go-to fix</a:t>
            </a:r>
            <a:endParaRPr b="1" i="0" sz="4400" u="none" cap="none" strike="noStrike">
              <a:solidFill>
                <a:srgbClr val="000000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sp>
        <p:nvSpPr>
          <p:cNvPr id="97" name="Google Shape;97;p15"/>
          <p:cNvSpPr txBox="1"/>
          <p:nvPr/>
        </p:nvSpPr>
        <p:spPr>
          <a:xfrm>
            <a:off x="914400" y="2651760"/>
            <a:ext cx="950976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5560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ssistant"/>
              <a:buChar char="•"/>
            </a:pPr>
            <a:r>
              <a:rPr i="0" lang="en-US" sz="2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Dense buildings, paved surfaces and waste heat make cities hotter than the land around them.</a:t>
            </a:r>
            <a:endParaRPr i="0" sz="2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5560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ssistant"/>
              <a:buChar char="•"/>
            </a:pPr>
            <a:r>
              <a:rPr i="0" lang="en-US" sz="2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Trees, parks and other green spaces are promoted as a low-cost way to cool cities, through shade and through water evaporating from leaves.</a:t>
            </a:r>
            <a:endParaRPr i="0" sz="2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5560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ssistant"/>
              <a:buChar char="•"/>
            </a:pPr>
            <a:r>
              <a:rPr i="0" lang="en-US" sz="2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Trees cool 2-3 times more than grass or green roofs (Kim et al. 2024).</a:t>
            </a:r>
            <a:endParaRPr i="0" sz="2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98" name="Google Shape;98;p15"/>
          <p:cNvSpPr txBox="1"/>
          <p:nvPr/>
        </p:nvSpPr>
        <p:spPr>
          <a:xfrm>
            <a:off x="11338560" y="2560320"/>
            <a:ext cx="60350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5600"/>
              <a:buFont typeface="Assistant"/>
              <a:buNone/>
            </a:pPr>
            <a:r>
              <a:rPr b="1" i="0" lang="en-US" sz="49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+1.5 °C</a:t>
            </a:r>
            <a:endParaRPr b="1" i="0" sz="49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99" name="Google Shape;99;p15"/>
          <p:cNvSpPr txBox="1"/>
          <p:nvPr/>
        </p:nvSpPr>
        <p:spPr>
          <a:xfrm>
            <a:off x="11338560" y="3602736"/>
            <a:ext cx="60350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hotter urban surfaces by day across 419 cities, and +1.1 °C at night (Peng et al. 2012)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00" name="Google Shape;100;p15"/>
          <p:cNvSpPr txBox="1"/>
          <p:nvPr/>
        </p:nvSpPr>
        <p:spPr>
          <a:xfrm>
            <a:off x="11338560" y="4663440"/>
            <a:ext cx="60350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5600"/>
              <a:buFont typeface="Assistant"/>
              <a:buNone/>
            </a:pPr>
            <a:r>
              <a:rPr b="1" i="0" lang="en-US" sz="49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0.94 °C</a:t>
            </a:r>
            <a:endParaRPr b="1" i="0" sz="49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01" name="Google Shape;101;p15"/>
          <p:cNvSpPr txBox="1"/>
          <p:nvPr/>
        </p:nvSpPr>
        <p:spPr>
          <a:xfrm>
            <a:off x="11338560" y="5705856"/>
            <a:ext cx="60350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cooler inside parks by day, averaged across studies (Bowler et al. 2010)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02" name="Google Shape;102;p15"/>
          <p:cNvSpPr/>
          <p:nvPr/>
        </p:nvSpPr>
        <p:spPr>
          <a:xfrm>
            <a:off x="914400" y="7040880"/>
            <a:ext cx="16459200" cy="2103120"/>
          </a:xfrm>
          <a:prstGeom prst="roundRect">
            <a:avLst>
              <a:gd fmla="val 6957" name="adj"/>
            </a:avLst>
          </a:prstGeom>
          <a:solidFill>
            <a:srgbClr val="1F4D3A"/>
          </a:solidFill>
          <a:ln cap="flat" cmpd="sng" w="1270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1201775" y="7223750"/>
            <a:ext cx="15901800" cy="173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ssistant"/>
              <a:buNone/>
            </a:pPr>
            <a:r>
              <a:rPr b="1" lang="en-US" sz="3200" i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Research question: </a:t>
            </a:r>
            <a:r>
              <a:rPr b="0" lang="en-US" sz="3200" i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Can existing urban vegetation measurably reduce heat exposure, and under what environmental conditions is the cooling effect strongest?</a:t>
            </a:r>
            <a:endParaRPr b="1" sz="3200" i="0">
              <a:solidFill>
                <a:srgbClr val="FFFFFF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6"/>
          <p:cNvSpPr txBox="1"/>
          <p:nvPr/>
        </p:nvSpPr>
        <p:spPr>
          <a:xfrm>
            <a:off x="914400" y="512064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1800"/>
              <a:buFont typeface="Assistant"/>
              <a:buNone/>
            </a:pPr>
            <a:r>
              <a:rPr b="1" i="0" lang="en-US" spc="200" sz="18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PROBLEM</a:t>
            </a:r>
            <a:endParaRPr b="0" i="0" sz="1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10" name="Google Shape;110;p16"/>
          <p:cNvSpPr txBox="1"/>
          <p:nvPr/>
        </p:nvSpPr>
        <p:spPr>
          <a:xfrm>
            <a:off x="914400" y="100584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ssistant"/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matic SC"/>
                <a:ea typeface="Amatic SC"/>
                <a:cs typeface="Amatic SC"/>
                <a:sym typeface="Amatic SC"/>
              </a:rPr>
              <a:t>Studies disagree about dry climates, and most measure surface heat</a:t>
            </a:r>
            <a:endParaRPr b="1" i="0" sz="4400" u="none" cap="none" strike="noStrike">
              <a:solidFill>
                <a:srgbClr val="000000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sp>
        <p:nvSpPr>
          <p:cNvPr id="111" name="Google Shape;111;p16"/>
          <p:cNvSpPr/>
          <p:nvPr/>
        </p:nvSpPr>
        <p:spPr>
          <a:xfrm>
            <a:off x="914400" y="2817232"/>
            <a:ext cx="7955400" cy="356610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9050">
            <a:solidFill>
              <a:srgbClr val="C8640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1243584" y="3073265"/>
            <a:ext cx="7296900" cy="30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2500"/>
              <a:buFont typeface="Assistant"/>
              <a:buNone/>
            </a:pPr>
            <a:r>
              <a:rPr b="1" i="0" lang="en-US" sz="22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Dry cities cool less</a:t>
            </a:r>
            <a:endParaRPr b="0" i="0" sz="2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2500"/>
              <a:buFont typeface="Assistant"/>
              <a:buNone/>
            </a:pPr>
            <a:r>
              <a:rPr b="1" i="0" lang="en-US" sz="22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Guo et al. 2026 (761 cities): in 22% of cities with under 1,000 mm of rain a year, vegetation causes net warming.</a:t>
            </a:r>
            <a:endParaRPr b="0" i="0" sz="2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2500"/>
              <a:buFont typeface="Assistant"/>
              <a:buNone/>
            </a:pPr>
            <a:r>
              <a:rPr b="1" i="0" lang="en-US" sz="22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Schwaab et al. 2021 (293 cities): during heat extremes, trees cool less in dry southern Europe (0-4 K) than in central Europe (8-12 K).</a:t>
            </a:r>
            <a:endParaRPr b="0" i="0" sz="2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13" name="Google Shape;113;p16"/>
          <p:cNvSpPr/>
          <p:nvPr/>
        </p:nvSpPr>
        <p:spPr>
          <a:xfrm>
            <a:off x="9418320" y="2817232"/>
            <a:ext cx="7955400" cy="356610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905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14" name="Google Shape;114;p16"/>
          <p:cNvSpPr txBox="1"/>
          <p:nvPr/>
        </p:nvSpPr>
        <p:spPr>
          <a:xfrm>
            <a:off x="9747504" y="3073265"/>
            <a:ext cx="7296900" cy="30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500"/>
              <a:buFont typeface="Assistant"/>
              <a:buNone/>
            </a:pPr>
            <a:r>
              <a:rPr b="1" i="0" lang="en-US" sz="22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Dry cities cool more</a:t>
            </a:r>
            <a:endParaRPr b="0" i="0" sz="2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500"/>
              <a:buFont typeface="Assistant"/>
              <a:buNone/>
            </a:pPr>
            <a:r>
              <a:rPr b="1" i="0" lang="en-US" sz="22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Manoli et al. 2019: greening cools more efficiently in dry regions, but only when it is irrigated.</a:t>
            </a:r>
            <a:endParaRPr b="0" i="0" sz="2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500"/>
              <a:buFont typeface="Assistant"/>
              <a:buNone/>
            </a:pPr>
            <a:r>
              <a:rPr b="1" i="0" lang="en-US" sz="22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Yang et al. 2022 (510 cities): trees cool more efficiently in hot, dry cities.</a:t>
            </a:r>
            <a:endParaRPr b="0" i="0" sz="2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15" name="Google Shape;115;p16"/>
          <p:cNvSpPr txBox="1"/>
          <p:nvPr/>
        </p:nvSpPr>
        <p:spPr>
          <a:xfrm>
            <a:off x="914425" y="6823165"/>
            <a:ext cx="5242500" cy="283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100"/>
              <a:buFont typeface="Assistant"/>
              <a:buNone/>
            </a:pPr>
            <a:r>
              <a:rPr b="1" i="0" lang="en-US" sz="21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Humid cities: a new warning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100"/>
              <a:buFont typeface="Assistant"/>
              <a:buNone/>
            </a:pPr>
            <a:r>
              <a:rPr b="1" i="0" lang="en-US" sz="21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Borah et al. 2026 (138 Indian cities): very active tree canopies go with a higher Heat Index at pre-monsoon midday.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16" name="Google Shape;116;p16"/>
          <p:cNvSpPr txBox="1"/>
          <p:nvPr/>
        </p:nvSpPr>
        <p:spPr>
          <a:xfrm>
            <a:off x="6522745" y="6823165"/>
            <a:ext cx="5242500" cy="283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100"/>
              <a:buFont typeface="Assistant"/>
              <a:buNone/>
            </a:pPr>
            <a:r>
              <a:rPr b="1" i="0" lang="en-US" sz="21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The measurement problem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100"/>
              <a:buFont typeface="Assistant"/>
              <a:buNone/>
            </a:pPr>
            <a:r>
              <a:rPr b="1" i="0" lang="en-US" sz="21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Satellites overstate the urban heat island about 6 times compared with air temperature (Venter et al. 2021), and tree cooling about 12 times (Du et al. 2024).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17" name="Google Shape;117;p16"/>
          <p:cNvSpPr txBox="1"/>
          <p:nvPr/>
        </p:nvSpPr>
        <p:spPr>
          <a:xfrm>
            <a:off x="12131065" y="6823165"/>
            <a:ext cx="5242500" cy="283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100"/>
              <a:buFont typeface="Assistant"/>
              <a:buNone/>
            </a:pPr>
            <a:r>
              <a:rPr b="1" i="0" lang="en-US" sz="21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The geography gap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100"/>
              <a:buFont typeface="Assistant"/>
              <a:buNone/>
            </a:pPr>
            <a:r>
              <a:rPr b="1" i="0" lang="en-US" sz="21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Most evidence comes from Europe, China and North America. India has every climate from desert to very wet.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914400" y="512064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1800"/>
              <a:buFont typeface="Assistant"/>
              <a:buNone/>
            </a:pPr>
            <a:r>
              <a:rPr b="1" i="0" lang="en-US" spc="200" sz="18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PROBLEM</a:t>
            </a:r>
            <a:endParaRPr b="0" i="0" sz="1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24" name="Google Shape;124;p17"/>
          <p:cNvSpPr txBox="1"/>
          <p:nvPr/>
        </p:nvSpPr>
        <p:spPr>
          <a:xfrm>
            <a:off x="914400" y="100584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ssistant"/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matic SC"/>
                <a:ea typeface="Amatic SC"/>
                <a:cs typeface="Amatic SC"/>
                <a:sym typeface="Amatic SC"/>
              </a:rPr>
              <a:t>Five hypotheses we test</a:t>
            </a:r>
            <a:endParaRPr b="1" i="0" sz="4400" u="none" cap="none" strike="noStrike">
              <a:solidFill>
                <a:srgbClr val="000000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sp>
        <p:nvSpPr>
          <p:cNvPr id="125" name="Google Shape;125;p17"/>
          <p:cNvSpPr/>
          <p:nvPr/>
        </p:nvSpPr>
        <p:spPr>
          <a:xfrm>
            <a:off x="914400" y="2651760"/>
            <a:ext cx="768096" cy="768096"/>
          </a:xfrm>
          <a:prstGeom prst="ellipse">
            <a:avLst/>
          </a:prstGeom>
          <a:solidFill>
            <a:srgbClr val="1F4D3A"/>
          </a:solidFill>
          <a:ln cap="flat" cmpd="sng" w="1270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26" name="Google Shape;126;p17"/>
          <p:cNvSpPr txBox="1"/>
          <p:nvPr/>
        </p:nvSpPr>
        <p:spPr>
          <a:xfrm>
            <a:off x="914400" y="2651760"/>
            <a:ext cx="768096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ssistant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H1</a:t>
            </a:r>
            <a:endParaRPr b="0" i="0" sz="2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27" name="Google Shape;127;p17"/>
          <p:cNvSpPr txBox="1"/>
          <p:nvPr/>
        </p:nvSpPr>
        <p:spPr>
          <a:xfrm>
            <a:off x="2011680" y="2542032"/>
            <a:ext cx="153619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ssistant"/>
              <a:buNone/>
            </a:pPr>
            <a:r>
              <a:rPr b="0" i="0" lang="en-US" sz="2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Greener squares are cooler by day in most cities.</a:t>
            </a:r>
            <a:endParaRPr b="0" i="0" sz="2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28" name="Google Shape;128;p17"/>
          <p:cNvSpPr/>
          <p:nvPr/>
        </p:nvSpPr>
        <p:spPr>
          <a:xfrm>
            <a:off x="914400" y="3858768"/>
            <a:ext cx="768096" cy="768096"/>
          </a:xfrm>
          <a:prstGeom prst="ellipse">
            <a:avLst/>
          </a:prstGeom>
          <a:solidFill>
            <a:srgbClr val="1F4D3A"/>
          </a:solidFill>
          <a:ln cap="flat" cmpd="sng" w="1270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29" name="Google Shape;129;p17"/>
          <p:cNvSpPr txBox="1"/>
          <p:nvPr/>
        </p:nvSpPr>
        <p:spPr>
          <a:xfrm>
            <a:off x="914400" y="3858768"/>
            <a:ext cx="768096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ssistant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H2</a:t>
            </a:r>
            <a:endParaRPr b="0" i="0" sz="2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30" name="Google Shape;130;p17"/>
          <p:cNvSpPr txBox="1"/>
          <p:nvPr/>
        </p:nvSpPr>
        <p:spPr>
          <a:xfrm>
            <a:off x="2011680" y="3749040"/>
            <a:ext cx="153619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ssistant"/>
              <a:buNone/>
            </a:pPr>
            <a:r>
              <a:rPr b="0" i="0" lang="en-US" sz="2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The cooling slope changes with background moisture. We test which way.</a:t>
            </a:r>
            <a:endParaRPr b="0" i="0" sz="2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31" name="Google Shape;131;p17"/>
          <p:cNvSpPr/>
          <p:nvPr/>
        </p:nvSpPr>
        <p:spPr>
          <a:xfrm>
            <a:off x="914400" y="5065776"/>
            <a:ext cx="768096" cy="768096"/>
          </a:xfrm>
          <a:prstGeom prst="ellipse">
            <a:avLst/>
          </a:prstGeom>
          <a:solidFill>
            <a:srgbClr val="1F4D3A"/>
          </a:solidFill>
          <a:ln cap="flat" cmpd="sng" w="1270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32" name="Google Shape;132;p17"/>
          <p:cNvSpPr txBox="1"/>
          <p:nvPr/>
        </p:nvSpPr>
        <p:spPr>
          <a:xfrm>
            <a:off x="914400" y="5065776"/>
            <a:ext cx="768096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ssistant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H3</a:t>
            </a:r>
            <a:endParaRPr b="0" i="0" sz="2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33" name="Google Shape;133;p17"/>
          <p:cNvSpPr txBox="1"/>
          <p:nvPr/>
        </p:nvSpPr>
        <p:spPr>
          <a:xfrm>
            <a:off x="2011680" y="4956048"/>
            <a:ext cx="153619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ssistant"/>
              <a:buNone/>
            </a:pPr>
            <a:r>
              <a:rPr b="0" i="0" lang="en-US" sz="2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Night cooling is weaker, and may reverse in dry cities.</a:t>
            </a:r>
            <a:endParaRPr b="0" i="0" sz="2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34" name="Google Shape;134;p17"/>
          <p:cNvSpPr/>
          <p:nvPr/>
        </p:nvSpPr>
        <p:spPr>
          <a:xfrm>
            <a:off x="914400" y="6272784"/>
            <a:ext cx="768096" cy="768096"/>
          </a:xfrm>
          <a:prstGeom prst="ellipse">
            <a:avLst/>
          </a:prstGeom>
          <a:solidFill>
            <a:srgbClr val="1F4D3A"/>
          </a:solidFill>
          <a:ln cap="flat" cmpd="sng" w="1270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35" name="Google Shape;135;p17"/>
          <p:cNvSpPr txBox="1"/>
          <p:nvPr/>
        </p:nvSpPr>
        <p:spPr>
          <a:xfrm>
            <a:off x="914400" y="6272784"/>
            <a:ext cx="768096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ssistant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H4</a:t>
            </a:r>
            <a:endParaRPr b="0" i="0" sz="2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36" name="Google Shape;136;p17"/>
          <p:cNvSpPr txBox="1"/>
          <p:nvPr/>
        </p:nvSpPr>
        <p:spPr>
          <a:xfrm>
            <a:off x="2011680" y="6163056"/>
            <a:ext cx="153619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ssistant"/>
              <a:buNone/>
            </a:pPr>
            <a:r>
              <a:rPr b="0" i="0" lang="en-US" sz="2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The same city cools differently before and after the monsoon.</a:t>
            </a:r>
            <a:endParaRPr b="0" i="0" sz="2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37" name="Google Shape;137;p17"/>
          <p:cNvSpPr/>
          <p:nvPr/>
        </p:nvSpPr>
        <p:spPr>
          <a:xfrm>
            <a:off x="914400" y="7479792"/>
            <a:ext cx="768096" cy="768096"/>
          </a:xfrm>
          <a:prstGeom prst="ellipse">
            <a:avLst/>
          </a:prstGeom>
          <a:solidFill>
            <a:srgbClr val="1F4D3A"/>
          </a:solidFill>
          <a:ln cap="flat" cmpd="sng" w="1270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38" name="Google Shape;138;p17"/>
          <p:cNvSpPr txBox="1"/>
          <p:nvPr/>
        </p:nvSpPr>
        <p:spPr>
          <a:xfrm>
            <a:off x="914400" y="7479792"/>
            <a:ext cx="768096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ssistant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H5</a:t>
            </a:r>
            <a:endParaRPr b="0" i="0" sz="2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39" name="Google Shape;139;p17"/>
          <p:cNvSpPr txBox="1"/>
          <p:nvPr/>
        </p:nvSpPr>
        <p:spPr>
          <a:xfrm>
            <a:off x="2011680" y="7370064"/>
            <a:ext cx="153619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ssistant"/>
              <a:buNone/>
            </a:pPr>
            <a:r>
              <a:rPr b="0" i="0" lang="en-US" sz="2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Crowded squares are less green and hotter, so people feel more heat than the city average suggests.</a:t>
            </a:r>
            <a:endParaRPr b="0" i="0" sz="2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40" name="Google Shape;140;p17"/>
          <p:cNvSpPr txBox="1"/>
          <p:nvPr/>
        </p:nvSpPr>
        <p:spPr>
          <a:xfrm>
            <a:off x="2011680" y="8869680"/>
            <a:ext cx="15179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ssistant"/>
              <a:buNone/>
            </a:pPr>
            <a:r>
              <a:rPr lang="en-US" sz="2000" i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After the mid-sem: H6, turning surface cooling into the heat people actually feel (Heat Index).</a:t>
            </a:r>
            <a:endParaRPr b="0" sz="2000" u="none" cap="none" strike="noStrike" i="0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8"/>
          <p:cNvSpPr txBox="1"/>
          <p:nvPr/>
        </p:nvSpPr>
        <p:spPr>
          <a:xfrm>
            <a:off x="914400" y="512064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1800"/>
              <a:buFont typeface="Assistant"/>
              <a:buNone/>
            </a:pPr>
            <a:r>
              <a:rPr b="1" i="0" lang="en-US" spc="200" sz="18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DATA</a:t>
            </a:r>
            <a:endParaRPr b="0" i="0" sz="1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47" name="Google Shape;147;p18"/>
          <p:cNvSpPr txBox="1"/>
          <p:nvPr/>
        </p:nvSpPr>
        <p:spPr>
          <a:xfrm>
            <a:off x="914400" y="1214865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ssistant"/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matic SC"/>
                <a:ea typeface="Amatic SC"/>
                <a:cs typeface="Amatic SC"/>
                <a:sym typeface="Amatic SC"/>
              </a:rPr>
              <a:t>Six Google Earth Engine datasets plus OpenStreetMap</a:t>
            </a:r>
            <a:endParaRPr b="1" i="0" sz="4400" u="none" cap="none" strike="noStrike">
              <a:solidFill>
                <a:srgbClr val="000000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graphicFrame>
        <p:nvGraphicFramePr>
          <p:cNvPr id="148" name="Google Shape;148;p18"/>
          <p:cNvGraphicFramePr/>
          <p:nvPr/>
        </p:nvGraphicFramePr>
        <p:xfrm>
          <a:off x="914375" y="31742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{36E1D27E-B214-48A2-AC49-08C011D284FE}</a:tableStyleId>
              </a:tblPr>
              <a:tblGrid>
                <a:gridCol w="4754900"/>
                <a:gridCol w="4206250"/>
                <a:gridCol w="7498100"/>
              </a:tblGrid>
              <a:tr h="292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300"/>
                        <a:buFont typeface="Assistant"/>
                        <a:buNone/>
                      </a:pPr>
                      <a:r>
                        <a:rPr b="1" lang="en-US" sz="2300" u="none" cap="none" strike="noStrike" i="0">
                          <a:solidFill>
                            <a:srgbClr val="FFFFFF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Dataset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300"/>
                        <a:buFont typeface="Assistant"/>
                        <a:buNone/>
                      </a:pPr>
                      <a:r>
                        <a:rPr b="1" lang="en-US" sz="2300" u="none" cap="none" strike="noStrike" i="0">
                          <a:solidFill>
                            <a:srgbClr val="FFFFFF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Resolution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300"/>
                        <a:buFont typeface="Assistant"/>
                        <a:buNone/>
                      </a:pPr>
                      <a:r>
                        <a:rPr b="1" lang="en-US" sz="2300" u="none" cap="none" strike="noStrike" i="0">
                          <a:solidFill>
                            <a:srgbClr val="FFFFFF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Used for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4D3A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MODIS LST (Aqua, MYD11A2)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1 km, every 8 days, 1:30 pm and 1:30 am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Day and night surface temperature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MODIS vegetation (MOD13A1)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500 m, averaged to 1 km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Greenness: NDVI (main) and EVI (check)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ERA5-Land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~9 km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City climate: rainfall, temperature, humidity, soil moisture and Heat Index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GHSL built-up (2020)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100 m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Built-up share (a control and the urban filter)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WorldPop (2020)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100 m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People per square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OpenStreetMap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Vector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Water share per square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SRTM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30 m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Elevation (a control)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9"/>
          <p:cNvSpPr txBox="1"/>
          <p:nvPr/>
        </p:nvSpPr>
        <p:spPr>
          <a:xfrm>
            <a:off x="914400" y="512064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1800"/>
              <a:buFont typeface="Assistant"/>
              <a:buNone/>
            </a:pPr>
            <a:r>
              <a:rPr b="1" i="0" lang="en-US" spc="200" sz="18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DATA</a:t>
            </a:r>
            <a:endParaRPr b="0" i="0" sz="1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55" name="Google Shape;155;p19"/>
          <p:cNvSpPr txBox="1"/>
          <p:nvPr/>
        </p:nvSpPr>
        <p:spPr>
          <a:xfrm>
            <a:off x="914400" y="100584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ssistant"/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matic SC"/>
                <a:ea typeface="Amatic SC"/>
                <a:cs typeface="Amatic SC"/>
                <a:sym typeface="Amatic SC"/>
              </a:rPr>
              <a:t>303 Indian cities across the full range of rainfall, in three seasons</a:t>
            </a:r>
            <a:endParaRPr b="1" i="0" sz="4400" u="none" cap="none" strike="noStrike">
              <a:solidFill>
                <a:srgbClr val="000000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pic>
        <p:nvPicPr>
          <p:cNvPr descr="B_city_map.png" id="156" name="Google Shape;15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6722" y="2172780"/>
            <a:ext cx="711701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9"/>
          <p:cNvSpPr txBox="1"/>
          <p:nvPr/>
        </p:nvSpPr>
        <p:spPr>
          <a:xfrm>
            <a:off x="9074325" y="2309885"/>
            <a:ext cx="8229600" cy="6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4064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ssistant"/>
              <a:buChar char="●"/>
            </a:pPr>
            <a:r>
              <a:rPr b="1" i="0" lang="en-US" sz="22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Cities</a:t>
            </a:r>
            <a:endParaRPr b="1" sz="22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40640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ssistant"/>
              <a:buChar char="○"/>
            </a:pPr>
            <a:r>
              <a:rPr lang="en-US" sz="2200" i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Every Indian urban centre with more than 3 lakh people (GHS Urban Centre Database).</a:t>
            </a:r>
            <a:endParaRPr sz="22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4064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ssistant"/>
              <a:buChar char="●"/>
            </a:pPr>
            <a:r>
              <a:rPr b="1" i="0" lang="en-US" sz="22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Rainfall</a:t>
            </a:r>
            <a:endParaRPr b="1" sz="22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40640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ssistant"/>
              <a:buChar char="○"/>
            </a:pPr>
            <a:r>
              <a:rPr lang="en-US" sz="2200" i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From 262 mm a year (Bikaner) to 3,792 mm (Darjeeling). Jodhpur gets 411 mm and Kochi 3,131 mm.</a:t>
            </a:r>
            <a:endParaRPr sz="22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4064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ssistant"/>
              <a:buChar char="●"/>
            </a:pPr>
            <a:r>
              <a:rPr b="1" i="0" lang="en-US" sz="22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Seasons</a:t>
            </a:r>
            <a:endParaRPr b="1" sz="22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40640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ssistant"/>
              <a:buChar char="○"/>
            </a:pPr>
            <a:r>
              <a:rPr lang="en-US" sz="2200" i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Pre-monsoon (April-May), post-monsoon (October-November) and winter (December-February), each averaged over 2019-2024.</a:t>
            </a:r>
            <a:endParaRPr sz="22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4064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ssistant"/>
              <a:buChar char="●"/>
            </a:pPr>
            <a:r>
              <a:rPr b="1" i="0" lang="en-US" sz="22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The seasons really differ</a:t>
            </a:r>
            <a:endParaRPr b="1" sz="22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40640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ssistant"/>
              <a:buChar char="○"/>
            </a:pPr>
            <a:r>
              <a:rPr lang="en-US" sz="2200" i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The median square is 39.7 °C by day before the monsoon, 31.2 °C after it and 27.9 °C in winter.</a:t>
            </a:r>
            <a:endParaRPr sz="22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0"/>
          <p:cNvSpPr txBox="1"/>
          <p:nvPr/>
        </p:nvSpPr>
        <p:spPr>
          <a:xfrm>
            <a:off x="914400" y="512064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1800"/>
              <a:buFont typeface="Assistant"/>
              <a:buNone/>
            </a:pPr>
            <a:r>
              <a:rPr b="1" i="0" lang="en-US" spc="200" sz="18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DATA</a:t>
            </a:r>
            <a:endParaRPr b="0" i="0" sz="1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64" name="Google Shape;164;p20"/>
          <p:cNvSpPr txBox="1"/>
          <p:nvPr/>
        </p:nvSpPr>
        <p:spPr>
          <a:xfrm>
            <a:off x="914400" y="100584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ssistant"/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matic SC"/>
                <a:ea typeface="Amatic SC"/>
                <a:cs typeface="Amatic SC"/>
                <a:sym typeface="Amatic SC"/>
              </a:rPr>
              <a:t>We leave out the monsoon because clouds block most satellite images</a:t>
            </a:r>
            <a:endParaRPr b="1" i="0" sz="4400" u="none" cap="none" strike="noStrike">
              <a:solidFill>
                <a:srgbClr val="000000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sp>
        <p:nvSpPr>
          <p:cNvPr id="165" name="Google Shape;165;p20"/>
          <p:cNvSpPr txBox="1"/>
          <p:nvPr/>
        </p:nvSpPr>
        <p:spPr>
          <a:xfrm>
            <a:off x="914400" y="237744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5200"/>
              <a:buFont typeface="Assistant"/>
              <a:buNone/>
            </a:pPr>
            <a:r>
              <a:rPr b="1" i="0" lang="en-US" sz="45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85% → 25%</a:t>
            </a:r>
            <a:endParaRPr b="1" i="0" sz="4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66" name="Google Shape;166;p20"/>
          <p:cNvSpPr txBox="1"/>
          <p:nvPr/>
        </p:nvSpPr>
        <p:spPr>
          <a:xfrm>
            <a:off x="914400" y="3419856"/>
            <a:ext cx="47548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usable daytime images in Mumbai, April-May vs June-September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67" name="Google Shape;167;p20"/>
          <p:cNvSpPr txBox="1"/>
          <p:nvPr/>
        </p:nvSpPr>
        <p:spPr>
          <a:xfrm>
            <a:off x="6217920" y="237744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5200"/>
              <a:buFont typeface="Assistant"/>
              <a:buNone/>
            </a:pPr>
            <a:r>
              <a:rPr b="1" i="0" lang="en-US" sz="45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19%</a:t>
            </a:r>
            <a:endParaRPr b="1" i="0" sz="4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68" name="Google Shape;168;p20"/>
          <p:cNvSpPr txBox="1"/>
          <p:nvPr/>
        </p:nvSpPr>
        <p:spPr>
          <a:xfrm>
            <a:off x="6217920" y="3419856"/>
            <a:ext cx="47548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usable in Kolkata in June-September, the lowest of the six cities checked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69" name="Google Shape;169;p20"/>
          <p:cNvSpPr txBox="1"/>
          <p:nvPr/>
        </p:nvSpPr>
        <p:spPr>
          <a:xfrm>
            <a:off x="11521440" y="2651760"/>
            <a:ext cx="58521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ssistant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Kumar et al. (2017) also left out June-September because of cloud.</a:t>
            </a:r>
            <a:endParaRPr b="0" i="0" sz="24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pic>
        <p:nvPicPr>
          <p:cNvPr descr="M_lst_availability.png" id="170" name="Google Shape;17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53578" y="4754880"/>
            <a:ext cx="11980844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1"/>
          <p:cNvSpPr txBox="1"/>
          <p:nvPr/>
        </p:nvSpPr>
        <p:spPr>
          <a:xfrm>
            <a:off x="914400" y="512064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1800"/>
              <a:buFont typeface="Assistant"/>
              <a:buNone/>
            </a:pPr>
            <a:r>
              <a:rPr b="1" i="0" lang="en-US" spc="200" sz="18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METHOD</a:t>
            </a:r>
            <a:endParaRPr b="0" i="0" sz="1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77" name="Google Shape;177;p21"/>
          <p:cNvSpPr txBox="1"/>
          <p:nvPr/>
        </p:nvSpPr>
        <p:spPr>
          <a:xfrm>
            <a:off x="914400" y="100584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ssistant"/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matic SC"/>
                <a:ea typeface="Amatic SC"/>
                <a:cs typeface="Amatic SC"/>
                <a:sym typeface="Amatic SC"/>
              </a:rPr>
              <a:t>Each city becomes a grid of 1 km squares</a:t>
            </a:r>
            <a:endParaRPr b="1" i="0" sz="4400" u="none" cap="none" strike="noStrike">
              <a:solidFill>
                <a:srgbClr val="000000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sp>
        <p:nvSpPr>
          <p:cNvPr id="178" name="Google Shape;178;p21"/>
          <p:cNvSpPr/>
          <p:nvPr/>
        </p:nvSpPr>
        <p:spPr>
          <a:xfrm>
            <a:off x="914400" y="2834640"/>
            <a:ext cx="3566160" cy="3200400"/>
          </a:xfrm>
          <a:prstGeom prst="roundRect">
            <a:avLst>
              <a:gd fmla="val 4571" name="adj"/>
            </a:avLst>
          </a:prstGeom>
          <a:solidFill>
            <a:srgbClr val="FFFFFF"/>
          </a:solidFill>
          <a:ln cap="flat" cmpd="sng" w="1905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79" name="Google Shape;179;p21"/>
          <p:cNvSpPr/>
          <p:nvPr/>
        </p:nvSpPr>
        <p:spPr>
          <a:xfrm>
            <a:off x="1188720" y="3108960"/>
            <a:ext cx="768096" cy="768096"/>
          </a:xfrm>
          <a:prstGeom prst="ellipse">
            <a:avLst/>
          </a:prstGeom>
          <a:solidFill>
            <a:srgbClr val="1F4D3A"/>
          </a:solidFill>
          <a:ln cap="flat" cmpd="sng" w="1270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80" name="Google Shape;180;p21"/>
          <p:cNvSpPr txBox="1"/>
          <p:nvPr/>
        </p:nvSpPr>
        <p:spPr>
          <a:xfrm>
            <a:off x="1188720" y="3108960"/>
            <a:ext cx="768096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ssistant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1</a:t>
            </a:r>
            <a:endParaRPr b="0" i="0" sz="2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81" name="Google Shape;181;p21"/>
          <p:cNvSpPr txBox="1"/>
          <p:nvPr/>
        </p:nvSpPr>
        <p:spPr>
          <a:xfrm>
            <a:off x="1188720" y="4023360"/>
            <a:ext cx="30175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600"/>
              <a:buFont typeface="Assistant"/>
              <a:buNone/>
            </a:pPr>
            <a:r>
              <a:rPr b="1" i="0" lang="en-US" sz="21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1 km MODIS grid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600"/>
              <a:buFont typeface="Assistant"/>
              <a:buNone/>
            </a:pPr>
            <a:r>
              <a:rPr b="1" i="0" lang="en-US" sz="21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Every 1 km square inside the city outline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82" name="Google Shape;182;p21"/>
          <p:cNvSpPr/>
          <p:nvPr/>
        </p:nvSpPr>
        <p:spPr>
          <a:xfrm>
            <a:off x="4553712" y="4169664"/>
            <a:ext cx="493776" cy="51206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F4D3A"/>
          </a:solidFill>
          <a:ln cap="flat" cmpd="sng" w="1270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83" name="Google Shape;183;p21"/>
          <p:cNvSpPr/>
          <p:nvPr/>
        </p:nvSpPr>
        <p:spPr>
          <a:xfrm>
            <a:off x="5120640" y="2834640"/>
            <a:ext cx="3566160" cy="3200400"/>
          </a:xfrm>
          <a:prstGeom prst="roundRect">
            <a:avLst>
              <a:gd fmla="val 4571" name="adj"/>
            </a:avLst>
          </a:prstGeom>
          <a:solidFill>
            <a:srgbClr val="FFFFFF"/>
          </a:solidFill>
          <a:ln cap="flat" cmpd="sng" w="1905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84" name="Google Shape;184;p21"/>
          <p:cNvSpPr/>
          <p:nvPr/>
        </p:nvSpPr>
        <p:spPr>
          <a:xfrm>
            <a:off x="5394960" y="3108960"/>
            <a:ext cx="768096" cy="768096"/>
          </a:xfrm>
          <a:prstGeom prst="ellipse">
            <a:avLst/>
          </a:prstGeom>
          <a:solidFill>
            <a:srgbClr val="1F4D3A"/>
          </a:solidFill>
          <a:ln cap="flat" cmpd="sng" w="1270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85" name="Google Shape;185;p21"/>
          <p:cNvSpPr txBox="1"/>
          <p:nvPr/>
        </p:nvSpPr>
        <p:spPr>
          <a:xfrm>
            <a:off x="5394960" y="3108960"/>
            <a:ext cx="768096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ssistant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2</a:t>
            </a:r>
            <a:endParaRPr b="0" i="0" sz="2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86" name="Google Shape;186;p21"/>
          <p:cNvSpPr txBox="1"/>
          <p:nvPr/>
        </p:nvSpPr>
        <p:spPr>
          <a:xfrm>
            <a:off x="5394960" y="4023360"/>
            <a:ext cx="30175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600"/>
              <a:buFont typeface="Assistant"/>
              <a:buNone/>
            </a:pPr>
            <a:r>
              <a:rPr b="1" i="0" lang="en-US" sz="21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Quality filter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600"/>
              <a:buFont typeface="Assistant"/>
              <a:buNone/>
            </a:pPr>
            <a:r>
              <a:rPr b="1" i="0" lang="en-US" sz="21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Keep only reliable readings. Squares with no reading are open water.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87" name="Google Shape;187;p21"/>
          <p:cNvSpPr/>
          <p:nvPr/>
        </p:nvSpPr>
        <p:spPr>
          <a:xfrm>
            <a:off x="8759952" y="4169664"/>
            <a:ext cx="493776" cy="51206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F4D3A"/>
          </a:solidFill>
          <a:ln cap="flat" cmpd="sng" w="1270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88" name="Google Shape;188;p21"/>
          <p:cNvSpPr/>
          <p:nvPr/>
        </p:nvSpPr>
        <p:spPr>
          <a:xfrm>
            <a:off x="9326880" y="2834640"/>
            <a:ext cx="3566160" cy="3200400"/>
          </a:xfrm>
          <a:prstGeom prst="roundRect">
            <a:avLst>
              <a:gd fmla="val 4571" name="adj"/>
            </a:avLst>
          </a:prstGeom>
          <a:solidFill>
            <a:srgbClr val="FFFFFF"/>
          </a:solidFill>
          <a:ln cap="flat" cmpd="sng" w="1905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89" name="Google Shape;189;p21"/>
          <p:cNvSpPr/>
          <p:nvPr/>
        </p:nvSpPr>
        <p:spPr>
          <a:xfrm>
            <a:off x="9601200" y="3108960"/>
            <a:ext cx="768096" cy="768096"/>
          </a:xfrm>
          <a:prstGeom prst="ellipse">
            <a:avLst/>
          </a:prstGeom>
          <a:solidFill>
            <a:srgbClr val="1F4D3A"/>
          </a:solidFill>
          <a:ln cap="flat" cmpd="sng" w="1270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90" name="Google Shape;190;p21"/>
          <p:cNvSpPr txBox="1"/>
          <p:nvPr/>
        </p:nvSpPr>
        <p:spPr>
          <a:xfrm>
            <a:off x="9601200" y="3108960"/>
            <a:ext cx="768096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ssistant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3</a:t>
            </a:r>
            <a:endParaRPr b="0" i="0" sz="2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91" name="Google Shape;191;p21"/>
          <p:cNvSpPr txBox="1"/>
          <p:nvPr/>
        </p:nvSpPr>
        <p:spPr>
          <a:xfrm>
            <a:off x="9601200" y="4023360"/>
            <a:ext cx="30175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600"/>
              <a:buFont typeface="Assistant"/>
              <a:buNone/>
            </a:pPr>
            <a:r>
              <a:rPr b="1" i="0" lang="en-US" sz="21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Seasonal means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600"/>
              <a:buFont typeface="Assistant"/>
              <a:buNone/>
            </a:pPr>
            <a:r>
              <a:rPr b="1" i="0" lang="en-US" sz="21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Day and night temperature, greenness, built-up share, people, elevation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92" name="Google Shape;192;p21"/>
          <p:cNvSpPr/>
          <p:nvPr/>
        </p:nvSpPr>
        <p:spPr>
          <a:xfrm>
            <a:off x="12966192" y="4169664"/>
            <a:ext cx="493776" cy="51206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F4D3A"/>
          </a:solidFill>
          <a:ln cap="flat" cmpd="sng" w="1270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93" name="Google Shape;193;p21"/>
          <p:cNvSpPr/>
          <p:nvPr/>
        </p:nvSpPr>
        <p:spPr>
          <a:xfrm>
            <a:off x="13533120" y="2834640"/>
            <a:ext cx="3566160" cy="3200400"/>
          </a:xfrm>
          <a:prstGeom prst="roundRect">
            <a:avLst>
              <a:gd fmla="val 4571" name="adj"/>
            </a:avLst>
          </a:prstGeom>
          <a:solidFill>
            <a:srgbClr val="FFFFFF"/>
          </a:solidFill>
          <a:ln cap="flat" cmpd="sng" w="1905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94" name="Google Shape;194;p21"/>
          <p:cNvSpPr/>
          <p:nvPr/>
        </p:nvSpPr>
        <p:spPr>
          <a:xfrm>
            <a:off x="13807440" y="3108960"/>
            <a:ext cx="768096" cy="768096"/>
          </a:xfrm>
          <a:prstGeom prst="ellipse">
            <a:avLst/>
          </a:prstGeom>
          <a:solidFill>
            <a:srgbClr val="1F4D3A"/>
          </a:solidFill>
          <a:ln cap="flat" cmpd="sng" w="1270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95" name="Google Shape;195;p21"/>
          <p:cNvSpPr txBox="1"/>
          <p:nvPr/>
        </p:nvSpPr>
        <p:spPr>
          <a:xfrm>
            <a:off x="13807440" y="3108960"/>
            <a:ext cx="768096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ssistant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4</a:t>
            </a:r>
            <a:endParaRPr b="0" i="0" sz="2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96" name="Google Shape;196;p21"/>
          <p:cNvSpPr txBox="1"/>
          <p:nvPr/>
        </p:nvSpPr>
        <p:spPr>
          <a:xfrm>
            <a:off x="13807440" y="4023360"/>
            <a:ext cx="30175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600"/>
              <a:buFont typeface="Assistant"/>
              <a:buNone/>
            </a:pPr>
            <a:r>
              <a:rPr b="1" i="0" lang="en-US" sz="21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Urban squares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600"/>
              <a:buFont typeface="Assistant"/>
              <a:buNone/>
            </a:pPr>
            <a:r>
              <a:rPr b="1" i="0" lang="en-US" sz="21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Keep squares that are at least 10% built-up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97" name="Google Shape;197;p21"/>
          <p:cNvSpPr txBox="1"/>
          <p:nvPr/>
        </p:nvSpPr>
        <p:spPr>
          <a:xfrm>
            <a:off x="914400" y="658368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4800"/>
              <a:buFont typeface="Assistant"/>
              <a:buNone/>
            </a:pPr>
            <a:r>
              <a:rPr b="1" i="0" lang="en-US" sz="42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202 of 303</a:t>
            </a:r>
            <a:endParaRPr b="1" i="0" sz="4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98" name="Google Shape;198;p21"/>
          <p:cNvSpPr txBox="1"/>
          <p:nvPr/>
        </p:nvSpPr>
        <p:spPr>
          <a:xfrm>
            <a:off x="914400" y="7626096"/>
            <a:ext cx="47548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cities have at least 30 urban squares, the minimum for a reliable estimate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99" name="Google Shape;199;p21"/>
          <p:cNvSpPr txBox="1"/>
          <p:nvPr/>
        </p:nvSpPr>
        <p:spPr>
          <a:xfrm>
            <a:off x="6583680" y="7077460"/>
            <a:ext cx="10789800" cy="21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ssistant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Checks: </a:t>
            </a:r>
            <a:r>
              <a:rPr b="0" i="0" lang="en-US" sz="24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the pipeline reproduces the pilot exactly (Jodhpur 254 squares, Kochi 1,238), population matches WorldPop within 0.02%, and every value in all 303 cities passed range checks.</a:t>
            </a:r>
            <a:endParaRPr b="0" i="0" sz="24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2"/>
          <p:cNvSpPr txBox="1"/>
          <p:nvPr/>
        </p:nvSpPr>
        <p:spPr>
          <a:xfrm>
            <a:off x="914400" y="512064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1800"/>
              <a:buFont typeface="Assistant"/>
              <a:buNone/>
            </a:pPr>
            <a:r>
              <a:rPr b="1" i="0" lang="en-US" spc="200" sz="18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METHOD</a:t>
            </a:r>
            <a:endParaRPr b="0" i="0" sz="1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06" name="Google Shape;206;p22"/>
          <p:cNvSpPr txBox="1"/>
          <p:nvPr/>
        </p:nvSpPr>
        <p:spPr>
          <a:xfrm>
            <a:off x="914400" y="100584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ssistant"/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matic SC"/>
                <a:ea typeface="Amatic SC"/>
                <a:cs typeface="Amatic SC"/>
                <a:sym typeface="Amatic SC"/>
              </a:rPr>
              <a:t>The cooling slope: how much cooler greener squares are, all else equal</a:t>
            </a:r>
            <a:endParaRPr b="1" i="0" sz="4400" u="none" cap="none" strike="noStrike">
              <a:solidFill>
                <a:srgbClr val="000000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sp>
        <p:nvSpPr>
          <p:cNvPr id="207" name="Google Shape;207;p22"/>
          <p:cNvSpPr/>
          <p:nvPr/>
        </p:nvSpPr>
        <p:spPr>
          <a:xfrm>
            <a:off x="914400" y="2560320"/>
            <a:ext cx="16459200" cy="1133856"/>
          </a:xfrm>
          <a:prstGeom prst="roundRect">
            <a:avLst>
              <a:gd fmla="val 12903" name="adj"/>
            </a:avLst>
          </a:prstGeom>
          <a:solidFill>
            <a:srgbClr val="1F4D3A"/>
          </a:solidFill>
          <a:ln cap="flat" cmpd="sng" w="1270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08" name="Google Shape;208;p22"/>
          <p:cNvSpPr txBox="1"/>
          <p:nvPr/>
        </p:nvSpPr>
        <p:spPr>
          <a:xfrm>
            <a:off x="1280160" y="2560320"/>
            <a:ext cx="15727680" cy="1133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Assistant"/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LST = b0 + b1·NDVI + b2·built-up + b3·elevation + b4·water</a:t>
            </a:r>
            <a:endParaRPr b="0" i="0" sz="2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Assistant"/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Cooling slope = b1 ÷ 10, in °C per 0.1 NDVI</a:t>
            </a:r>
            <a:endParaRPr b="0" i="0" sz="2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pic>
        <p:nvPicPr>
          <p:cNvPr descr="A_pilot_raw_vs_adjusted.png" id="209" name="Google Shape;209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4023360"/>
            <a:ext cx="10972800" cy="4665172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2"/>
          <p:cNvSpPr txBox="1"/>
          <p:nvPr/>
        </p:nvSpPr>
        <p:spPr>
          <a:xfrm>
            <a:off x="12344400" y="4023360"/>
            <a:ext cx="5029200" cy="5303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4925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2300"/>
              <a:buFont typeface="Assistant"/>
              <a:buChar char="•"/>
            </a:pPr>
            <a:r>
              <a:rPr b="1" i="0" lang="en-US" sz="21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A negative slope means greener squares are cooler.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4925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2300"/>
              <a:buFont typeface="Assistant"/>
              <a:buChar char="•"/>
            </a:pPr>
            <a:r>
              <a:rPr b="1" i="0" lang="en-US" sz="21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Why controls: </a:t>
            </a:r>
            <a:r>
              <a:rPr b="0" i="0" lang="en-US" sz="21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in Jodhpur the raw slope is -0.59 and not significant. Holding built-up share fixed gives -1.32, because the bare desert outskirts are hotter than the city.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4925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2300"/>
              <a:buFont typeface="Assistant"/>
              <a:buChar char="•"/>
            </a:pPr>
            <a:r>
              <a:rPr b="1" i="0" lang="en-US" sz="21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Why clustered ranges: </a:t>
            </a:r>
            <a:r>
              <a:rPr b="0" i="0" lang="en-US" sz="21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neighbouring squares are alike, so each ~5 km block counts as one unit.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4925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2300"/>
              <a:buFont typeface="Assistant"/>
              <a:buChar char="•"/>
            </a:pPr>
            <a:r>
              <a:rPr b="1" i="0" lang="en-US" sz="21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One fit </a:t>
            </a:r>
            <a:r>
              <a:rPr b="0" i="0" lang="en-US" sz="21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for each city, season and time of day, so the city's climate is held fixed.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3"/>
          <p:cNvSpPr txBox="1"/>
          <p:nvPr/>
        </p:nvSpPr>
        <p:spPr>
          <a:xfrm>
            <a:off x="914400" y="512064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1800"/>
              <a:buFont typeface="Assistant"/>
              <a:buNone/>
            </a:pPr>
            <a:r>
              <a:rPr b="1" i="0" lang="en-US" spc="200" sz="18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METHOD</a:t>
            </a:r>
            <a:endParaRPr b="0" i="0" sz="1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17" name="Google Shape;217;p23"/>
          <p:cNvSpPr txBox="1"/>
          <p:nvPr/>
        </p:nvSpPr>
        <p:spPr>
          <a:xfrm>
            <a:off x="914400" y="113384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ssistant"/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matic SC"/>
                <a:ea typeface="Amatic SC"/>
                <a:cs typeface="Amatic SC"/>
                <a:sym typeface="Amatic SC"/>
              </a:rPr>
              <a:t>Climate is one value per city, and exposure is weighted by people</a:t>
            </a:r>
            <a:endParaRPr b="1" i="0" sz="4400" u="none" cap="none" strike="noStrike">
              <a:solidFill>
                <a:srgbClr val="000000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sp>
        <p:nvSpPr>
          <p:cNvPr id="218" name="Google Shape;218;p23"/>
          <p:cNvSpPr/>
          <p:nvPr/>
        </p:nvSpPr>
        <p:spPr>
          <a:xfrm>
            <a:off x="914400" y="2651753"/>
            <a:ext cx="7955400" cy="4698300"/>
          </a:xfrm>
          <a:prstGeom prst="roundRect">
            <a:avLst>
              <a:gd fmla="val 2254" name="adj"/>
            </a:avLst>
          </a:prstGeom>
          <a:solidFill>
            <a:srgbClr val="FFFFFF"/>
          </a:solidFill>
          <a:ln cap="flat" cmpd="sng" w="1905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19" name="Google Shape;219;p23"/>
          <p:cNvSpPr txBox="1"/>
          <p:nvPr/>
        </p:nvSpPr>
        <p:spPr>
          <a:xfrm>
            <a:off x="1243575" y="2907798"/>
            <a:ext cx="7296900" cy="444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700"/>
              <a:buFont typeface="Assistant"/>
              <a:buNone/>
            </a:pPr>
            <a:r>
              <a:rPr b="1" i="0" lang="en-US" sz="27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Background climate (ERA5-Land, ~9 km)</a:t>
            </a:r>
            <a:endParaRPr b="0" i="0" sz="27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700"/>
              <a:buFont typeface="Assistant"/>
              <a:buNone/>
            </a:pPr>
            <a:r>
              <a:rPr b="1" i="0" lang="en-US" sz="27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At 9 km, ERA5 cannot see neighbourhoods, so it describes the climate each city sits in.</a:t>
            </a:r>
            <a:endParaRPr b="0" i="0" sz="27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8100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ssistant"/>
              <a:buAutoNum type="alphaLcPeriod"/>
            </a:pPr>
            <a:r>
              <a:rPr b="0" i="0" lang="en-US" sz="24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Dryness: annual rainfall (main) and soil moisture (second).</a:t>
            </a:r>
            <a:endParaRPr b="0" i="0" sz="2400" u="none" cap="none" strike="noStrike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8100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ssistant"/>
              <a:buAutoNum type="alphaLcPeriod"/>
            </a:pPr>
            <a:r>
              <a:rPr b="0" i="0" lang="en-US" sz="24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Potential evaporation is unreliable in dry areas, so we do not use it.</a:t>
            </a:r>
            <a:endParaRPr b="0" i="0" sz="2400" u="none" cap="none" strike="noStrike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700"/>
              <a:buFont typeface="Assistant"/>
              <a:buNone/>
            </a:pPr>
            <a:r>
              <a:rPr b="1" i="0" lang="en-US" sz="27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Heat Index: computed each day with the NOAA formula, then averaged.</a:t>
            </a:r>
            <a:endParaRPr b="0" i="0" sz="27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20" name="Google Shape;220;p23"/>
          <p:cNvSpPr/>
          <p:nvPr/>
        </p:nvSpPr>
        <p:spPr>
          <a:xfrm>
            <a:off x="9418325" y="5503825"/>
            <a:ext cx="7955400" cy="3640200"/>
          </a:xfrm>
          <a:prstGeom prst="roundRect">
            <a:avLst>
              <a:gd fmla="val 2254" name="adj"/>
            </a:avLst>
          </a:prstGeom>
          <a:solidFill>
            <a:srgbClr val="FFFFFF"/>
          </a:solidFill>
          <a:ln cap="flat" cmpd="sng" w="1905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21" name="Google Shape;221;p23"/>
          <p:cNvSpPr txBox="1"/>
          <p:nvPr/>
        </p:nvSpPr>
        <p:spPr>
          <a:xfrm>
            <a:off x="9747500" y="5747650"/>
            <a:ext cx="7296900" cy="314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700"/>
              <a:buFont typeface="Assistant"/>
              <a:buNone/>
            </a:pPr>
            <a:r>
              <a:rPr b="1" i="0" lang="en-US" sz="27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People-weighting (WorldPop 2020)</a:t>
            </a:r>
            <a:endParaRPr b="0" i="0" sz="27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700"/>
              <a:buFont typeface="Assistant"/>
              <a:buNone/>
            </a:pPr>
            <a:r>
              <a:rPr b="1" i="0" lang="en-US" sz="27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Each square's temperature is weighted by how many people live there.</a:t>
            </a:r>
            <a:endParaRPr b="0" i="0" sz="27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2700"/>
              <a:buFont typeface="Assistant"/>
              <a:buNone/>
            </a:pPr>
            <a:r>
              <a:rPr b="1" i="0" lang="en-US" sz="27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Gap = people-weighted average minus plain average.</a:t>
            </a:r>
            <a:endParaRPr b="0" i="0" sz="27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8100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ssistant"/>
              <a:buAutoNum type="alphaLcPeriod"/>
            </a:pPr>
            <a:r>
              <a:rPr b="0" i="0" lang="en-US" sz="24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A positive gap means people live in hotter-than-average squares.</a:t>
            </a:r>
            <a:endParaRPr b="0" i="0" sz="2400" u="none" cap="none" strike="noStrike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4"/>
          <p:cNvSpPr txBox="1"/>
          <p:nvPr/>
        </p:nvSpPr>
        <p:spPr>
          <a:xfrm>
            <a:off x="914400" y="512064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1800"/>
              <a:buFont typeface="Assistant"/>
              <a:buNone/>
            </a:pPr>
            <a:r>
              <a:rPr b="1" i="0" lang="en-US" spc="200" sz="18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RESULTS</a:t>
            </a:r>
            <a:endParaRPr b="0" i="0" sz="1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28" name="Google Shape;228;p24"/>
          <p:cNvSpPr txBox="1"/>
          <p:nvPr/>
        </p:nvSpPr>
        <p:spPr>
          <a:xfrm>
            <a:off x="914400" y="100584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ssistant"/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matic SC"/>
                <a:ea typeface="Amatic SC"/>
                <a:cs typeface="Amatic SC"/>
                <a:sym typeface="Amatic SC"/>
              </a:rPr>
              <a:t>Pilot: greener squares are cooler by day in a desert city and a wet city</a:t>
            </a:r>
            <a:endParaRPr b="1" i="0" sz="4400" u="none" cap="none" strike="noStrike">
              <a:solidFill>
                <a:srgbClr val="000000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pic>
        <p:nvPicPr>
          <p:cNvPr descr="A_pilot_scatter.png" id="229" name="Google Shape;229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3656" y="2468880"/>
            <a:ext cx="8542608" cy="694944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4"/>
          <p:cNvSpPr txBox="1"/>
          <p:nvPr/>
        </p:nvSpPr>
        <p:spPr>
          <a:xfrm>
            <a:off x="10515600" y="2560320"/>
            <a:ext cx="68580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5200"/>
              <a:buFont typeface="Assistant"/>
              <a:buNone/>
            </a:pPr>
            <a:r>
              <a:rPr b="1" lang="en-US" sz="4500" i="0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-1.32 °C</a:t>
            </a:r>
            <a:endParaRPr b="1" i="0" sz="4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31" name="Google Shape;231;p24"/>
          <p:cNvSpPr txBox="1"/>
          <p:nvPr/>
        </p:nvSpPr>
        <p:spPr>
          <a:xfrm>
            <a:off x="10515600" y="3602736"/>
            <a:ext cx="68580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6195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Char char="●"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Jodhpur (desert), per 0.1 NDVI by day</a:t>
            </a:r>
            <a:endParaRPr sz="21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6195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Char char="●"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95% range: -1.98 to -0.67</a:t>
            </a:r>
            <a:endParaRPr sz="21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32" name="Google Shape;232;p24"/>
          <p:cNvSpPr txBox="1"/>
          <p:nvPr/>
        </p:nvSpPr>
        <p:spPr>
          <a:xfrm>
            <a:off x="10515600" y="4663440"/>
            <a:ext cx="68580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5200"/>
              <a:buFont typeface="Assistant"/>
              <a:buNone/>
            </a:pPr>
            <a:r>
              <a:rPr b="1" lang="en-US" sz="4500" i="0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-1.04 °C</a:t>
            </a:r>
            <a:endParaRPr b="1" i="0" sz="4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33" name="Google Shape;233;p24"/>
          <p:cNvSpPr txBox="1"/>
          <p:nvPr/>
        </p:nvSpPr>
        <p:spPr>
          <a:xfrm>
            <a:off x="10515600" y="5705856"/>
            <a:ext cx="68580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6195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Char char="●"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Kochi (wet), per 0.1 NDVI by day</a:t>
            </a:r>
            <a:endParaRPr sz="21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6195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Char char="●"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95% range: -1.57 to -0.51</a:t>
            </a:r>
            <a:endParaRPr sz="21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34" name="Google Shape;234;p24"/>
          <p:cNvSpPr txBox="1"/>
          <p:nvPr/>
        </p:nvSpPr>
        <p:spPr>
          <a:xfrm>
            <a:off x="10515600" y="6766560"/>
            <a:ext cx="68580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5200"/>
              <a:buFont typeface="Assistant"/>
              <a:buNone/>
            </a:pPr>
            <a:r>
              <a:rPr b="1" i="0" lang="en-US" sz="45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+0.62 °C</a:t>
            </a:r>
            <a:endParaRPr b="1" i="0" sz="4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35" name="Google Shape;235;p24"/>
          <p:cNvSpPr txBox="1"/>
          <p:nvPr/>
        </p:nvSpPr>
        <p:spPr>
          <a:xfrm>
            <a:off x="10515600" y="7808976"/>
            <a:ext cx="68580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6195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Char char="●"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Jodhpur at night: greener squares are warmer, once built-up share is controlled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5"/>
          <p:cNvSpPr txBox="1"/>
          <p:nvPr/>
        </p:nvSpPr>
        <p:spPr>
          <a:xfrm>
            <a:off x="914400" y="512064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1800"/>
              <a:buFont typeface="Assistant"/>
              <a:buNone/>
            </a:pPr>
            <a:r>
              <a:rPr b="1" i="0" lang="en-US" spc="200" sz="18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RESULTS</a:t>
            </a:r>
            <a:endParaRPr b="0" i="0" sz="1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42" name="Google Shape;242;p25"/>
          <p:cNvSpPr txBox="1"/>
          <p:nvPr/>
        </p:nvSpPr>
        <p:spPr>
          <a:xfrm>
            <a:off x="914400" y="100584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ssistant"/>
              <a:buNone/>
            </a:pPr>
            <a:r>
              <a:rPr b="1" lang="en-US" sz="4400" i="0">
                <a:solidFill>
                  <a:srgbClr val="000000"/>
                </a:solidFill>
                <a:latin typeface="Amatic SC"/>
                <a:ea typeface="Amatic SC"/>
                <a:cs typeface="Amatic SC"/>
                <a:sym typeface="Amatic SC"/>
              </a:rPr>
              <a:t>By day, cooling does not depend on rainfall. At night, wetter cities cool more.</a:t>
            </a:r>
            <a:endParaRPr b="1" sz="4400" i="0">
              <a:solidFill>
                <a:srgbClr val="000000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pic>
        <p:nvPicPr>
          <p:cNvPr descr="D_ce_vs_rain.png" id="243" name="Google Shape;243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9900" y="2812725"/>
            <a:ext cx="11494273" cy="6627349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5"/>
          <p:cNvSpPr txBox="1"/>
          <p:nvPr/>
        </p:nvSpPr>
        <p:spPr>
          <a:xfrm>
            <a:off x="13167360" y="2953435"/>
            <a:ext cx="42063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ssistant"/>
              <a:buNone/>
            </a:pPr>
            <a:r>
              <a:rPr b="1" i="0" lang="en-US" sz="42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+0.17</a:t>
            </a:r>
            <a:endParaRPr b="1" i="0" sz="4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45" name="Google Shape;245;p25"/>
          <p:cNvSpPr txBox="1"/>
          <p:nvPr/>
        </p:nvSpPr>
        <p:spPr>
          <a:xfrm>
            <a:off x="13167360" y="3995851"/>
            <a:ext cx="42063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day, pre-monsoon: no trend with rainfall (95% range -0.73 to +1.07)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46" name="Google Shape;246;p25"/>
          <p:cNvSpPr txBox="1"/>
          <p:nvPr/>
        </p:nvSpPr>
        <p:spPr>
          <a:xfrm>
            <a:off x="13167360" y="5056555"/>
            <a:ext cx="42063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4800"/>
              <a:buFont typeface="Assistant"/>
              <a:buNone/>
            </a:pPr>
            <a:r>
              <a:rPr b="1" lang="en-US" sz="4200" i="0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-</a:t>
            </a:r>
            <a:r>
              <a:rPr b="1" i="0" lang="en-US" sz="42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1.16</a:t>
            </a:r>
            <a:endParaRPr b="1" i="0" sz="4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47" name="Google Shape;247;p25"/>
          <p:cNvSpPr txBox="1"/>
          <p:nvPr/>
        </p:nvSpPr>
        <p:spPr>
          <a:xfrm>
            <a:off x="13167360" y="6098971"/>
            <a:ext cx="42063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night, pre-monsoon (135 cities): wetter cities cool more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48" name="Google Shape;248;p25"/>
          <p:cNvSpPr txBox="1"/>
          <p:nvPr/>
        </p:nvSpPr>
        <p:spPr>
          <a:xfrm>
            <a:off x="13167360" y="7159675"/>
            <a:ext cx="42063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4800"/>
              <a:buFont typeface="Assistant"/>
              <a:buNone/>
            </a:pPr>
            <a:r>
              <a:rPr b="1" lang="en-US" sz="4200" i="0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-</a:t>
            </a:r>
            <a:r>
              <a:rPr b="1" i="0" lang="en-US" sz="42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0.98</a:t>
            </a:r>
            <a:endParaRPr b="1" i="0" sz="4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49" name="Google Shape;249;p25"/>
          <p:cNvSpPr txBox="1"/>
          <p:nvPr/>
        </p:nvSpPr>
        <p:spPr>
          <a:xfrm>
            <a:off x="13167360" y="8202091"/>
            <a:ext cx="42063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night, post-monsoon (141 cities): the same pattern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6"/>
          <p:cNvSpPr txBox="1"/>
          <p:nvPr/>
        </p:nvSpPr>
        <p:spPr>
          <a:xfrm>
            <a:off x="914400" y="512064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1800"/>
              <a:buFont typeface="Assistant"/>
              <a:buNone/>
            </a:pPr>
            <a:r>
              <a:rPr b="1" i="0" lang="en-US" spc="200" sz="18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RESULTS</a:t>
            </a:r>
            <a:endParaRPr b="0" i="0" sz="1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56" name="Google Shape;256;p26"/>
          <p:cNvSpPr txBox="1"/>
          <p:nvPr/>
        </p:nvSpPr>
        <p:spPr>
          <a:xfrm>
            <a:off x="914400" y="100584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ssistant"/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matic SC"/>
                <a:ea typeface="Amatic SC"/>
                <a:cs typeface="Amatic SC"/>
                <a:sym typeface="Amatic SC"/>
              </a:rPr>
              <a:t>Greener is cooler by day almost everywhere in India</a:t>
            </a:r>
            <a:endParaRPr b="1" i="0" sz="4400" u="none" cap="none" strike="noStrike">
              <a:solidFill>
                <a:srgbClr val="000000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pic>
        <p:nvPicPr>
          <p:cNvPr descr="D_ce_map_pre_day.png" id="257" name="Google Shape;257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03400" y="2377440"/>
            <a:ext cx="7433494" cy="7040880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26"/>
          <p:cNvSpPr txBox="1"/>
          <p:nvPr/>
        </p:nvSpPr>
        <p:spPr>
          <a:xfrm>
            <a:off x="10241280" y="2651760"/>
            <a:ext cx="7132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5200"/>
              <a:buFont typeface="Assistant"/>
              <a:buNone/>
            </a:pPr>
            <a:r>
              <a:rPr b="1" i="0" lang="en-US" sz="45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151 of 202</a:t>
            </a:r>
            <a:endParaRPr b="1" i="0" sz="4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59" name="Google Shape;259;p26"/>
          <p:cNvSpPr txBox="1"/>
          <p:nvPr/>
        </p:nvSpPr>
        <p:spPr>
          <a:xfrm>
            <a:off x="10241280" y="3694176"/>
            <a:ext cx="7132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cities (75%) cool significantly by day before the monsoon, and 191 have a negative slope</a:t>
            </a:r>
            <a:endParaRPr sz="21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60" name="Google Shape;260;p26"/>
          <p:cNvSpPr txBox="1"/>
          <p:nvPr/>
        </p:nvSpPr>
        <p:spPr>
          <a:xfrm>
            <a:off x="10241280" y="4754880"/>
            <a:ext cx="7132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5200"/>
              <a:buFont typeface="Assistant"/>
              <a:buNone/>
            </a:pPr>
            <a:r>
              <a:rPr b="1" i="0" lang="en-US" sz="45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2%</a:t>
            </a:r>
            <a:endParaRPr b="1" i="0" sz="4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61" name="Google Shape;261;p26"/>
          <p:cNvSpPr txBox="1"/>
          <p:nvPr/>
        </p:nvSpPr>
        <p:spPr>
          <a:xfrm>
            <a:off x="10241280" y="5797296"/>
            <a:ext cx="7132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of cities are significantly warmer where greener by day. They are rare and scattered.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62" name="Google Shape;262;p26"/>
          <p:cNvSpPr txBox="1"/>
          <p:nvPr/>
        </p:nvSpPr>
        <p:spPr>
          <a:xfrm>
            <a:off x="10241280" y="6858000"/>
            <a:ext cx="7132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ssistant"/>
              <a:buNone/>
            </a:pPr>
            <a:r>
              <a:rPr b="1" i="0" lang="en-US" sz="45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101</a:t>
            </a:r>
            <a:endParaRPr b="1" i="0" sz="4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63" name="Google Shape;263;p26"/>
          <p:cNvSpPr txBox="1"/>
          <p:nvPr/>
        </p:nvSpPr>
        <p:spPr>
          <a:xfrm>
            <a:off x="10241280" y="7900416"/>
            <a:ext cx="7132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cities are too small for an estimate (fewer than 30 urban squares)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7"/>
          <p:cNvSpPr txBox="1"/>
          <p:nvPr/>
        </p:nvSpPr>
        <p:spPr>
          <a:xfrm>
            <a:off x="914400" y="512064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1800"/>
              <a:buFont typeface="Assistant"/>
              <a:buNone/>
            </a:pPr>
            <a:r>
              <a:rPr b="1" i="0" lang="en-US" spc="200" sz="18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RESULTS</a:t>
            </a:r>
            <a:endParaRPr b="0" i="0" sz="1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70" name="Google Shape;270;p27"/>
          <p:cNvSpPr txBox="1"/>
          <p:nvPr/>
        </p:nvSpPr>
        <p:spPr>
          <a:xfrm>
            <a:off x="914400" y="100584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ssistant"/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matic SC"/>
                <a:ea typeface="Amatic SC"/>
                <a:cs typeface="Amatic SC"/>
                <a:sym typeface="Amatic SC"/>
              </a:rPr>
              <a:t>Dry cities do not warm by day, but their green squares are warmer at night</a:t>
            </a:r>
            <a:endParaRPr b="1" i="0" sz="4400" u="none" cap="none" strike="noStrike">
              <a:solidFill>
                <a:srgbClr val="000000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graphicFrame>
        <p:nvGraphicFramePr>
          <p:cNvPr id="271" name="Google Shape;271;p27"/>
          <p:cNvGraphicFramePr/>
          <p:nvPr/>
        </p:nvGraphicFramePr>
        <p:xfrm>
          <a:off x="914400" y="290781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{36E1D27E-B214-48A2-AC49-08C011D284FE}</a:tableStyleId>
              </a:tblPr>
              <a:tblGrid>
                <a:gridCol w="2926100"/>
                <a:gridCol w="1371600"/>
                <a:gridCol w="1920250"/>
                <a:gridCol w="2103100"/>
                <a:gridCol w="1920250"/>
              </a:tblGrid>
              <a:tr h="597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300"/>
                        <a:buFont typeface="Assistant"/>
                        <a:buNone/>
                      </a:pPr>
                      <a:r>
                        <a:rPr b="1" lang="en-US" sz="2300" u="none" cap="none" strike="noStrike" i="0">
                          <a:solidFill>
                            <a:srgbClr val="FFFFFF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Pre-monsoon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300"/>
                        <a:buFont typeface="Assistant"/>
                        <a:buNone/>
                      </a:pPr>
                      <a:r>
                        <a:rPr b="1" lang="en-US" sz="2300" u="none" cap="none" strike="noStrike" i="0">
                          <a:solidFill>
                            <a:srgbClr val="FFFFFF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Cities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300"/>
                        <a:buFont typeface="Assistant"/>
                        <a:buNone/>
                      </a:pPr>
                      <a:r>
                        <a:rPr b="1" lang="en-US" sz="2300" u="none" cap="none" strike="noStrike" i="0">
                          <a:solidFill>
                            <a:srgbClr val="FFFFFF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Median slope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300"/>
                        <a:buFont typeface="Assistant"/>
                        <a:buNone/>
                      </a:pPr>
                      <a:r>
                        <a:rPr b="1" lang="en-US" sz="2300" u="none" cap="none" strike="noStrike" i="0">
                          <a:solidFill>
                            <a:srgbClr val="FFFFFF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Significant cooling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300"/>
                        <a:buFont typeface="Assistant"/>
                        <a:buNone/>
                      </a:pPr>
                      <a:r>
                        <a:rPr b="1" lang="en-US" sz="2300" u="none" cap="none" strike="noStrike" i="0">
                          <a:solidFill>
                            <a:srgbClr val="FFFFFF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Greener is warmer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4D3A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Day, &lt; 1,000 mm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56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-1.06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77%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0%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Day, ≥ 1,000 mm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146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-1.18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74%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3%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Night, &lt; 1,000 mm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39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+0.46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5%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38%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Night, ≥ 1,000 mm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96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-0.03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24%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ssistant"/>
                        <a:buNone/>
                      </a:pPr>
                      <a:r>
                        <a:rPr lang="en-US" sz="2300" u="none" cap="none" strike="noStrike" i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18%</a:t>
                      </a:r>
                      <a:endParaRPr sz="2300" u="none" cap="none" strike="noStrike" i="0">
                        <a:latin typeface="Assistant"/>
                        <a:ea typeface="Assistant"/>
                        <a:cs typeface="Assistant"/>
                        <a:sym typeface="Assistant"/>
                      </a:endParaRPr>
                    </a:p>
                  </a:txBody>
                  <a:tcPr marT="76200" marB="76200" marR="152400" marL="152400" anchor="ctr">
                    <a:lnL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4D3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2" name="Google Shape;272;p27"/>
          <p:cNvSpPr/>
          <p:nvPr/>
        </p:nvSpPr>
        <p:spPr>
          <a:xfrm>
            <a:off x="11795750" y="2651752"/>
            <a:ext cx="5577900" cy="3531300"/>
          </a:xfrm>
          <a:prstGeom prst="roundRect">
            <a:avLst>
              <a:gd fmla="val 3478" name="adj"/>
            </a:avLst>
          </a:prstGeom>
          <a:solidFill>
            <a:srgbClr val="FFFFFF"/>
          </a:solidFill>
          <a:ln cap="flat" cmpd="sng" w="19050">
            <a:solidFill>
              <a:srgbClr val="C8640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73" name="Google Shape;273;p27"/>
          <p:cNvSpPr txBox="1"/>
          <p:nvPr/>
        </p:nvSpPr>
        <p:spPr>
          <a:xfrm>
            <a:off x="12124944" y="2907792"/>
            <a:ext cx="4919472" cy="3694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2500"/>
              <a:buFont typeface="Assistant"/>
              <a:buNone/>
            </a:pPr>
            <a:r>
              <a:rPr b="1" i="0" lang="en-US" sz="22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Compared with Guo et al. 2026</a:t>
            </a:r>
            <a:endParaRPr b="0" i="0" sz="2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2500"/>
              <a:buFont typeface="Assistant"/>
              <a:buNone/>
            </a:pPr>
            <a:r>
              <a:rPr b="1" i="0" lang="en-US" sz="22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Guo found net warming in 22% of cities under 1,000 mm.</a:t>
            </a:r>
            <a:endParaRPr b="0" i="0" sz="2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2500"/>
              <a:buFont typeface="Assistant"/>
              <a:buNone/>
            </a:pPr>
            <a:r>
              <a:rPr b="1" i="0" lang="en-US" sz="22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By day we find none: 0 of 56 dry cities.</a:t>
            </a:r>
            <a:endParaRPr b="0" i="0" sz="2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2500"/>
              <a:buFont typeface="Assistant"/>
              <a:buNone/>
            </a:pPr>
            <a:r>
              <a:rPr b="1" i="0" lang="en-US" sz="22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At night, 38% of dry cities have warmer green squares, twice the share in wet cities (18%).</a:t>
            </a:r>
            <a:endParaRPr b="0" i="0" sz="22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74" name="Google Shape;274;p27"/>
          <p:cNvSpPr txBox="1"/>
          <p:nvPr/>
        </p:nvSpPr>
        <p:spPr>
          <a:xfrm>
            <a:off x="914400" y="7223760"/>
            <a:ext cx="164592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5560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ssistant"/>
              <a:buChar char="•"/>
            </a:pPr>
            <a:r>
              <a:rPr b="0" i="0" lang="en-US" sz="24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Warm green nights become rarer as rainfall rises: 50% of cities under 750 mm, 28% at 750-1,500 mm and 3% above 1,500 mm.</a:t>
            </a:r>
            <a:endParaRPr b="0" i="0" sz="24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5560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ssistant"/>
              <a:buChar char="•"/>
            </a:pPr>
            <a:r>
              <a:rPr b="0" i="0" lang="en-US" sz="24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With a 6-night cut-off (48 dry cities), the night result gets stronger: 54% vs 18%.</a:t>
            </a:r>
            <a:endParaRPr b="0" i="0" sz="24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28"/>
          <p:cNvSpPr txBox="1"/>
          <p:nvPr/>
        </p:nvSpPr>
        <p:spPr>
          <a:xfrm>
            <a:off x="914400" y="512064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1800"/>
              <a:buFont typeface="Assistant"/>
              <a:buNone/>
            </a:pPr>
            <a:r>
              <a:rPr b="1" i="0" lang="en-US" spc="200" sz="18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RESULTS</a:t>
            </a:r>
            <a:endParaRPr b="0" i="0" sz="1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81" name="Google Shape;281;p28"/>
          <p:cNvSpPr txBox="1"/>
          <p:nvPr/>
        </p:nvSpPr>
        <p:spPr>
          <a:xfrm>
            <a:off x="914400" y="100584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ssistant"/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matic SC"/>
                <a:ea typeface="Amatic SC"/>
                <a:cs typeface="Amatic SC"/>
                <a:sym typeface="Amatic SC"/>
              </a:rPr>
              <a:t>After the monsoon, the same city cools less by day and more at night</a:t>
            </a:r>
            <a:endParaRPr b="1" i="0" sz="4400" u="none" cap="none" strike="noStrike">
              <a:solidFill>
                <a:srgbClr val="000000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pic>
        <p:nvPicPr>
          <p:cNvPr descr="S_season_paired.png" id="282" name="Google Shape;282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2558887"/>
            <a:ext cx="10905796" cy="5214963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8"/>
          <p:cNvSpPr txBox="1"/>
          <p:nvPr/>
        </p:nvSpPr>
        <p:spPr>
          <a:xfrm>
            <a:off x="12527280" y="2651760"/>
            <a:ext cx="4846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5200"/>
              <a:buFont typeface="Assistant"/>
              <a:buNone/>
            </a:pPr>
            <a:r>
              <a:rPr b="1" i="0" lang="en-US" sz="45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81%</a:t>
            </a:r>
            <a:endParaRPr b="1" i="0" sz="4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84" name="Google Shape;284;p28"/>
          <p:cNvSpPr txBox="1"/>
          <p:nvPr/>
        </p:nvSpPr>
        <p:spPr>
          <a:xfrm>
            <a:off x="12527280" y="3694176"/>
            <a:ext cx="4846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of 202 cities cool less by day after the monsoon (median change +0.43)</a:t>
            </a:r>
            <a:endParaRPr b="0" i="0" sz="2100" u="none" cap="none" strike="noStrike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85" name="Google Shape;285;p28"/>
          <p:cNvSpPr txBox="1"/>
          <p:nvPr/>
        </p:nvSpPr>
        <p:spPr>
          <a:xfrm>
            <a:off x="12527280" y="4754880"/>
            <a:ext cx="4846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5200"/>
              <a:buFont typeface="Assistant"/>
              <a:buNone/>
            </a:pPr>
            <a:r>
              <a:rPr b="1" i="0" lang="en-US" sz="45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69%</a:t>
            </a:r>
            <a:endParaRPr b="1" i="0" sz="4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86" name="Google Shape;286;p28"/>
          <p:cNvSpPr txBox="1"/>
          <p:nvPr/>
        </p:nvSpPr>
        <p:spPr>
          <a:xfrm>
            <a:off x="12527280" y="5797296"/>
            <a:ext cx="4846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of 127 cities cool more at night after the monsoon (median change -0.16)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87" name="Google Shape;287;p28"/>
          <p:cNvSpPr txBox="1"/>
          <p:nvPr/>
        </p:nvSpPr>
        <p:spPr>
          <a:xfrm>
            <a:off x="914400" y="8260080"/>
            <a:ext cx="16459200" cy="14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4925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ssistant"/>
              <a:buChar char="•"/>
            </a:pPr>
            <a:r>
              <a:rPr b="0" i="0" lang="en-US" sz="23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We compare the same squares in different seasons, so everything fixed about the city cancels out.</a:t>
            </a:r>
            <a:endParaRPr b="0" i="0" sz="23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4925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ssistant"/>
              <a:buChar char="•"/>
            </a:pPr>
            <a:r>
              <a:rPr b="0" i="0" lang="en-US" sz="23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Soil wetting does not clearly explain the change (p = 0.09).</a:t>
            </a:r>
            <a:endParaRPr b="0" i="0" sz="23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29"/>
          <p:cNvSpPr txBox="1"/>
          <p:nvPr/>
        </p:nvSpPr>
        <p:spPr>
          <a:xfrm>
            <a:off x="914400" y="512064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1800"/>
              <a:buFont typeface="Assistant"/>
              <a:buNone/>
            </a:pPr>
            <a:r>
              <a:rPr b="1" i="0" lang="en-US" spc="200" sz="18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RESULTS</a:t>
            </a:r>
            <a:endParaRPr b="0" i="0" sz="1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94" name="Google Shape;294;p29"/>
          <p:cNvSpPr txBox="1"/>
          <p:nvPr/>
        </p:nvSpPr>
        <p:spPr>
          <a:xfrm>
            <a:off x="914400" y="100584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ssistant"/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matic SC"/>
                <a:ea typeface="Amatic SC"/>
                <a:cs typeface="Amatic SC"/>
                <a:sym typeface="Amatic SC"/>
              </a:rPr>
              <a:t>Crowded squares are less green, and the less green they are, the hotter they get</a:t>
            </a:r>
            <a:endParaRPr b="1" i="0" sz="4400" u="none" cap="none" strike="noStrike">
              <a:solidFill>
                <a:srgbClr val="000000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pic>
        <p:nvPicPr>
          <p:cNvPr descr="F_exposure_by_season.png" id="295" name="Google Shape;295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78899" y="2263149"/>
            <a:ext cx="7539799" cy="533072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_crowded_vs_green.png" id="296" name="Google Shape;296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866800" y="2263149"/>
            <a:ext cx="6869946" cy="5330725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29"/>
          <p:cNvSpPr txBox="1"/>
          <p:nvPr/>
        </p:nvSpPr>
        <p:spPr>
          <a:xfrm>
            <a:off x="914400" y="8368925"/>
            <a:ext cx="38406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3000"/>
              <a:buFont typeface="Assistant"/>
              <a:buNone/>
            </a:pPr>
            <a:r>
              <a:rPr b="1" i="0" lang="en-US" sz="26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90-96%</a:t>
            </a:r>
            <a:endParaRPr b="0" i="0" sz="26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3000"/>
              <a:buFont typeface="Assistant"/>
              <a:buNone/>
            </a:pPr>
            <a:r>
              <a:rPr b="1" i="0" lang="en-US" sz="26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of cities: crowded squares less green</a:t>
            </a:r>
            <a:endParaRPr b="0" i="0" sz="26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98" name="Google Shape;298;p29"/>
          <p:cNvSpPr txBox="1"/>
          <p:nvPr/>
        </p:nvSpPr>
        <p:spPr>
          <a:xfrm>
            <a:off x="5120640" y="8368925"/>
            <a:ext cx="38406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3000"/>
              <a:buFont typeface="Assistant"/>
              <a:buNone/>
            </a:pPr>
            <a:r>
              <a:rPr b="1" i="0" lang="en-US" sz="26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96-97%</a:t>
            </a:r>
            <a:endParaRPr b="0" i="0" sz="26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3000"/>
              <a:buFont typeface="Assistant"/>
              <a:buNone/>
            </a:pPr>
            <a:r>
              <a:rPr b="1" i="0" lang="en-US" sz="26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of cities: people in hotter squares at night</a:t>
            </a:r>
            <a:endParaRPr b="0" i="0" sz="26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99" name="Google Shape;299;p29"/>
          <p:cNvSpPr txBox="1"/>
          <p:nvPr/>
        </p:nvSpPr>
        <p:spPr>
          <a:xfrm>
            <a:off x="9326880" y="8368925"/>
            <a:ext cx="38406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3000"/>
              <a:buFont typeface="Assistant"/>
              <a:buNone/>
            </a:pPr>
            <a:r>
              <a:rPr b="1" i="0" lang="en-US" sz="26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ρ ≈ -0.73</a:t>
            </a:r>
            <a:endParaRPr b="0" i="0" sz="26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3000"/>
              <a:buFont typeface="Assistant"/>
              <a:buNone/>
            </a:pPr>
            <a:r>
              <a:rPr b="1" i="0" lang="en-US" sz="26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less green crowded squares, bigger heat gap</a:t>
            </a:r>
            <a:endParaRPr b="0" i="0" sz="26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00" name="Google Shape;300;p29"/>
          <p:cNvSpPr txBox="1"/>
          <p:nvPr/>
        </p:nvSpPr>
        <p:spPr>
          <a:xfrm>
            <a:off x="13533120" y="8368925"/>
            <a:ext cx="38406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3000"/>
              <a:buFont typeface="Assistant"/>
              <a:buNone/>
            </a:pPr>
            <a:r>
              <a:rPr b="1" i="0" lang="en-US" sz="26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+1.08 °C</a:t>
            </a:r>
            <a:endParaRPr b="0" i="0" sz="26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3000"/>
              <a:buFont typeface="Assistant"/>
              <a:buNone/>
            </a:pPr>
            <a:r>
              <a:rPr b="1" i="0" lang="en-US" sz="26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largest gap: Kolkata (median +0.1 to +0.2 °C)</a:t>
            </a:r>
            <a:endParaRPr b="0" i="0" sz="26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30"/>
          <p:cNvSpPr txBox="1"/>
          <p:nvPr/>
        </p:nvSpPr>
        <p:spPr>
          <a:xfrm>
            <a:off x="914400" y="512064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1800"/>
              <a:buFont typeface="Assistant"/>
              <a:buNone/>
            </a:pPr>
            <a:r>
              <a:rPr b="1" i="0" lang="en-US" spc="200" sz="18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RESULTS</a:t>
            </a:r>
            <a:endParaRPr b="0" i="0" sz="1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07" name="Google Shape;307;p30"/>
          <p:cNvSpPr txBox="1"/>
          <p:nvPr/>
        </p:nvSpPr>
        <p:spPr>
          <a:xfrm>
            <a:off x="914400" y="100584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ssistant"/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matic SC"/>
                <a:ea typeface="Amatic SC"/>
                <a:cs typeface="Amatic SC"/>
                <a:sym typeface="Amatic SC"/>
              </a:rPr>
              <a:t>Water does not explain away the vegetation effect</a:t>
            </a:r>
            <a:endParaRPr b="1" i="0" sz="4400" u="none" cap="none" strike="noStrike">
              <a:solidFill>
                <a:srgbClr val="000000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pic>
        <p:nvPicPr>
          <p:cNvPr descr="G_water_effect.png" id="308" name="Google Shape;308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2468880"/>
            <a:ext cx="11521440" cy="560320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30"/>
          <p:cNvSpPr txBox="1"/>
          <p:nvPr/>
        </p:nvSpPr>
        <p:spPr>
          <a:xfrm>
            <a:off x="12893040" y="2651760"/>
            <a:ext cx="44805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4000"/>
              <a:buFont typeface="Assistant"/>
              <a:buNone/>
            </a:pPr>
            <a:r>
              <a:rPr b="1" lang="en-US" sz="3500" i="0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-1.05 → -1.13</a:t>
            </a:r>
            <a:endParaRPr b="1" i="0" sz="3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10" name="Google Shape;310;p30"/>
          <p:cNvSpPr txBox="1"/>
          <p:nvPr/>
        </p:nvSpPr>
        <p:spPr>
          <a:xfrm>
            <a:off x="12893040" y="3694176"/>
            <a:ext cx="44805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median daytime slope before the monsoon, without and with the water control (202 cities)</a:t>
            </a:r>
            <a:endParaRPr b="0" i="0" sz="1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11" name="Google Shape;311;p30"/>
          <p:cNvSpPr txBox="1"/>
          <p:nvPr/>
        </p:nvSpPr>
        <p:spPr>
          <a:xfrm>
            <a:off x="12893040" y="4754880"/>
            <a:ext cx="44805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4000"/>
              <a:buFont typeface="Assistant"/>
              <a:buNone/>
            </a:pPr>
            <a:r>
              <a:rPr b="1" i="0" lang="en-US" sz="35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+0.94 → +0.94</a:t>
            </a:r>
            <a:endParaRPr b="1" i="0" sz="3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12" name="Google Shape;312;p30"/>
          <p:cNvSpPr txBox="1"/>
          <p:nvPr/>
        </p:nvSpPr>
        <p:spPr>
          <a:xfrm>
            <a:off x="12893040" y="5797296"/>
            <a:ext cx="44805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Jodhpur at night: water does not cause its warm green nights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13" name="Google Shape;313;p30"/>
          <p:cNvSpPr txBox="1"/>
          <p:nvPr/>
        </p:nvSpPr>
        <p:spPr>
          <a:xfrm>
            <a:off x="914400" y="8382010"/>
            <a:ext cx="164592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4925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ssistant"/>
              <a:buChar char="•"/>
            </a:pPr>
            <a:r>
              <a:rPr b="0" i="0" lang="en-US" sz="23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Water share is the fraction of each square covered by OpenStreetMap water.</a:t>
            </a:r>
            <a:endParaRPr b="0" i="0" sz="23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4925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ssistant"/>
              <a:buChar char="•"/>
            </a:pPr>
            <a:r>
              <a:rPr b="0" i="0" lang="en-US" sz="23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Known gap: OpenStreetMap maps the sea as a coastline, not as water area.</a:t>
            </a:r>
            <a:endParaRPr b="0" i="0" sz="23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1"/>
          <p:cNvSpPr txBox="1"/>
          <p:nvPr/>
        </p:nvSpPr>
        <p:spPr>
          <a:xfrm>
            <a:off x="914400" y="512064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1800"/>
              <a:buFont typeface="Assistant"/>
              <a:buNone/>
            </a:pPr>
            <a:r>
              <a:rPr b="1" i="0" lang="en-US" spc="200" sz="18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RESULTS</a:t>
            </a:r>
            <a:endParaRPr b="0" i="0" sz="1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20" name="Google Shape;320;p31"/>
          <p:cNvSpPr txBox="1"/>
          <p:nvPr/>
        </p:nvSpPr>
        <p:spPr>
          <a:xfrm>
            <a:off x="914400" y="100584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ssistant"/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matic SC"/>
                <a:ea typeface="Amatic SC"/>
                <a:cs typeface="Amatic SC"/>
                <a:sym typeface="Amatic SC"/>
              </a:rPr>
              <a:t>Daytime cooling holds under every check, and the controls matter most</a:t>
            </a:r>
            <a:endParaRPr b="1" i="0" sz="4400" u="none" cap="none" strike="noStrike">
              <a:solidFill>
                <a:srgbClr val="000000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pic>
        <p:nvPicPr>
          <p:cNvPr descr="H_robustness_table.png" id="321" name="Google Shape;321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46002" y="2377440"/>
            <a:ext cx="13995996" cy="4937760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31"/>
          <p:cNvSpPr txBox="1"/>
          <p:nvPr/>
        </p:nvSpPr>
        <p:spPr>
          <a:xfrm>
            <a:off x="914400" y="7498080"/>
            <a:ext cx="52425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4000"/>
              <a:buFont typeface="Assistant"/>
              <a:buNone/>
            </a:pPr>
            <a:r>
              <a:rPr b="1" i="0" lang="en-US" sz="35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70-77%</a:t>
            </a:r>
            <a:endParaRPr b="1" i="0" sz="3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23" name="Google Shape;323;p31"/>
          <p:cNvSpPr txBox="1"/>
          <p:nvPr/>
        </p:nvSpPr>
        <p:spPr>
          <a:xfrm>
            <a:off x="914400" y="8540496"/>
            <a:ext cx="52425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of cities cool significantly by day under every variant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24" name="Google Shape;324;p31"/>
          <p:cNvSpPr txBox="1"/>
          <p:nvPr/>
        </p:nvSpPr>
        <p:spPr>
          <a:xfrm>
            <a:off x="6522720" y="7498080"/>
            <a:ext cx="52425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4000"/>
              <a:buFont typeface="Assistant"/>
              <a:buNone/>
            </a:pPr>
            <a:r>
              <a:rPr b="1" i="0" lang="en-US" sz="35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ρ = 0.56</a:t>
            </a:r>
            <a:endParaRPr b="1" i="0" sz="3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25" name="Google Shape;325;p31"/>
          <p:cNvSpPr txBox="1"/>
          <p:nvPr/>
        </p:nvSpPr>
        <p:spPr>
          <a:xfrm>
            <a:off x="6522720" y="8540496"/>
            <a:ext cx="52425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city ranking without controls: the variant that changes results most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26" name="Google Shape;326;p31"/>
          <p:cNvSpPr txBox="1"/>
          <p:nvPr/>
        </p:nvSpPr>
        <p:spPr>
          <a:xfrm>
            <a:off x="12131040" y="7498080"/>
            <a:ext cx="52425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4000"/>
              <a:buFont typeface="Assistant"/>
              <a:buNone/>
            </a:pPr>
            <a:r>
              <a:rPr b="1" i="0" lang="en-US" sz="35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ρ = 0.91</a:t>
            </a:r>
            <a:endParaRPr b="1" i="0" sz="3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27" name="Google Shape;327;p31"/>
          <p:cNvSpPr txBox="1"/>
          <p:nvPr/>
        </p:nvSpPr>
        <p:spPr>
          <a:xfrm>
            <a:off x="12131040" y="8540496"/>
            <a:ext cx="52425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city ranking without the water control: little change</a:t>
            </a:r>
            <a:endParaRPr b="0" i="0" sz="21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32"/>
          <p:cNvSpPr txBox="1"/>
          <p:nvPr/>
        </p:nvSpPr>
        <p:spPr>
          <a:xfrm>
            <a:off x="914400" y="512064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1800"/>
              <a:buFont typeface="Assistant"/>
              <a:buNone/>
            </a:pPr>
            <a:r>
              <a:rPr b="1" i="0" lang="en-US" spc="200" sz="18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OBSERVATIONS</a:t>
            </a:r>
            <a:endParaRPr b="0" i="0" sz="1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34" name="Google Shape;334;p32"/>
          <p:cNvSpPr txBox="1"/>
          <p:nvPr/>
        </p:nvSpPr>
        <p:spPr>
          <a:xfrm>
            <a:off x="914400" y="100584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ssistant"/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matic SC"/>
                <a:ea typeface="Amatic SC"/>
                <a:cs typeface="Amatic SC"/>
                <a:sym typeface="Amatic SC"/>
              </a:rPr>
              <a:t>What we observe so far</a:t>
            </a:r>
            <a:endParaRPr b="1" i="0" sz="4400" u="none" cap="none" strike="noStrike">
              <a:solidFill>
                <a:srgbClr val="000000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sp>
        <p:nvSpPr>
          <p:cNvPr id="335" name="Google Shape;335;p32"/>
          <p:cNvSpPr/>
          <p:nvPr/>
        </p:nvSpPr>
        <p:spPr>
          <a:xfrm>
            <a:off x="914400" y="2468880"/>
            <a:ext cx="8001000" cy="2048256"/>
          </a:xfrm>
          <a:prstGeom prst="roundRect">
            <a:avLst>
              <a:gd fmla="val 7143" name="adj"/>
            </a:avLst>
          </a:prstGeom>
          <a:solidFill>
            <a:srgbClr val="FFFFFF"/>
          </a:solidFill>
          <a:ln cap="flat" cmpd="sng" w="1905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36" name="Google Shape;336;p32"/>
          <p:cNvSpPr txBox="1"/>
          <p:nvPr/>
        </p:nvSpPr>
        <p:spPr>
          <a:xfrm>
            <a:off x="1188720" y="2688336"/>
            <a:ext cx="12801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3000"/>
              <a:buFont typeface="Assistant"/>
              <a:buNone/>
            </a:pPr>
            <a:r>
              <a:rPr b="1" i="0" lang="en-US" sz="30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H1</a:t>
            </a:r>
            <a:endParaRPr b="0" i="0" sz="30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37" name="Google Shape;337;p32"/>
          <p:cNvSpPr txBox="1"/>
          <p:nvPr/>
        </p:nvSpPr>
        <p:spPr>
          <a:xfrm>
            <a:off x="2468880" y="2651760"/>
            <a:ext cx="6172200" cy="16824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6195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AutoNum type="arabicPeriod"/>
            </a:pPr>
            <a:r>
              <a:rPr b="1" i="0" lang="en-US" sz="1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Greener is cooler by day almost everywhere</a:t>
            </a:r>
            <a:endParaRPr sz="18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6195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AutoNum type="alphaLcPeriod"/>
            </a:pPr>
            <a:r>
              <a:rPr b="0" i="0" lang="en-US" sz="1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75% of 202 cities before the monsoon (median -1.13 °C per 0.1 NDVI)</a:t>
            </a:r>
            <a:endParaRPr sz="18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6195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AutoNum type="alphaLcPeriod"/>
            </a:pPr>
            <a:r>
              <a:rPr b="0" i="0" lang="en-US" sz="1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70-74% in the other seasons</a:t>
            </a:r>
            <a:endParaRPr sz="18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38" name="Google Shape;338;p32"/>
          <p:cNvSpPr/>
          <p:nvPr/>
        </p:nvSpPr>
        <p:spPr>
          <a:xfrm>
            <a:off x="9372600" y="2468880"/>
            <a:ext cx="8001000" cy="2048256"/>
          </a:xfrm>
          <a:prstGeom prst="roundRect">
            <a:avLst>
              <a:gd fmla="val 7143" name="adj"/>
            </a:avLst>
          </a:prstGeom>
          <a:solidFill>
            <a:srgbClr val="FFFFFF"/>
          </a:solidFill>
          <a:ln cap="flat" cmpd="sng" w="1905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39" name="Google Shape;339;p32"/>
          <p:cNvSpPr txBox="1"/>
          <p:nvPr/>
        </p:nvSpPr>
        <p:spPr>
          <a:xfrm>
            <a:off x="9646920" y="2688336"/>
            <a:ext cx="12801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3000"/>
              <a:buFont typeface="Assistant"/>
              <a:buNone/>
            </a:pPr>
            <a:r>
              <a:rPr b="1" i="0" lang="en-US" sz="30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H2</a:t>
            </a:r>
            <a:endParaRPr b="0" i="0" sz="30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40" name="Google Shape;340;p32"/>
          <p:cNvSpPr txBox="1"/>
          <p:nvPr/>
        </p:nvSpPr>
        <p:spPr>
          <a:xfrm>
            <a:off x="10927080" y="2651760"/>
            <a:ext cx="6172200" cy="16824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6195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AutoNum type="arabicPeriod"/>
            </a:pPr>
            <a:r>
              <a:rPr b="1" i="0" lang="en-US" sz="1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By day, cooling does not depend on rainfall</a:t>
            </a:r>
            <a:endParaRPr sz="18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6195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AutoNum type="arabicPeriod"/>
            </a:pPr>
            <a:r>
              <a:rPr b="0" i="0" lang="en-US" sz="1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No clear trend with rainfall in any season</a:t>
            </a:r>
            <a:endParaRPr sz="18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6195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AutoNum type="arabicPeriod"/>
            </a:pPr>
            <a:r>
              <a:rPr b="0" i="0" lang="en-US" sz="1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No dry city warms by day (0 of 56, vs 22% in Guo et al.)</a:t>
            </a:r>
            <a:endParaRPr sz="18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41" name="Google Shape;341;p32"/>
          <p:cNvSpPr/>
          <p:nvPr/>
        </p:nvSpPr>
        <p:spPr>
          <a:xfrm>
            <a:off x="914400" y="4736592"/>
            <a:ext cx="8001000" cy="2048256"/>
          </a:xfrm>
          <a:prstGeom prst="roundRect">
            <a:avLst>
              <a:gd fmla="val 7143" name="adj"/>
            </a:avLst>
          </a:prstGeom>
          <a:solidFill>
            <a:srgbClr val="FFFFFF"/>
          </a:solidFill>
          <a:ln cap="flat" cmpd="sng" w="1905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42" name="Google Shape;342;p32"/>
          <p:cNvSpPr txBox="1"/>
          <p:nvPr/>
        </p:nvSpPr>
        <p:spPr>
          <a:xfrm>
            <a:off x="1188720" y="4956048"/>
            <a:ext cx="12801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3000"/>
              <a:buFont typeface="Assistant"/>
              <a:buNone/>
            </a:pPr>
            <a:r>
              <a:rPr b="1" i="0" lang="en-US" sz="30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H3</a:t>
            </a:r>
            <a:endParaRPr b="0" i="0" sz="30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43" name="Google Shape;343;p32"/>
          <p:cNvSpPr txBox="1"/>
          <p:nvPr/>
        </p:nvSpPr>
        <p:spPr>
          <a:xfrm>
            <a:off x="2468880" y="4919472"/>
            <a:ext cx="6172200" cy="16824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6195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AutoNum type="arabicPeriod"/>
            </a:pPr>
            <a:r>
              <a:rPr b="1" i="0" lang="en-US" sz="1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At night, wetter cities cool more</a:t>
            </a:r>
            <a:endParaRPr sz="18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6195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AutoNum type="arabicPeriod"/>
            </a:pPr>
            <a:r>
              <a:rPr b="0" i="0" lang="en-US" sz="1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Night slopes centre on zero</a:t>
            </a:r>
            <a:endParaRPr sz="18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6195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AutoNum type="arabicPeriod"/>
            </a:pPr>
            <a:r>
              <a:rPr b="0" i="0" lang="en-US" sz="1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Warmer green nights: 38% of 39 dry cities vs 18% of 96 wet</a:t>
            </a:r>
            <a:endParaRPr sz="18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44" name="Google Shape;344;p32"/>
          <p:cNvSpPr/>
          <p:nvPr/>
        </p:nvSpPr>
        <p:spPr>
          <a:xfrm>
            <a:off x="9372600" y="4736592"/>
            <a:ext cx="8001000" cy="2048256"/>
          </a:xfrm>
          <a:prstGeom prst="roundRect">
            <a:avLst>
              <a:gd fmla="val 7143" name="adj"/>
            </a:avLst>
          </a:prstGeom>
          <a:solidFill>
            <a:srgbClr val="FFFFFF"/>
          </a:solidFill>
          <a:ln cap="flat" cmpd="sng" w="1905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45" name="Google Shape;345;p32"/>
          <p:cNvSpPr txBox="1"/>
          <p:nvPr/>
        </p:nvSpPr>
        <p:spPr>
          <a:xfrm>
            <a:off x="9646920" y="4956048"/>
            <a:ext cx="12801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3000"/>
              <a:buFont typeface="Assistant"/>
              <a:buNone/>
            </a:pPr>
            <a:r>
              <a:rPr b="1" i="0" lang="en-US" sz="30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H4</a:t>
            </a:r>
            <a:endParaRPr b="0" i="0" sz="30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46" name="Google Shape;346;p32"/>
          <p:cNvSpPr txBox="1"/>
          <p:nvPr/>
        </p:nvSpPr>
        <p:spPr>
          <a:xfrm>
            <a:off x="10927080" y="4919472"/>
            <a:ext cx="6172200" cy="16824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6195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AutoNum type="arabicPeriod"/>
            </a:pPr>
            <a:r>
              <a:rPr b="1" i="0" lang="en-US" sz="1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Seasons change cooling in the same city</a:t>
            </a:r>
            <a:endParaRPr sz="18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6195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AutoNum type="arabicPeriod"/>
            </a:pPr>
            <a:r>
              <a:rPr b="0" i="0" lang="en-US" sz="1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Weaker by day after the monsoon in 81% of 202 cities</a:t>
            </a:r>
            <a:endParaRPr sz="18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6195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AutoNum type="arabicPeriod"/>
            </a:pPr>
            <a:r>
              <a:rPr b="0" i="0" lang="en-US" sz="1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Stronger at night in 69% of 127; soil wetting does not explain it</a:t>
            </a:r>
            <a:endParaRPr sz="18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47" name="Google Shape;347;p32"/>
          <p:cNvSpPr/>
          <p:nvPr/>
        </p:nvSpPr>
        <p:spPr>
          <a:xfrm>
            <a:off x="914400" y="7004304"/>
            <a:ext cx="8001000" cy="2048256"/>
          </a:xfrm>
          <a:prstGeom prst="roundRect">
            <a:avLst>
              <a:gd fmla="val 7143" name="adj"/>
            </a:avLst>
          </a:prstGeom>
          <a:solidFill>
            <a:srgbClr val="FFFFFF"/>
          </a:solidFill>
          <a:ln cap="flat" cmpd="sng" w="1905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48" name="Google Shape;348;p32"/>
          <p:cNvSpPr txBox="1"/>
          <p:nvPr/>
        </p:nvSpPr>
        <p:spPr>
          <a:xfrm>
            <a:off x="1188720" y="7223760"/>
            <a:ext cx="12801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3000"/>
              <a:buFont typeface="Assistant"/>
              <a:buNone/>
            </a:pPr>
            <a:r>
              <a:rPr b="1" i="0" lang="en-US" sz="30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H5</a:t>
            </a:r>
            <a:endParaRPr b="0" i="0" sz="30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49" name="Google Shape;349;p32"/>
          <p:cNvSpPr txBox="1"/>
          <p:nvPr/>
        </p:nvSpPr>
        <p:spPr>
          <a:xfrm>
            <a:off x="2468880" y="7187184"/>
            <a:ext cx="6172200" cy="16824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6195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AutoNum type="arabicPeriod"/>
            </a:pPr>
            <a:r>
              <a:rPr b="1" i="0" lang="en-US" sz="1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People live where it is less green and hotter</a:t>
            </a:r>
            <a:endParaRPr sz="18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6195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AutoNum type="arabicPeriod"/>
            </a:pPr>
            <a:r>
              <a:rPr b="0" i="0" lang="en-US" sz="1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Crowded squares are less green in 90-96% of cities</a:t>
            </a:r>
            <a:endParaRPr sz="18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6195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AutoNum type="arabicPeriod"/>
            </a:pPr>
            <a:r>
              <a:rPr b="0" i="0" lang="en-US" sz="1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Hotter at night in 96-97% of cities, by day in 63-87%</a:t>
            </a:r>
            <a:endParaRPr sz="18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50" name="Google Shape;350;p32"/>
          <p:cNvSpPr/>
          <p:nvPr/>
        </p:nvSpPr>
        <p:spPr>
          <a:xfrm>
            <a:off x="9372600" y="7004304"/>
            <a:ext cx="8001000" cy="2048256"/>
          </a:xfrm>
          <a:prstGeom prst="roundRect">
            <a:avLst>
              <a:gd fmla="val 7143" name="adj"/>
            </a:avLst>
          </a:prstGeom>
          <a:solidFill>
            <a:srgbClr val="FFFFFF"/>
          </a:solidFill>
          <a:ln cap="flat" cmpd="sng" w="19050">
            <a:solidFill>
              <a:srgbClr val="1F4D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51" name="Google Shape;351;p32"/>
          <p:cNvSpPr txBox="1"/>
          <p:nvPr/>
        </p:nvSpPr>
        <p:spPr>
          <a:xfrm>
            <a:off x="9646920" y="7223760"/>
            <a:ext cx="12801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ssistant"/>
              <a:buNone/>
            </a:pPr>
            <a:r>
              <a:rPr b="1" i="0" lang="en-US" sz="30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Data</a:t>
            </a:r>
            <a:endParaRPr b="0" i="0" sz="30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52" name="Google Shape;352;p32"/>
          <p:cNvSpPr txBox="1"/>
          <p:nvPr/>
        </p:nvSpPr>
        <p:spPr>
          <a:xfrm>
            <a:off x="10927080" y="7187184"/>
            <a:ext cx="6172200" cy="16824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6195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AutoNum type="arabicPeriod"/>
            </a:pPr>
            <a:r>
              <a:rPr b="1" i="0" lang="en-US" sz="1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Data limits</a:t>
            </a:r>
            <a:endParaRPr sz="18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6195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AutoNum type="arabicPeriod"/>
            </a:pPr>
            <a:r>
              <a:rPr b="0" i="0" lang="en-US" sz="1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No monsoon: Mumbai 85% → 25% usable images</a:t>
            </a:r>
            <a:endParaRPr sz="18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6195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AutoNum type="arabicPeriod"/>
            </a:pPr>
            <a:r>
              <a:rPr b="0" i="0" lang="en-US" sz="1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101 of 303 cities too small for a slope</a:t>
            </a:r>
            <a:endParaRPr sz="18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6195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ssistant"/>
              <a:buAutoNum type="arabicPeriod"/>
            </a:pPr>
            <a:r>
              <a:rPr b="0" i="0" lang="en-US" sz="18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Water control barely changes results</a:t>
            </a:r>
            <a:endParaRPr sz="1800" i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3"/>
          <p:cNvSpPr txBox="1"/>
          <p:nvPr/>
        </p:nvSpPr>
        <p:spPr>
          <a:xfrm>
            <a:off x="914400" y="1005840"/>
            <a:ext cx="164592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Assistant"/>
              <a:buNone/>
            </a:pPr>
            <a:r>
              <a:rPr b="1" lang="en-US" sz="6000" i="0">
                <a:solidFill>
                  <a:srgbClr val="1F4D3A"/>
                </a:solidFill>
                <a:latin typeface="Amatic SC"/>
                <a:ea typeface="Amatic SC"/>
                <a:cs typeface="Amatic SC"/>
                <a:sym typeface="Amatic SC"/>
              </a:rPr>
              <a:t>Next steps</a:t>
            </a:r>
            <a:endParaRPr b="1" i="0" sz="6000" u="none" cap="none" strike="noStrike">
              <a:solidFill>
                <a:srgbClr val="1F4D3A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sp>
        <p:nvSpPr>
          <p:cNvPr id="359" name="Google Shape;359;p33"/>
          <p:cNvSpPr txBox="1"/>
          <p:nvPr/>
        </p:nvSpPr>
        <p:spPr>
          <a:xfrm>
            <a:off x="914400" y="2651760"/>
            <a:ext cx="7955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3000"/>
              <a:buFont typeface="Assistant"/>
              <a:buNone/>
            </a:pPr>
            <a:r>
              <a:rPr b="1" i="0" lang="en-US" sz="30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Left for the final</a:t>
            </a:r>
            <a:endParaRPr b="0" i="0" sz="30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60" name="Google Shape;360;p33"/>
          <p:cNvSpPr txBox="1"/>
          <p:nvPr/>
        </p:nvSpPr>
        <p:spPr>
          <a:xfrm>
            <a:off x="914400" y="3474720"/>
            <a:ext cx="7955280" cy="5852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4925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Assistant"/>
              <a:buChar char="•"/>
            </a:pPr>
            <a:r>
              <a:rPr b="0" i="0" lang="en-US" sz="25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H6: turn surface cooling into the heat people feel (Heat Index), using the surface-to-air ratios from Venter et al. 2021 and Du et al. 2024</a:t>
            </a:r>
            <a:endParaRPr b="0" i="0" sz="2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4925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Assistant"/>
              <a:buChar char="•"/>
            </a:pPr>
            <a:r>
              <a:rPr b="0" i="0" lang="en-US" sz="25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Who receives the cooling: a Lorenz curve</a:t>
            </a:r>
            <a:endParaRPr b="0" i="0" sz="2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4925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Assistant"/>
              <a:buChar char="•"/>
            </a:pPr>
            <a:r>
              <a:rPr b="0" i="0" lang="en-US" sz="25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Building height (GHSL 2018) as an urban-form control</a:t>
            </a:r>
            <a:endParaRPr b="0" i="0" sz="2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4925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Assistant"/>
              <a:buChar char="•"/>
            </a:pPr>
            <a:r>
              <a:rPr b="0" i="0" lang="en-US" sz="25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A Hyderabad case study with 30 m Landsat data</a:t>
            </a:r>
            <a:endParaRPr b="0" i="0" sz="2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61" name="Google Shape;361;p33"/>
          <p:cNvSpPr txBox="1"/>
          <p:nvPr/>
        </p:nvSpPr>
        <p:spPr>
          <a:xfrm>
            <a:off x="9418320" y="2651760"/>
            <a:ext cx="7955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640A"/>
              </a:buClr>
              <a:buSzPts val="3000"/>
              <a:buFont typeface="Assistant"/>
              <a:buNone/>
            </a:pPr>
            <a:r>
              <a:rPr b="1" i="0" lang="en-US" sz="3000" u="none" cap="none" strike="noStrike">
                <a:solidFill>
                  <a:srgbClr val="C8640A"/>
                </a:solidFill>
                <a:latin typeface="Assistant"/>
                <a:ea typeface="Assistant"/>
                <a:cs typeface="Assistant"/>
                <a:sym typeface="Assistant"/>
              </a:rPr>
              <a:t>Limitations</a:t>
            </a:r>
            <a:endParaRPr b="0" i="0" sz="30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62" name="Google Shape;362;p33"/>
          <p:cNvSpPr txBox="1"/>
          <p:nvPr/>
        </p:nvSpPr>
        <p:spPr>
          <a:xfrm>
            <a:off x="9418320" y="3474720"/>
            <a:ext cx="7955280" cy="5852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4925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Assistant"/>
              <a:buChar char="•"/>
            </a:pPr>
            <a:r>
              <a:rPr b="0" i="0" lang="en-US" sz="25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We measure surface temperature, not the heat people feel</a:t>
            </a:r>
            <a:endParaRPr b="0" i="0" sz="2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4925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Assistant"/>
              <a:buChar char="•"/>
            </a:pPr>
            <a:r>
              <a:rPr b="0" i="0" lang="en-US" sz="25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ERA5 gives one climate value per city (~9 km)</a:t>
            </a:r>
            <a:endParaRPr b="0" i="0" sz="2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4925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Assistant"/>
              <a:buChar char="•"/>
            </a:pPr>
            <a:r>
              <a:rPr b="0" i="0" lang="en-US" sz="25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Results are associations, not causes</a:t>
            </a:r>
            <a:endParaRPr b="0" i="0" sz="2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4925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Assistant"/>
              <a:buChar char="•"/>
            </a:pPr>
            <a:r>
              <a:rPr b="0" i="0" lang="en-US" sz="25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No monsoon season, and less night data for humid cities</a:t>
            </a:r>
            <a:endParaRPr b="0" i="0" sz="2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4925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Assistant"/>
              <a:buChar char="•"/>
            </a:pPr>
            <a:r>
              <a:rPr b="0" i="0" lang="en-US" sz="25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OpenStreetMap does not map the sea as water</a:t>
            </a:r>
            <a:endParaRPr b="0" i="0" sz="2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indent="-349250" lvl="0" marL="3556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Assistant"/>
              <a:buChar char="•"/>
            </a:pPr>
            <a:r>
              <a:rPr b="0" i="0" lang="en-US" sz="2500" u="none" cap="none" strike="noStrik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NDVI cannot tell trees from grass or crops</a:t>
            </a:r>
            <a:endParaRPr b="0" i="0" sz="25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76" name="Google Shape;176;p21"/>
          <p:cNvSpPr txBox="1"/>
          <p:nvPr/>
        </p:nvSpPr>
        <p:spPr>
          <a:xfrm>
            <a:off x="914400" y="512064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4D3A"/>
              </a:buClr>
              <a:buSzPts val="1800"/>
              <a:buFont typeface="Assistant"/>
              <a:buNone/>
            </a:pPr>
            <a:r>
              <a:rPr b="1" i="0" lang="en-US" spc="200" sz="1800" u="none" cap="none" strike="noStrike">
                <a:solidFill>
                  <a:srgbClr val="1F4D3A"/>
                </a:solidFill>
                <a:latin typeface="Assistant"/>
                <a:ea typeface="Assistant"/>
                <a:cs typeface="Assistant"/>
                <a:sym typeface="Assistant"/>
              </a:rPr>
              <a:t>METHOD</a:t>
            </a:r>
            <a:endParaRPr b="0" i="0" sz="1800" u="none" cap="none" strike="noStrike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77" name="Google Shape;177;p21"/>
          <p:cNvSpPr txBox="1"/>
          <p:nvPr/>
        </p:nvSpPr>
        <p:spPr>
          <a:xfrm>
            <a:off x="914400" y="100584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ssistant"/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matic SC"/>
                <a:ea typeface="Amatic SC"/>
                <a:cs typeface="Amatic SC"/>
                <a:sym typeface="Amatic SC"/>
              </a:rPr>
              <a:t>Example: Jodhpur as the analysis sees it, 254 squares of 1 km</a:t>
            </a:r>
            <a:endParaRPr b="1" i="0" sz="4400" u="none" cap="none" strike="noStrike">
              <a:solidFill>
                <a:srgbClr val="000000"/>
              </a:solidFill>
              <a:latin typeface="Amatic SC"/>
              <a:ea typeface="Amatic SC"/>
              <a:cs typeface="Amatic SC"/>
              <a:sym typeface="Amatic SC"/>
            </a:endParaRPr>
          </a:p>
        </p:txBody>
      </p:sp>
      <p:pic>
        <p:nvPicPr>
          <p:cNvPr id="178" name="Picture 177" descr="B_grid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399" y="2514600"/>
            <a:ext cx="14441201" cy="6583680"/>
          </a:xfrm>
          <a:prstGeom prst="rect">
            <a:avLst/>
          </a:prstGeom>
        </p:spPr>
      </p:pic>
      <p:sp>
        <p:nvSpPr>
          <p:cNvPr id="179" name="TextBox 178"/>
          <p:cNvSpPr txBox="1"/>
          <p:nvPr/>
        </p:nvSpPr>
        <p:spPr>
          <a:xfrm>
            <a:off x="914400" y="9281160"/>
            <a:ext cx="1645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i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The cooling slope compares these squares within the city: are the greener squares (right) the cooler ones (left)?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